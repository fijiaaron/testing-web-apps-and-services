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58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9" r:id="rId12"/>
    <p:sldId id="268" r:id="rId13"/>
    <p:sldId id="271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3715" autoAdjust="0"/>
  </p:normalViewPr>
  <p:slideViewPr>
    <p:cSldViewPr>
      <p:cViewPr varScale="1">
        <p:scale>
          <a:sx n="73" d="100"/>
          <a:sy n="73" d="100"/>
        </p:scale>
        <p:origin x="-208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B57D7-B07C-4A9F-B3AB-7E2C72E903D6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A7DF5-6D3C-424B-AAF8-3BBDFC457D0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top down: </a:t>
            </a:r>
            <a:endParaRPr lang="en-US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Browser, HTML, HTTP protocol, TCP/IP, sockets, DNS, routing. </a:t>
            </a:r>
          </a:p>
          <a:p>
            <a:endParaRPr lang="en-US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 go over the building blocks of a web application.  Not just the widgets and HTML &amp; JavaScript source files, but the underlying architecture, from packets on up to pixels, so we can test it from various perspectives.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it would be tedious to do all of testing at such a low level, sometimes it is useful in troubleshooting difficult problems.  And thinking of how the bits move will sometimes help you in planning for security or performance optimizations.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 of this may already be familiar to you, but bear with me.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 this image and message</a:t>
            </a:r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at http://www.w3.org/TR/soap12-part0/</a:t>
            </a:r>
          </a:p>
          <a:p>
            <a:endParaRPr lang="en-GB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SOAP envelope wraps the soap message.  It is the root element.  It is required.  It is what defines them XML document as a SOAP message</a:t>
            </a:r>
          </a:p>
          <a:p>
            <a:endParaRPr lang="en-GB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GB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xmlns:soap</a:t>
            </a:r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namespace defines the soap: prefix in an XML schema.  This namespace defines the elements, attributes and values permitted in a soap message.</a:t>
            </a:r>
          </a:p>
          <a:p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GB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ecodingStyle</a:t>
            </a:r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attribute defines the data types in the document.  A SOAP message has no default encoding.</a:t>
            </a:r>
          </a:p>
          <a:p>
            <a:endParaRPr lang="en-GB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SOAP header is optional.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attributes defined in the SOAP Header define how a recipient should process the SOAP message.</a:t>
            </a:r>
          </a:p>
          <a:p>
            <a:r>
              <a:rPr lang="en-GB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 are defined by a SOAP</a:t>
            </a:r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application type.  In this example, taken from the w3c reference, it defines a reservation and a passenger.</a:t>
            </a:r>
          </a:p>
          <a:p>
            <a:r>
              <a:rPr lang="en-GB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SOAP header is a way to pass information that is not part of the application payload.</a:t>
            </a:r>
            <a:endParaRPr lang="en-GB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dirty="0" smtClean="0"/>
              <a:t/>
            </a:r>
            <a:br>
              <a:rPr lang="en-GB" dirty="0" smtClean="0"/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541A4-9A71-49C7-9ED4-6228F957F434}" type="datetimeFigureOut">
              <a:rPr lang="en-US" smtClean="0"/>
              <a:t>3/16/2013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96055-C3DA-49C7-AC18-18A0163190F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://example.com/xsds/passenger" TargetMode="Externa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2057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Web Services Explained</a:t>
            </a:r>
            <a:endParaRPr lang="en-US" sz="4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1676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What’s a web service? </a:t>
            </a:r>
            <a:endParaRPr lang="en-US" sz="4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Tools for testing web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7" name="Picture 6" descr="HorseKitin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0251122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Web Services </a:t>
            </a:r>
          </a:p>
          <a:p>
            <a:pPr algn="ctr"/>
            <a:r>
              <a:rPr lang="en-US" sz="4800" dirty="0" smtClean="0"/>
              <a:t>are applications</a:t>
            </a:r>
            <a:r>
              <a:rPr lang="en-US" sz="4800" dirty="0" smtClean="0"/>
              <a:t> that</a:t>
            </a:r>
            <a:endParaRPr lang="en-US" sz="4800" dirty="0"/>
          </a:p>
        </p:txBody>
      </p:sp>
      <p:sp>
        <p:nvSpPr>
          <p:cNvPr id="7" name="Rectangle 6"/>
          <p:cNvSpPr/>
          <p:nvPr/>
        </p:nvSpPr>
        <p:spPr>
          <a:xfrm>
            <a:off x="685800" y="2667000"/>
            <a:ext cx="777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Are accessible on the web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Communicate over open protocols 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Are self contained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Can be used by other applications</a:t>
            </a:r>
            <a:endParaRPr lang="en-US" sz="3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7239000" y="0"/>
            <a:ext cx="19050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Web Services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1219200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dirty="0" smtClean="0"/>
          </a:p>
          <a:p>
            <a:pPr marL="914400" lvl="1" indent="-457200"/>
            <a:r>
              <a:rPr lang="en-US" sz="3600" dirty="0" smtClean="0"/>
              <a:t>Provide reusable standalone components</a:t>
            </a:r>
          </a:p>
          <a:p>
            <a:pPr marL="1371600" lvl="2" indent="-457200">
              <a:buFont typeface="Calibri" pitchFamily="34" charset="0"/>
              <a:buChar char="›"/>
            </a:pPr>
            <a:r>
              <a:rPr lang="en-US" sz="2400" dirty="0" smtClean="0"/>
              <a:t>scalability</a:t>
            </a:r>
          </a:p>
          <a:p>
            <a:pPr marL="1371600" lvl="2" indent="-457200">
              <a:buFont typeface="Calibri" pitchFamily="34" charset="0"/>
              <a:buChar char="›"/>
            </a:pPr>
            <a:r>
              <a:rPr lang="en-US" sz="2400" dirty="0" smtClean="0"/>
              <a:t>isolation</a:t>
            </a:r>
          </a:p>
          <a:p>
            <a:pPr marL="1371600" lvl="2" indent="-457200">
              <a:buFont typeface="Calibri" pitchFamily="34" charset="0"/>
              <a:buChar char="›"/>
            </a:pPr>
            <a:r>
              <a:rPr lang="en-US" sz="2400" dirty="0" smtClean="0"/>
              <a:t>separation of concerns</a:t>
            </a:r>
          </a:p>
          <a:p>
            <a:pPr marL="1371600" lvl="2" indent="-457200">
              <a:buFont typeface="Calibri" pitchFamily="34" charset="0"/>
              <a:buChar char="›"/>
            </a:pPr>
            <a:r>
              <a:rPr lang="en-US" sz="2400" dirty="0" smtClean="0"/>
              <a:t>can be used by other applications</a:t>
            </a:r>
          </a:p>
          <a:p>
            <a:pPr marL="1371600" lvl="2" indent="-457200"/>
            <a:endParaRPr lang="en-US" sz="2400" dirty="0" smtClean="0"/>
          </a:p>
          <a:p>
            <a:pPr marL="914400" lvl="1" indent="-457200"/>
            <a:r>
              <a:rPr lang="en-US" sz="3600" dirty="0" smtClean="0"/>
              <a:t>Provide interoperability between apps</a:t>
            </a:r>
          </a:p>
          <a:p>
            <a:pPr marL="1371600" lvl="2" indent="-457200">
              <a:buFont typeface="Calibri" pitchFamily="34" charset="0"/>
              <a:buChar char="›"/>
            </a:pPr>
            <a:r>
              <a:rPr lang="en-US" sz="2400" dirty="0" smtClean="0"/>
              <a:t>share data</a:t>
            </a:r>
          </a:p>
          <a:p>
            <a:pPr marL="1371600" lvl="2" indent="-457200">
              <a:buFont typeface="Calibri" pitchFamily="34" charset="0"/>
              <a:buChar char="›"/>
            </a:pPr>
            <a:r>
              <a:rPr lang="en-US" sz="2400" dirty="0" smtClean="0"/>
              <a:t>platform independent</a:t>
            </a:r>
          </a:p>
          <a:p>
            <a:pPr marL="1371600" lvl="2" indent="-457200">
              <a:buFont typeface="Calibri" pitchFamily="34" charset="0"/>
              <a:buChar char="›"/>
            </a:pPr>
            <a:r>
              <a:rPr lang="en-US" sz="2400" dirty="0" smtClean="0"/>
              <a:t>internet accessible</a:t>
            </a:r>
          </a:p>
          <a:p>
            <a:pPr marL="1371600" lvl="2" indent="-457200">
              <a:buFont typeface="Calibri" pitchFamily="34" charset="0"/>
              <a:buChar char="›"/>
            </a:pPr>
            <a:r>
              <a:rPr lang="en-US" sz="2400" dirty="0" smtClean="0"/>
              <a:t>bypass firewall restrictions</a:t>
            </a:r>
          </a:p>
          <a:p>
            <a:pPr marL="1371600" lvl="2" indent="-457200">
              <a:buFont typeface="Calibri" pitchFamily="34" charset="0"/>
              <a:buChar char="›"/>
            </a:pPr>
            <a:endParaRPr lang="en-US" sz="2400" dirty="0" smtClean="0"/>
          </a:p>
          <a:p>
            <a:pPr marL="914400" lvl="1" indent="-457200">
              <a:buFont typeface="Calibri" pitchFamily="34" charset="0"/>
              <a:buChar char="›"/>
            </a:pPr>
            <a:endParaRPr lang="en-US" sz="3600" dirty="0" smtClean="0"/>
          </a:p>
          <a:p>
            <a:pPr marL="914400" lvl="1" indent="-457200">
              <a:buFont typeface="Calibri" pitchFamily="34" charset="0"/>
              <a:buChar char="›"/>
            </a:pPr>
            <a:endParaRPr lang="en-US" sz="3600" dirty="0" smtClean="0"/>
          </a:p>
          <a:p>
            <a:pPr marL="914400" lvl="1" indent="-457200">
              <a:buFont typeface="Calibri" pitchFamily="34" charset="0"/>
              <a:buChar char="›"/>
            </a:pPr>
            <a:endParaRPr lang="en-US" sz="3600" dirty="0" smtClean="0"/>
          </a:p>
          <a:p>
            <a:pPr marL="914400" lvl="1" indent="-457200">
              <a:buFont typeface="Calibri" pitchFamily="34" charset="0"/>
              <a:buChar char="›"/>
            </a:pPr>
            <a:endParaRPr lang="en-US" sz="36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0" y="60960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 smtClean="0"/>
              <a:t>Web Services can</a:t>
            </a:r>
            <a:endParaRPr lang="en-US" sz="48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7239000" y="0"/>
            <a:ext cx="19050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Web Services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Basically, </a:t>
            </a:r>
          </a:p>
          <a:p>
            <a:pPr algn="ctr"/>
            <a:r>
              <a:rPr lang="en-US" sz="4800" dirty="0" smtClean="0"/>
              <a:t>Web Services are a way </a:t>
            </a:r>
          </a:p>
          <a:p>
            <a:pPr algn="ctr"/>
            <a:r>
              <a:rPr lang="en-US" sz="4800" dirty="0" smtClean="0"/>
              <a:t>of passing data</a:t>
            </a:r>
          </a:p>
          <a:p>
            <a:pPr algn="ctr"/>
            <a:r>
              <a:rPr lang="en-US" sz="4800" dirty="0" smtClean="0"/>
              <a:t>over HTTP</a:t>
            </a:r>
          </a:p>
          <a:p>
            <a:pPr algn="ctr"/>
            <a:r>
              <a:rPr lang="en-US" sz="4800" dirty="0" smtClean="0"/>
              <a:t>in a standardized way.</a:t>
            </a:r>
          </a:p>
          <a:p>
            <a:pPr algn="ctr"/>
            <a:endParaRPr lang="en-US" sz="4800" dirty="0"/>
          </a:p>
          <a:p>
            <a:pPr algn="ctr"/>
            <a:endParaRPr lang="en-US" sz="48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239000" y="0"/>
            <a:ext cx="19050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Web Services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Separating data from implementation</a:t>
            </a:r>
            <a:endParaRPr lang="en-US" sz="48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381000" y="2590800"/>
            <a:ext cx="792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No user interface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No state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No proprietary lock-in</a:t>
            </a:r>
            <a:endParaRPr lang="en-US" sz="3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7239000" y="0"/>
            <a:ext cx="19050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Web Services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Web Services </a:t>
            </a:r>
          </a:p>
          <a:p>
            <a:pPr algn="ctr"/>
            <a:r>
              <a:rPr lang="en-US" sz="4800" dirty="0" smtClean="0"/>
              <a:t>use open protocols</a:t>
            </a:r>
            <a:endParaRPr lang="en-US" sz="48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2895600" y="2590800"/>
            <a:ext cx="2438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HTTP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XML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JSON</a:t>
            </a:r>
            <a:endParaRPr lang="en-US" sz="36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239000" y="0"/>
            <a:ext cx="19050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Web Services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Two types of web services</a:t>
            </a:r>
            <a:endParaRPr lang="en-US" sz="48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304800" y="2514600"/>
            <a:ext cx="4267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Complex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Maintains session state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Built in security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Heavyweight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Uses HTTP as a wrapper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XML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Messages are standardized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Discoverable and self-documenting	</a:t>
            </a:r>
            <a:endParaRPr lang="en-US" sz="24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800600" y="2514600"/>
            <a:ext cx="3962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Simple</a:t>
            </a:r>
            <a:endParaRPr lang="en-US" sz="24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Stateless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Relies on external security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Lightweight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Works with HTTP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XML or JSON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Messages are freeform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No mechanism for discovery or documenting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000" y="1676400"/>
            <a:ext cx="2286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/>
            <a:r>
              <a:rPr lang="en-US" sz="4800" u="sng" dirty="0" smtClean="0"/>
              <a:t>SOAP</a:t>
            </a:r>
            <a:endParaRPr lang="en-US" sz="4800" u="sng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4648200" y="1676400"/>
            <a:ext cx="2590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/>
            <a:r>
              <a:rPr lang="en-US" sz="4800" u="sng" dirty="0" smtClean="0"/>
              <a:t>REST</a:t>
            </a:r>
            <a:endParaRPr lang="en-US" sz="4800" u="sng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7239000" y="0"/>
            <a:ext cx="19050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Web Services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SOAP</a:t>
            </a:r>
          </a:p>
          <a:p>
            <a:pPr algn="ctr"/>
            <a:r>
              <a:rPr lang="en-US" sz="3600" dirty="0" smtClean="0"/>
              <a:t>Simple Object Access Protocol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2133600"/>
            <a:ext cx="8534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Standard way of communicating between apps</a:t>
            </a:r>
            <a:endParaRPr lang="en-US" sz="24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Uses XML over HTTP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An XML Schema defines what SOAP message should look like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SOAP Envelope – wrapper 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SOAP Headers – optional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SOAP Body – the main payload (your document)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SOAP Fault – used for reporting errors in the SOAP Body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2400" dirty="0" smtClean="0"/>
              <a:t>Extensions	(WS-*)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WS-Security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WS-Resource</a:t>
            </a:r>
            <a:endParaRPr lang="en-US" sz="2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8229600" y="0"/>
            <a:ext cx="9144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SOAP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What does a SOAP message look like?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1295400"/>
            <a:ext cx="71628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GB" sz="1400" dirty="0" smtClean="0"/>
              <a:t>&lt;?</a:t>
            </a:r>
            <a:r>
              <a:rPr lang="en-GB" sz="1400" dirty="0" err="1" smtClean="0"/>
              <a:t>xml</a:t>
            </a:r>
            <a:r>
              <a:rPr lang="en-GB" sz="1400" dirty="0" smtClean="0"/>
              <a:t> version="1.0"?&gt;</a:t>
            </a:r>
          </a:p>
          <a:p>
            <a:pPr marL="457200" indent="-457200"/>
            <a:r>
              <a:rPr lang="en-GB" sz="1400" dirty="0" smtClean="0"/>
              <a:t>&lt;</a:t>
            </a:r>
            <a:r>
              <a:rPr lang="en-GB" b="1" dirty="0" err="1" smtClean="0"/>
              <a:t>soap:Envelope</a:t>
            </a:r>
            <a:r>
              <a:rPr lang="en-GB" b="1" dirty="0" smtClean="0"/>
              <a:t> </a:t>
            </a:r>
            <a:r>
              <a:rPr lang="en-GB" sz="1400" dirty="0" smtClean="0"/>
              <a:t> </a:t>
            </a:r>
          </a:p>
          <a:p>
            <a:pPr marL="457200" indent="-457200"/>
            <a:r>
              <a:rPr lang="en-GB" sz="1400" dirty="0"/>
              <a:t>	</a:t>
            </a:r>
            <a:r>
              <a:rPr lang="en-GB" sz="1400" dirty="0" err="1" smtClean="0"/>
              <a:t>xmlns:soap</a:t>
            </a:r>
            <a:r>
              <a:rPr lang="en-GB" sz="1400" dirty="0" smtClean="0"/>
              <a:t>=</a:t>
            </a:r>
            <a:r>
              <a:rPr lang="en-US" sz="1400" dirty="0" smtClean="0"/>
              <a:t>"http://www.w3.org/2003/05/soap-envelope"</a:t>
            </a:r>
            <a:endParaRPr lang="en-GB" sz="1400" dirty="0" smtClean="0"/>
          </a:p>
          <a:p>
            <a:pPr marL="457200" indent="-457200"/>
            <a:r>
              <a:rPr lang="en-GB" sz="1400" dirty="0" smtClean="0"/>
              <a:t>	</a:t>
            </a:r>
            <a:r>
              <a:rPr lang="en-GB" sz="1400" dirty="0" err="1" smtClean="0"/>
              <a:t>soap:encodingStyle</a:t>
            </a:r>
            <a:r>
              <a:rPr lang="en-GB" sz="1400" dirty="0" smtClean="0"/>
              <a:t>="http://www.w3.org/2001/12/soap-encoding"&gt;</a:t>
            </a:r>
            <a:br>
              <a:rPr lang="en-GB" sz="1400" dirty="0" smtClean="0"/>
            </a:br>
            <a:endParaRPr lang="en-GB" sz="1400" dirty="0" smtClean="0"/>
          </a:p>
          <a:p>
            <a:pPr marL="457200" indent="-457200"/>
            <a:r>
              <a:rPr lang="en-US" sz="1400" dirty="0" smtClean="0"/>
              <a:t>	&lt;</a:t>
            </a:r>
            <a:r>
              <a:rPr lang="en-US" b="1" dirty="0" err="1" smtClean="0"/>
              <a:t>soap:Header</a:t>
            </a:r>
            <a:r>
              <a:rPr lang="en-US" sz="1400" dirty="0" smtClean="0"/>
              <a:t>&gt;</a:t>
            </a:r>
          </a:p>
          <a:p>
            <a:pPr marL="457200" indent="-457200"/>
            <a:r>
              <a:rPr lang="en-US" sz="1400" dirty="0" smtClean="0"/>
              <a:t>	&lt;m:</a:t>
            </a:r>
            <a:r>
              <a:rPr lang="en-US" sz="1400" b="1" dirty="0" smtClean="0"/>
              <a:t>reservation</a:t>
            </a:r>
            <a:r>
              <a:rPr lang="en-US" sz="1400" dirty="0" smtClean="0"/>
              <a:t> </a:t>
            </a:r>
            <a:r>
              <a:rPr lang="en-US" sz="1400" dirty="0" err="1" smtClean="0"/>
              <a:t>xmlns:r</a:t>
            </a:r>
            <a:r>
              <a:rPr lang="en-US" sz="1400" dirty="0" smtClean="0"/>
              <a:t>="http://example.com/xsds/reservation" </a:t>
            </a:r>
            <a:r>
              <a:rPr lang="en-US" sz="1400" dirty="0" err="1" smtClean="0"/>
              <a:t>env:mustUnderstand</a:t>
            </a:r>
            <a:r>
              <a:rPr lang="en-US" sz="1400" dirty="0" smtClean="0"/>
              <a:t>="true"&gt;2013-03-19&lt;/m:reservation&gt;</a:t>
            </a:r>
            <a:br>
              <a:rPr lang="en-US" sz="1400" dirty="0" smtClean="0"/>
            </a:br>
            <a:r>
              <a:rPr lang="en-US" sz="1400" dirty="0" smtClean="0"/>
              <a:t>&lt;n:</a:t>
            </a:r>
            <a:r>
              <a:rPr lang="en-US" sz="1400" b="1" dirty="0" smtClean="0"/>
              <a:t>passenger</a:t>
            </a:r>
            <a:r>
              <a:rPr lang="en-US" sz="1400" dirty="0" smtClean="0"/>
              <a:t> </a:t>
            </a:r>
            <a:r>
              <a:rPr lang="en-US" sz="1400" dirty="0" err="1" smtClean="0"/>
              <a:t>xmlns:n</a:t>
            </a:r>
            <a:r>
              <a:rPr lang="en-US" sz="1400" dirty="0" smtClean="0"/>
              <a:t>=</a:t>
            </a:r>
            <a:r>
              <a:rPr lang="en-US" sz="1400" dirty="0" smtClean="0">
                <a:hlinkClick r:id="rId5"/>
              </a:rPr>
              <a:t>http://example.com/xsds/passenger</a:t>
            </a:r>
            <a:endParaRPr lang="en-US" sz="1400" dirty="0" smtClean="0"/>
          </a:p>
          <a:p>
            <a:pPr marL="457200" indent="-457200"/>
            <a:r>
              <a:rPr lang="en-US" sz="1400" dirty="0" smtClean="0"/>
              <a:t>	</a:t>
            </a:r>
            <a:r>
              <a:rPr lang="en-US" sz="1400" dirty="0" err="1" smtClean="0"/>
              <a:t>env:mustUnderstand</a:t>
            </a:r>
            <a:r>
              <a:rPr lang="en-US" sz="1400" dirty="0" smtClean="0"/>
              <a:t>="true"&gt; Aaron Evans&lt;/n:passenger&gt; 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&lt;/</a:t>
            </a:r>
            <a:r>
              <a:rPr lang="en-US" sz="1400" dirty="0" err="1" smtClean="0"/>
              <a:t>soap:Header</a:t>
            </a:r>
            <a:r>
              <a:rPr lang="en-US" sz="1400" dirty="0" smtClean="0"/>
              <a:t>&gt;</a:t>
            </a:r>
            <a:endParaRPr lang="en-GB" sz="1400" dirty="0" smtClean="0"/>
          </a:p>
          <a:p>
            <a:pPr marL="457200" indent="-457200"/>
            <a:endParaRPr lang="en-GB" sz="1400" dirty="0" smtClean="0"/>
          </a:p>
          <a:p>
            <a:pPr marL="457200" indent="-457200"/>
            <a:r>
              <a:rPr lang="en-GB" sz="1400" dirty="0" smtClean="0"/>
              <a:t>	&lt;</a:t>
            </a:r>
            <a:r>
              <a:rPr lang="en-GB" b="1" dirty="0" err="1" smtClean="0"/>
              <a:t>soap:Body</a:t>
            </a:r>
            <a:r>
              <a:rPr lang="en-GB" sz="1400" dirty="0"/>
              <a:t>&gt;</a:t>
            </a:r>
            <a:r>
              <a:rPr lang="en-GB" sz="1400" dirty="0" smtClean="0"/>
              <a:t/>
            </a:r>
            <a:br>
              <a:rPr lang="en-GB" sz="1400" dirty="0" smtClean="0"/>
            </a:br>
            <a:r>
              <a:rPr lang="en-GB" sz="1400" dirty="0" smtClean="0"/>
              <a:t>	&lt;</a:t>
            </a:r>
            <a:r>
              <a:rPr lang="en-GB" sz="1400" dirty="0" err="1" smtClean="0"/>
              <a:t>o:itinerary</a:t>
            </a:r>
            <a:r>
              <a:rPr lang="en-GB" sz="1400" dirty="0" smtClean="0"/>
              <a:t> </a:t>
            </a:r>
            <a:r>
              <a:rPr lang="en-GB" sz="1400" dirty="0" err="1" smtClean="0"/>
              <a:t>xmlns:o</a:t>
            </a:r>
            <a:r>
              <a:rPr lang="en-GB" sz="1400" dirty="0" smtClean="0"/>
              <a:t>="http://www.example.org/itinerary"&gt; </a:t>
            </a:r>
            <a:r>
              <a:rPr lang="en-GB" sz="1400" dirty="0" smtClean="0"/>
              <a:t/>
            </a:r>
            <a:br>
              <a:rPr lang="en-GB" sz="1400" dirty="0" smtClean="0"/>
            </a:br>
            <a:r>
              <a:rPr lang="en-GB" sz="1400" dirty="0" smtClean="0"/>
              <a:t>    		&lt;</a:t>
            </a:r>
            <a:r>
              <a:rPr lang="en-GB" sz="1400" dirty="0" err="1" smtClean="0"/>
              <a:t>o:airline</a:t>
            </a:r>
            <a:r>
              <a:rPr lang="en-GB" sz="1400" dirty="0" smtClean="0"/>
              <a:t>&gt;DELTA&lt;/</a:t>
            </a:r>
            <a:r>
              <a:rPr lang="en-GB" sz="1400" dirty="0" err="1" smtClean="0"/>
              <a:t>o:airline</a:t>
            </a:r>
            <a:r>
              <a:rPr lang="en-GB" sz="1400" dirty="0" smtClean="0"/>
              <a:t>&gt;</a:t>
            </a:r>
            <a:br>
              <a:rPr lang="en-GB" sz="1400" dirty="0" smtClean="0"/>
            </a:br>
            <a:r>
              <a:rPr lang="en-GB" sz="1400" dirty="0" smtClean="0"/>
              <a:t>  		</a:t>
            </a:r>
            <a:r>
              <a:rPr lang="en-GB" sz="1400" dirty="0" smtClean="0"/>
              <a:t> &lt;</a:t>
            </a:r>
            <a:r>
              <a:rPr lang="en-GB" sz="1400" dirty="0" err="1" smtClean="0"/>
              <a:t>o:departureTime</a:t>
            </a:r>
            <a:r>
              <a:rPr lang="en-GB" sz="1400" dirty="0" smtClean="0"/>
              <a:t>&gt; 6:08pm CDT</a:t>
            </a:r>
            <a:r>
              <a:rPr lang="en-GB" sz="1400" dirty="0" smtClean="0"/>
              <a:t>&lt;/</a:t>
            </a:r>
            <a:r>
              <a:rPr lang="en-GB" sz="1400" dirty="0" err="1" smtClean="0"/>
              <a:t>o:departureTime</a:t>
            </a:r>
            <a:r>
              <a:rPr lang="en-GB" sz="1400" dirty="0" smtClean="0"/>
              <a:t>&gt;</a:t>
            </a:r>
          </a:p>
          <a:p>
            <a:pPr marL="457200" indent="-457200"/>
            <a:r>
              <a:rPr lang="en-GB" sz="1400" dirty="0" smtClean="0"/>
              <a:t>			&lt;</a:t>
            </a:r>
            <a:r>
              <a:rPr lang="en-GB" sz="1400" dirty="0" err="1" smtClean="0"/>
              <a:t>o:departureAirport</a:t>
            </a:r>
            <a:r>
              <a:rPr lang="en-GB" sz="1400" dirty="0" smtClean="0"/>
              <a:t>&gt; 6:08pm CDT&lt;/</a:t>
            </a:r>
            <a:r>
              <a:rPr lang="en-GB" sz="1400" dirty="0" err="1" smtClean="0"/>
              <a:t>o:departureAirport</a:t>
            </a:r>
            <a:r>
              <a:rPr lang="en-GB" sz="1400" dirty="0" smtClean="0"/>
              <a:t>&gt; </a:t>
            </a:r>
            <a:r>
              <a:rPr lang="en-GB" sz="1400" dirty="0" smtClean="0"/>
              <a:t/>
            </a:r>
            <a:br>
              <a:rPr lang="en-GB" sz="1400" dirty="0" smtClean="0"/>
            </a:br>
            <a:r>
              <a:rPr lang="en-GB" sz="1400" dirty="0" smtClean="0"/>
              <a:t>		&lt;</a:t>
            </a:r>
            <a:r>
              <a:rPr lang="en-GB" sz="1400" dirty="0" err="1" smtClean="0"/>
              <a:t>o:departureGate</a:t>
            </a:r>
            <a:r>
              <a:rPr lang="en-GB" sz="1400" dirty="0" smtClean="0"/>
              <a:t>&gt;C13&lt;/</a:t>
            </a:r>
            <a:r>
              <a:rPr lang="en-GB" sz="1400" dirty="0" err="1" smtClean="0"/>
              <a:t>o:departureGate</a:t>
            </a:r>
            <a:r>
              <a:rPr lang="en-GB" sz="1400" dirty="0" smtClean="0"/>
              <a:t>&gt;</a:t>
            </a:r>
          </a:p>
          <a:p>
            <a:pPr marL="457200" indent="-457200"/>
            <a:r>
              <a:rPr lang="en-GB" sz="1400" dirty="0"/>
              <a:t>	</a:t>
            </a:r>
            <a:r>
              <a:rPr lang="en-GB" sz="1400" dirty="0" smtClean="0"/>
              <a:t>		…etc…</a:t>
            </a:r>
          </a:p>
          <a:p>
            <a:pPr marL="457200" indent="-457200"/>
            <a:r>
              <a:rPr lang="en-US" sz="1400" dirty="0" smtClean="0"/>
              <a:t>	&lt;/</a:t>
            </a:r>
            <a:r>
              <a:rPr lang="en-US" sz="1400" dirty="0" err="1" smtClean="0"/>
              <a:t>soap:Body</a:t>
            </a:r>
            <a:r>
              <a:rPr lang="en-US" sz="1400" dirty="0" smtClean="0"/>
              <a:t>&gt;</a:t>
            </a:r>
            <a:endParaRPr lang="en-GB" sz="1400" dirty="0" smtClean="0"/>
          </a:p>
          <a:p>
            <a:pPr marL="457200" indent="-457200"/>
            <a:r>
              <a:rPr lang="en-GB" sz="1400" dirty="0" smtClean="0"/>
              <a:t>&lt;/</a:t>
            </a:r>
            <a:r>
              <a:rPr lang="en-GB" sz="1400" dirty="0" err="1" smtClean="0"/>
              <a:t>soap:Envelope</a:t>
            </a:r>
            <a:r>
              <a:rPr lang="en-GB" sz="1400" dirty="0" smtClean="0"/>
              <a:t>&gt;</a:t>
            </a:r>
            <a:endParaRPr lang="en-US" sz="1400" dirty="0" smtClean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9" name="Picture 8" descr="soap-messag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8276" y="1295401"/>
            <a:ext cx="3651249" cy="46121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0"/>
            <a:ext cx="914400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SOAP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Heading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2133600"/>
            <a:ext cx="830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text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Heading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2133600"/>
            <a:ext cx="830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text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Web Services Explained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609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Heading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2133600"/>
            <a:ext cx="830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Calibri" pitchFamily="34" charset="0"/>
              <a:buChar char="›"/>
            </a:pPr>
            <a:r>
              <a:rPr lang="en-US" sz="2400" dirty="0" smtClean="0"/>
              <a:t>text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575</Words>
  <Application>Microsoft Office PowerPoint</Application>
  <PresentationFormat>On-screen Show (4:3)</PresentationFormat>
  <Paragraphs>145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Aaron Evans</dc:creator>
  <cp:lastModifiedBy>Aaron Evans</cp:lastModifiedBy>
  <cp:revision>23</cp:revision>
  <dcterms:created xsi:type="dcterms:W3CDTF">2013-03-17T05:00:47Z</dcterms:created>
  <dcterms:modified xsi:type="dcterms:W3CDTF">2013-03-17T06:41:58Z</dcterms:modified>
</cp:coreProperties>
</file>
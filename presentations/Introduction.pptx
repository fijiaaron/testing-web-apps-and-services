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85" r:id="rId3"/>
    <p:sldId id="257" r:id="rId4"/>
    <p:sldId id="258" r:id="rId5"/>
    <p:sldId id="259" r:id="rId6"/>
    <p:sldId id="260" r:id="rId7"/>
    <p:sldId id="261" r:id="rId8"/>
    <p:sldId id="264" r:id="rId9"/>
    <p:sldId id="278" r:id="rId10"/>
    <p:sldId id="262" r:id="rId11"/>
    <p:sldId id="268" r:id="rId12"/>
    <p:sldId id="265" r:id="rId13"/>
    <p:sldId id="270" r:id="rId14"/>
    <p:sldId id="266" r:id="rId15"/>
    <p:sldId id="279" r:id="rId16"/>
    <p:sldId id="284" r:id="rId17"/>
    <p:sldId id="283" r:id="rId18"/>
    <p:sldId id="274" r:id="rId19"/>
    <p:sldId id="277" r:id="rId20"/>
    <p:sldId id="280" r:id="rId21"/>
    <p:sldId id="282"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2289" autoAdjust="0"/>
  </p:normalViewPr>
  <p:slideViewPr>
    <p:cSldViewPr>
      <p:cViewPr varScale="1">
        <p:scale>
          <a:sx n="57" d="100"/>
          <a:sy n="57" d="100"/>
        </p:scale>
        <p:origin x="-918" y="-96"/>
      </p:cViewPr>
      <p:guideLst>
        <p:guide orient="horz" pos="2160"/>
        <p:guide pos="2880"/>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3/7/2013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p14="http://schemas.microsoft.com/office/powerpoint/2010/main" val="383300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a:t>
            </a:r>
            <a:r>
              <a:rPr lang="en-US" sz="1200" kern="1200" smtClean="0">
                <a:solidFill>
                  <a:schemeClr val="tx1"/>
                </a:solidFill>
                <a:latin typeface="+mn-lt"/>
                <a:ea typeface="+mn-ea"/>
                <a:cs typeface="+mn-cs"/>
              </a:rPr>
              <a:t>.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If you are looking for “</a:t>
            </a:r>
            <a:r>
              <a:rPr lang="en-US" sz="1200" i="0" u="sng" kern="1200" dirty="0" smtClean="0">
                <a:solidFill>
                  <a:schemeClr val="tx1"/>
                </a:solidFill>
                <a:latin typeface="+mn-lt"/>
                <a:ea typeface="+mn-ea"/>
                <a:cs typeface="+mn-cs"/>
              </a:rPr>
              <a:t>Introduction to Wedding Planning</a:t>
            </a:r>
            <a:r>
              <a:rPr lang="en-US" sz="1200" kern="1200" dirty="0" smtClean="0">
                <a:solidFill>
                  <a:schemeClr val="tx1"/>
                </a:solidFill>
                <a:latin typeface="+mn-lt"/>
                <a:ea typeface="+mn-ea"/>
                <a:cs typeface="+mn-cs"/>
              </a:rPr>
              <a:t>” or "</a:t>
            </a:r>
            <a:r>
              <a:rPr lang="en-US" sz="1200" u="sng" kern="1200" dirty="0" smtClean="0">
                <a:solidFill>
                  <a:schemeClr val="tx1"/>
                </a:solidFill>
                <a:latin typeface="+mn-lt"/>
                <a:ea typeface="+mn-ea"/>
                <a:cs typeface="+mn-cs"/>
              </a:rPr>
              <a:t>Thermo-Nuclear Detonators for Fun and Profit</a:t>
            </a:r>
            <a:r>
              <a:rPr lang="en-US" sz="1200" kern="1200" dirty="0" smtClean="0">
                <a:solidFill>
                  <a:schemeClr val="tx1"/>
                </a:solidFill>
                <a:latin typeface="+mn-lt"/>
                <a:ea typeface="+mn-ea"/>
                <a:cs typeface="+mn-cs"/>
              </a:rPr>
              <a:t>" you’re in the wrong room.</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This is the first part of a two day course.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Today we’ll talk mostly about web apps and tomorrow we will focus on web services.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latin typeface="+mn-lt"/>
                <a:ea typeface="+mn-ea"/>
                <a:cs typeface="+mn-cs"/>
              </a:rPr>
              <a:t>First off, I’d like to introduce myself. </a:t>
            </a:r>
          </a:p>
          <a:p>
            <a:r>
              <a:rPr lang="en-US" sz="1200" kern="1200" dirty="0" smtClean="0">
                <a:solidFill>
                  <a:schemeClr val="tx1"/>
                </a:solidFill>
                <a:latin typeface="+mn-lt"/>
                <a:ea typeface="+mn-ea"/>
                <a:cs typeface="+mn-cs"/>
              </a:rPr>
              <a:t>My </a:t>
            </a:r>
            <a:r>
              <a:rPr lang="en-US" sz="1200" kern="1200" dirty="0" smtClean="0">
                <a:solidFill>
                  <a:schemeClr val="tx1"/>
                </a:solidFill>
                <a:latin typeface="+mn-lt"/>
                <a:ea typeface="+mn-ea"/>
                <a:cs typeface="+mn-cs"/>
              </a:rPr>
              <a:t>name is Aaron Evans.  I’ll be your trainer for the next two days.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Here’s </a:t>
            </a:r>
            <a:r>
              <a:rPr lang="en-US" sz="1200" kern="1200" dirty="0" smtClean="0">
                <a:solidFill>
                  <a:schemeClr val="tx1"/>
                </a:solidFill>
                <a:latin typeface="+mn-lt"/>
                <a:ea typeface="+mn-ea"/>
                <a:cs typeface="+mn-cs"/>
              </a:rPr>
              <a:t>my contact information.  </a:t>
            </a:r>
          </a:p>
          <a:p>
            <a:r>
              <a:rPr lang="en-US" sz="1200" i="1" kern="1200" dirty="0" smtClean="0">
                <a:solidFill>
                  <a:schemeClr val="tx1"/>
                </a:solidFill>
                <a:latin typeface="+mn-lt"/>
                <a:ea typeface="+mn-ea"/>
                <a:cs typeface="+mn-cs"/>
              </a:rPr>
              <a:t>Follow me on twitter, read my blog, spam me, whatever</a:t>
            </a:r>
            <a:r>
              <a:rPr lang="en-US" sz="1200" i="1" kern="1200" dirty="0" smtClean="0">
                <a:solidFill>
                  <a:schemeClr val="tx1"/>
                </a:solidFill>
                <a:latin typeface="+mn-lt"/>
                <a:ea typeface="+mn-ea"/>
                <a:cs typeface="+mn-cs"/>
              </a:rPr>
              <a:t>.</a:t>
            </a:r>
          </a:p>
          <a:p>
            <a:endParaRPr lang="en-US" sz="1200" i="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been doing software testing for a little over 10 years.  Not coincidentally, most of what I’ve been doing lately involves testing web applications and web services -- along with mobile apps</a:t>
            </a:r>
            <a:r>
              <a:rPr lang="en-US" sz="1200" kern="1200" dirty="0" smtClean="0">
                <a:solidFill>
                  <a:schemeClr val="tx1"/>
                </a:solidFill>
                <a:latin typeface="+mn-lt"/>
                <a:ea typeface="+mn-ea"/>
                <a:cs typeface="+mn-cs"/>
              </a:rPr>
              <a:t>.</a:t>
            </a:r>
            <a:endParaRPr lang="en-US" sz="1200" i="1" kern="1200" dirty="0" smtClean="0">
              <a:solidFill>
                <a:schemeClr val="tx1"/>
              </a:solidFill>
              <a:latin typeface="+mn-lt"/>
              <a:ea typeface="+mn-ea"/>
              <a:cs typeface="+mn-cs"/>
            </a:endParaRPr>
          </a:p>
          <a:p>
            <a:r>
              <a:rPr lang="en-US" sz="1200" i="1" kern="1200" dirty="0" smtClean="0">
                <a:solidFill>
                  <a:schemeClr val="tx1"/>
                </a:solidFill>
                <a:latin typeface="+mn-lt"/>
                <a:ea typeface="+mn-ea"/>
                <a:cs typeface="+mn-cs"/>
              </a:rPr>
              <a:t>Which </a:t>
            </a:r>
            <a:r>
              <a:rPr lang="en-US" sz="1200" i="1" kern="1200" dirty="0" smtClean="0">
                <a:solidFill>
                  <a:schemeClr val="tx1"/>
                </a:solidFill>
                <a:latin typeface="+mn-lt"/>
                <a:ea typeface="+mn-ea"/>
                <a:cs typeface="+mn-cs"/>
              </a:rPr>
              <a:t>are pretty popular with the kids these days, or so I’m told.  </a:t>
            </a:r>
            <a:endParaRPr lang="en-US" sz="1200" i="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Many </a:t>
            </a:r>
            <a:r>
              <a:rPr lang="en-US" sz="1200" kern="1200" dirty="0" smtClean="0">
                <a:solidFill>
                  <a:schemeClr val="tx1"/>
                </a:solidFill>
                <a:latin typeface="+mn-lt"/>
                <a:ea typeface="+mn-ea"/>
                <a:cs typeface="+mn-cs"/>
              </a:rPr>
              <a:t>mobile apps use web services, frequently the same services on the backend as web applications.</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My </a:t>
            </a:r>
            <a:r>
              <a:rPr lang="en-US" sz="1200" kern="1200" dirty="0" smtClean="0">
                <a:solidFill>
                  <a:schemeClr val="tx1"/>
                </a:solidFill>
                <a:latin typeface="+mn-lt"/>
                <a:ea typeface="+mn-ea"/>
                <a:cs typeface="+mn-cs"/>
              </a:rPr>
              <a:t>specialty is actually in test automation, and though we’re not going to get into that too much in this course, I might try to slip a bit in.</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A </a:t>
            </a:r>
            <a:r>
              <a:rPr lang="en-US" sz="1200" kern="1200" dirty="0" smtClean="0">
                <a:solidFill>
                  <a:schemeClr val="tx1"/>
                </a:solidFill>
                <a:latin typeface="+mn-lt"/>
                <a:ea typeface="+mn-ea"/>
                <a:cs typeface="+mn-cs"/>
              </a:rPr>
              <a:t>little about me:</a:t>
            </a:r>
          </a:p>
          <a:p>
            <a:r>
              <a:rPr lang="en-US" sz="1200" kern="1200" dirty="0" smtClean="0">
                <a:solidFill>
                  <a:schemeClr val="tx1"/>
                </a:solidFill>
                <a:latin typeface="+mn-lt"/>
                <a:ea typeface="+mn-ea"/>
                <a:cs typeface="+mn-cs"/>
              </a:rPr>
              <a:t>As you can see from my lovely photograph, I like to go out on a limb, or in this case, a ledge.  That’s me (from a few years ago) hanging out of my apartment window in Cuenca, Ecuador where I used to live. </a:t>
            </a:r>
          </a:p>
          <a:p>
            <a:r>
              <a:rPr lang="en-US" sz="1200" kern="1200" dirty="0" smtClean="0">
                <a:solidFill>
                  <a:schemeClr val="tx1"/>
                </a:solidFill>
                <a:latin typeface="+mn-lt"/>
                <a:ea typeface="+mn-ea"/>
                <a:cs typeface="+mn-cs"/>
              </a:rPr>
              <a:t>My wife volunteered at an orphanage there and we have a lot of great friends in Ecuador and the weather is perfect.  Even though it’s on the equator, it’s up in the </a:t>
            </a:r>
            <a:r>
              <a:rPr lang="en-US" sz="1200" kern="1200" dirty="0" smtClean="0">
                <a:solidFill>
                  <a:schemeClr val="tx1"/>
                </a:solidFill>
                <a:latin typeface="+mn-lt"/>
                <a:ea typeface="+mn-ea"/>
                <a:cs typeface="+mn-cs"/>
              </a:rPr>
              <a:t>mountains</a:t>
            </a:r>
            <a:r>
              <a:rPr lang="en-US" sz="1200" kern="1200" dirty="0" smtClean="0">
                <a:solidFill>
                  <a:schemeClr val="tx1"/>
                </a:solidFill>
                <a:latin typeface="+mn-lt"/>
                <a:ea typeface="+mn-ea"/>
                <a:cs typeface="+mn-cs"/>
              </a:rPr>
              <a:t>, so it’s like spring year round.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Which </a:t>
            </a:r>
            <a:r>
              <a:rPr lang="en-US" sz="1200" kern="1200" dirty="0" smtClean="0">
                <a:solidFill>
                  <a:schemeClr val="tx1"/>
                </a:solidFill>
                <a:latin typeface="+mn-lt"/>
                <a:ea typeface="+mn-ea"/>
                <a:cs typeface="+mn-cs"/>
              </a:rPr>
              <a:t>is a long winded way of saying I like to travel.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a:t>
            </a:r>
            <a:r>
              <a:rPr lang="en-US" sz="1200" kern="1200" dirty="0" smtClean="0">
                <a:solidFill>
                  <a:schemeClr val="tx1"/>
                </a:solidFill>
                <a:latin typeface="+mn-lt"/>
                <a:ea typeface="+mn-ea"/>
                <a:cs typeface="+mn-cs"/>
              </a:rPr>
              <a:t>also lived in Fiji in the South Pacific which is where my twitter handle and blog title came from.  </a:t>
            </a:r>
          </a:p>
          <a:p>
            <a:r>
              <a:rPr lang="en-US" sz="1200" kern="1200" dirty="0" smtClean="0">
                <a:solidFill>
                  <a:schemeClr val="tx1"/>
                </a:solidFill>
                <a:latin typeface="+mn-lt"/>
                <a:ea typeface="+mn-ea"/>
                <a:cs typeface="+mn-cs"/>
              </a:rPr>
              <a:t>I started writing it as a travel blog so I wouldn’t have to write separate letters to my mom and girlfriend but it turned into a tech blog full of my rambles and frustrations with various testing tools</a:t>
            </a:r>
            <a:r>
              <a:rPr lang="en-US" sz="1200" kern="1200" dirty="0" smtClean="0">
                <a:solidFill>
                  <a:schemeClr val="tx1"/>
                </a:solidFill>
                <a:latin typeface="+mn-lt"/>
                <a:ea typeface="+mn-ea"/>
                <a:cs typeface="+mn-cs"/>
              </a:rPr>
              <a:t>.</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 actually moved to Fiji after I was fed up with testing and was going to start a Survivor-like vacation tour where you can learn to start a fire without matches, catch fish without a pole, climb coconut trees and so on</a:t>
            </a:r>
            <a:r>
              <a:rPr lang="en-US" sz="1200" kern="1200" dirty="0" smtClean="0">
                <a:solidFill>
                  <a:schemeClr val="tx1"/>
                </a:solidFill>
                <a:latin typeface="+mn-lt"/>
                <a:ea typeface="+mn-ea"/>
                <a:cs typeface="+mn-cs"/>
              </a:rPr>
              <a:t>.</a:t>
            </a:r>
            <a:endParaRPr lang="en-US" sz="1200" kern="120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But enough about me.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Tell me about yourselves.  </a:t>
            </a:r>
          </a:p>
          <a:p>
            <a:r>
              <a:rPr lang="en-US" sz="1200" i="1" kern="1200" dirty="0" smtClean="0">
                <a:solidFill>
                  <a:schemeClr val="tx1"/>
                </a:solidFill>
                <a:effectLst/>
                <a:latin typeface="+mn-lt"/>
                <a:ea typeface="+mn-ea"/>
                <a:cs typeface="+mn-cs"/>
              </a:rPr>
              <a:t>Your hopes and dreams, hobbies, favorite colors, and your names, and deepest secrets.  Or at least your names.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If everyone could, please stand up and tell me who you are and what you do. </a:t>
            </a:r>
          </a:p>
          <a:p>
            <a:r>
              <a:rPr lang="en-US" sz="1200" i="1" kern="1200" dirty="0" smtClean="0">
                <a:solidFill>
                  <a:schemeClr val="tx1"/>
                </a:solidFill>
                <a:effectLst/>
                <a:latin typeface="+mn-lt"/>
                <a:ea typeface="+mn-ea"/>
                <a:cs typeface="+mn-cs"/>
              </a:rPr>
              <a:t>If you’re remote, you don’t have to stand up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promise I’ll remember everyone’s name, but I’ll try. </a:t>
            </a:r>
          </a:p>
          <a:p>
            <a:r>
              <a:rPr lang="en-US" sz="1200" i="1" kern="1200" dirty="0" smtClean="0">
                <a:solidFill>
                  <a:schemeClr val="tx1"/>
                </a:solidFill>
                <a:effectLst/>
                <a:latin typeface="+mn-lt"/>
                <a:ea typeface="+mn-ea"/>
                <a:cs typeface="+mn-cs"/>
              </a:rPr>
              <a:t>If you put a name tag up it might help so if you have a question, I won’t have to say “Hey you” or guess your name.</a:t>
            </a:r>
            <a:endParaRPr lang="en-US" sz="1200" i="1"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My teaching process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I'll tell you a bit about how I like to teach.  Which is mainly determined by how I like to learn.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I'm not sure I can talk for 8 hours straight. Not only would my voice get hoarse, I'd probably run out of things to say, and I might even get tired of hearing myself speak.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break it up into small segments and avoid long lectures.  So each day will be divided into approximately hour long sections with a 5-10 minute break in between.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So I can give my voice a rest and check Facebook.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You can go back to your desk, talk in the halls, go to the bathroom and get a drink of water, or do whatever.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high school, but without lockers and bells and such. There won't be any graduation ceremony, but we'll have a dance afterward.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make sure we are all on the same page so after I introduce the subject, we will start with a brief Q&amp;A to learn what you know about it, what you'd like to learn, and what you don't care to know.</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And then I'll go ahead and bore to you tears anyway with irrelevant information that you already know.</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For each section I'll give a short presentation, usually about 15 minutes, and attempt to answer any questions afterward.  But feel free to ask questions as we go along too.</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I'll introduce any tools I've talked about in the section and we will try them out with an exercise to reinforce the concepts.</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homework.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then at the end of the day, if there's time, we'll try to put it all into practice with a lab where you can break out and we'll be less formal.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The curriculum</a:t>
            </a:r>
          </a:p>
          <a:p>
            <a:r>
              <a:rPr lang="en-US" sz="1200" kern="1200" dirty="0" smtClean="0">
                <a:solidFill>
                  <a:schemeClr val="tx1"/>
                </a:solidFill>
                <a:effectLst/>
                <a:latin typeface="+mn-lt"/>
                <a:ea typeface="+mn-ea"/>
                <a:cs typeface="+mn-cs"/>
              </a:rPr>
              <a:t>As I mentioned at the beginning, this is a two day course.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1</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Today we will cover web apps and talk about the underlying technology.  Tomorrow we'll talk in more detail about web services and how they interact with web apps.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In the first section, we'll talk about the differences between testing web applications and traditional (non-web based)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talk about the differences between web sites and web applications, between web apps and web services, and how they work together.</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discuss testing practices in general, different types of testing,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Later today, we'll dive into the building blocks of the web:</a:t>
            </a:r>
          </a:p>
          <a:p>
            <a:r>
              <a:rPr lang="en-US" sz="1200" kern="1200" dirty="0" smtClean="0">
                <a:solidFill>
                  <a:schemeClr val="tx1"/>
                </a:solidFill>
                <a:effectLst/>
                <a:latin typeface="+mn-lt"/>
                <a:ea typeface="+mn-ea"/>
                <a:cs typeface="+mn-cs"/>
              </a:rPr>
              <a:t>Networks, TCP/IP, the HTTP protocol, HTML, CSS,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Ajax, Forms, Cookies,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talk about how a well-designed web architecture can enable scalable apps and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we'll get down to testing web apps, keeping in mind the different contexts and perspectives such as performance, security, server side, client side,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we'll talk about </a:t>
            </a:r>
            <a:r>
              <a:rPr lang="en-US" sz="1200" kern="1200" dirty="0" err="1" smtClean="0">
                <a:solidFill>
                  <a:schemeClr val="tx1"/>
                </a:solidFill>
                <a:effectLst/>
                <a:latin typeface="+mn-lt"/>
                <a:ea typeface="+mn-ea"/>
                <a:cs typeface="+mn-cs"/>
              </a:rPr>
              <a:t>AngularJS</a:t>
            </a:r>
            <a:r>
              <a:rPr lang="en-US" sz="1200" kern="1200" dirty="0" smtClean="0">
                <a:solidFill>
                  <a:schemeClr val="tx1"/>
                </a:solidFill>
                <a:effectLst/>
                <a:latin typeface="+mn-lt"/>
                <a:ea typeface="+mn-ea"/>
                <a:cs typeface="+mn-cs"/>
              </a:rPr>
              <a:t>, a front end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framework for building single-page web apps -- like Gmail.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2</a:t>
            </a:r>
          </a:p>
          <a:p>
            <a:r>
              <a:rPr lang="en-US" sz="1200" kern="1200" dirty="0" smtClean="0">
                <a:solidFill>
                  <a:schemeClr val="tx1"/>
                </a:solidFill>
                <a:effectLst/>
                <a:latin typeface="+mn-lt"/>
                <a:ea typeface="+mn-ea"/>
                <a:cs typeface="+mn-cs"/>
              </a:rPr>
              <a:t>Tomorrow, I'll introduce web services and go over in detail some of the architectural building blocks of web services and their similarities (and differences) with web apps.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They use the same underlying architecture, but are conceptually quite different.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Web apps are all about the user interface, and web services have none.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two main types of web services, SOAP and REST, and I will introduce each, but we're going to focus on REST.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REST is becoming the preferred way of using web services because it is simpler and takes better advantage of the web architecture.  SOAP still has it's place, but it's a very complex topic for another day.</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dive into the details of REST, and then talk about how we can test </a:t>
            </a:r>
            <a:r>
              <a:rPr lang="en-US" sz="1200" kern="1200" dirty="0" err="1" smtClean="0">
                <a:solidFill>
                  <a:schemeClr val="tx1"/>
                </a:solidFill>
                <a:effectLst/>
                <a:latin typeface="+mn-lt"/>
                <a:ea typeface="+mn-ea"/>
                <a:cs typeface="+mn-cs"/>
              </a:rPr>
              <a:t>RESTful</a:t>
            </a:r>
            <a:r>
              <a:rPr lang="en-US" sz="1200" kern="1200" dirty="0" smtClean="0">
                <a:solidFill>
                  <a:schemeClr val="tx1"/>
                </a:solidFill>
                <a:effectLst/>
                <a:latin typeface="+mn-lt"/>
                <a:ea typeface="+mn-ea"/>
                <a:cs typeface="+mn-cs"/>
              </a:rPr>
              <a:t> web services and some of the tools that are available to help us.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because it's almost always put off until the end --and frequently left out-- we'll talk about performance and security considerations... if we have time.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Web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let's talk a bit about what we mean by web apps and web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say "web app", I mean an application that has a web interface.  Usually, this means a browser-based UI with HTML, JavaScript, and CSS, but it could also use a plugin like Flash or Java applets.</a:t>
            </a:r>
          </a:p>
          <a:p>
            <a:r>
              <a:rPr lang="en-US" sz="1200" i="1" kern="1200" dirty="0" smtClean="0">
                <a:solidFill>
                  <a:schemeClr val="tx1"/>
                </a:solidFill>
                <a:effectLst/>
                <a:latin typeface="+mn-lt"/>
                <a:ea typeface="+mn-ea"/>
                <a:cs typeface="+mn-cs"/>
              </a:rPr>
              <a:t>(Remember those?  There are actually a few applet based apps still out there.)</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Or it could more loosely mean applications that are connected via the web -- using an internet connection and HTTP -- with a traditional, client based UI.  But those are commonly called "Rich internet applications" to be more precise.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Native mobile apps fall into the same category, although an increasing number of mobile apps are web based, or really just a native wrapper around a browser rendering engine -- such as </a:t>
            </a:r>
            <a:r>
              <a:rPr lang="en-US" sz="1200" kern="1200" dirty="0" err="1" smtClean="0">
                <a:solidFill>
                  <a:schemeClr val="tx1"/>
                </a:solidFill>
                <a:effectLst/>
                <a:latin typeface="+mn-lt"/>
                <a:ea typeface="+mn-ea"/>
                <a:cs typeface="+mn-cs"/>
              </a:rPr>
              <a:t>WebKit</a:t>
            </a:r>
            <a:r>
              <a:rPr lang="en-US" sz="1200" kern="1200" dirty="0" smtClean="0">
                <a:solidFill>
                  <a:schemeClr val="tx1"/>
                </a:solidFill>
                <a:effectLst/>
                <a:latin typeface="+mn-lt"/>
                <a:ea typeface="+mn-ea"/>
                <a:cs typeface="+mn-cs"/>
              </a:rPr>
              <a: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Facebook, famously, has focused on delivering a browser-based mobile web app.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there are frameworks, such as </a:t>
            </a:r>
            <a:r>
              <a:rPr lang="en-US" sz="1200" kern="1200" dirty="0" err="1" smtClean="0">
                <a:solidFill>
                  <a:schemeClr val="tx1"/>
                </a:solidFill>
                <a:effectLst/>
                <a:latin typeface="+mn-lt"/>
                <a:ea typeface="+mn-ea"/>
                <a:cs typeface="+mn-cs"/>
              </a:rPr>
              <a:t>Phonegap</a:t>
            </a:r>
            <a:r>
              <a:rPr lang="en-US" sz="1200" kern="1200" dirty="0" smtClean="0">
                <a:solidFill>
                  <a:schemeClr val="tx1"/>
                </a:solidFill>
                <a:effectLst/>
                <a:latin typeface="+mn-lt"/>
                <a:ea typeface="+mn-ea"/>
                <a:cs typeface="+mn-cs"/>
              </a:rPr>
              <a:t> and </a:t>
            </a:r>
            <a:r>
              <a:rPr lang="en-US" sz="1200" kern="1200" dirty="0" err="1" smtClean="0">
                <a:solidFill>
                  <a:schemeClr val="tx1"/>
                </a:solidFill>
                <a:effectLst/>
                <a:latin typeface="+mn-lt"/>
                <a:ea typeface="+mn-ea"/>
                <a:cs typeface="+mn-cs"/>
              </a:rPr>
              <a:t>Sencha</a:t>
            </a:r>
            <a:r>
              <a:rPr lang="en-US" sz="1200" kern="1200" dirty="0" smtClean="0">
                <a:solidFill>
                  <a:schemeClr val="tx1"/>
                </a:solidFill>
                <a:effectLst/>
                <a:latin typeface="+mn-lt"/>
                <a:ea typeface="+mn-ea"/>
                <a:cs typeface="+mn-cs"/>
              </a:rPr>
              <a:t> Touch that are blurring the line between native and web apps on mobile devices.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How are web applications different from traditional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let's back up a bit and talk about the differences between web applications and traditional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I've already touched on a couple obvious differences.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is that it uses the network. </a:t>
            </a:r>
          </a:p>
          <a:p>
            <a:r>
              <a:rPr lang="en-US" sz="1200" kern="1200" dirty="0" smtClean="0">
                <a:solidFill>
                  <a:schemeClr val="tx1"/>
                </a:solidFill>
                <a:effectLst/>
                <a:latin typeface="+mn-lt"/>
                <a:ea typeface="+mn-ea"/>
                <a:cs typeface="+mn-cs"/>
              </a:rPr>
              <a:t>Of course there have been networked applications, even before the "web" as we know it was invented.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Client server apps date back to the first teletypes.  And there are network apps that don't use the web -- using protocols such as FTP, or raw sockets.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when I say "traditional apps",  I think of programs like Microsoft Word -- although it includes web connectivity these days (and an HTML renderer as well) -- but you know what I mean.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Another major difference is that web apps don't require installation.  That is a huge differentiator and a major benefit.  It saves a ton of IT headaches, and it saves vendors money.  No CDs, no cardboard boxes, and no retail stores needed.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Although you can download traditional apps these days too.</a:t>
            </a:r>
          </a:p>
          <a:p>
            <a:r>
              <a:rPr lang="en-US" sz="1200" i="1" kern="1200" dirty="0" smtClean="0">
                <a:solidFill>
                  <a:schemeClr val="tx1"/>
                </a:solidFill>
                <a:effectLst/>
                <a:latin typeface="+mn-lt"/>
                <a:ea typeface="+mn-ea"/>
                <a:cs typeface="+mn-cs"/>
              </a:rPr>
              <a:t>Hmm... maybe my analogy needs a little more thought.</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r>
              <a:rPr lang="en-US" sz="1200" kern="1200" dirty="0" smtClean="0">
                <a:solidFill>
                  <a:schemeClr val="tx1"/>
                </a:solidFill>
                <a:effectLst/>
                <a:latin typeface="+mn-lt"/>
                <a:ea typeface="+mn-ea"/>
                <a:cs typeface="+mn-cs"/>
              </a:rPr>
              <a:t> These are some common goals:</a:t>
            </a:r>
          </a:p>
          <a:p>
            <a:r>
              <a:rPr lang="en-US" sz="1200" kern="1200" dirty="0" smtClean="0">
                <a:solidFill>
                  <a:schemeClr val="tx1"/>
                </a:solidFill>
                <a:effectLst/>
                <a:latin typeface="+mn-lt"/>
                <a:ea typeface="+mn-ea"/>
                <a:cs typeface="+mn-cs"/>
              </a:rPr>
              <a:t>Verification</a:t>
            </a:r>
          </a:p>
          <a:p>
            <a:r>
              <a:rPr lang="en-US" sz="1200" kern="1200" dirty="0" smtClean="0">
                <a:solidFill>
                  <a:schemeClr val="tx1"/>
                </a:solidFill>
                <a:effectLst/>
                <a:latin typeface="+mn-lt"/>
                <a:ea typeface="+mn-ea"/>
                <a:cs typeface="+mn-cs"/>
              </a:rPr>
              <a:t>Validation</a:t>
            </a:r>
          </a:p>
          <a:p>
            <a:r>
              <a:rPr lang="en-US" sz="1200" kern="1200" dirty="0" smtClean="0">
                <a:solidFill>
                  <a:schemeClr val="tx1"/>
                </a:solidFill>
                <a:effectLst/>
                <a:latin typeface="+mn-lt"/>
                <a:ea typeface="+mn-ea"/>
                <a:cs typeface="+mn-cs"/>
              </a:rPr>
              <a:t>Exploratory</a:t>
            </a:r>
          </a:p>
          <a:p>
            <a:r>
              <a:rPr lang="en-US" sz="1200" kern="1200" dirty="0" smtClean="0">
                <a:solidFill>
                  <a:schemeClr val="tx1"/>
                </a:solidFill>
                <a:effectLst/>
                <a:latin typeface="+mn-lt"/>
                <a:ea typeface="+mn-ea"/>
                <a:cs typeface="+mn-cs"/>
              </a:rPr>
              <a:t>Destructive</a:t>
            </a: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These are some common goals:</a:t>
            </a:r>
          </a:p>
          <a:p>
            <a:r>
              <a:rPr lang="en-US" sz="1200" kern="1200" dirty="0" smtClean="0">
                <a:solidFill>
                  <a:schemeClr val="tx1"/>
                </a:solidFill>
                <a:effectLst/>
                <a:latin typeface="+mn-lt"/>
                <a:ea typeface="+mn-ea"/>
                <a:cs typeface="+mn-cs"/>
              </a:rPr>
              <a:t>Verification – verify it does what is expected</a:t>
            </a:r>
          </a:p>
          <a:p>
            <a:r>
              <a:rPr lang="en-US" sz="1200" kern="1200" dirty="0" smtClean="0">
                <a:solidFill>
                  <a:schemeClr val="tx1"/>
                </a:solidFill>
                <a:effectLst/>
                <a:latin typeface="+mn-lt"/>
                <a:ea typeface="+mn-ea"/>
                <a:cs typeface="+mn-cs"/>
              </a:rPr>
              <a:t>Validation – validate</a:t>
            </a:r>
            <a:r>
              <a:rPr lang="en-US" sz="1200" kern="1200" baseline="0" dirty="0" smtClean="0">
                <a:solidFill>
                  <a:schemeClr val="tx1"/>
                </a:solidFill>
                <a:effectLst/>
                <a:latin typeface="+mn-lt"/>
                <a:ea typeface="+mn-ea"/>
                <a:cs typeface="+mn-cs"/>
              </a:rPr>
              <a:t> the assumptions we’ve made</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Exploratory </a:t>
            </a:r>
          </a:p>
          <a:p>
            <a:r>
              <a:rPr lang="en-US" sz="1200" kern="1200" dirty="0" smtClean="0">
                <a:solidFill>
                  <a:schemeClr val="tx1"/>
                </a:solidFill>
                <a:effectLst/>
                <a:latin typeface="+mn-lt"/>
                <a:ea typeface="+mn-ea"/>
                <a:cs typeface="+mn-cs"/>
              </a:rPr>
              <a:t>Destructive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3/7/2013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3/7/2013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3/7/2013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3/7/2013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3/7/2013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3/7/2013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3/7/2013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3/7/2013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3/7/2013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3/7/2013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3/7/2013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3/7/2013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gif"/><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8" Type="http://schemas.openxmlformats.org/officeDocument/2006/relationships/hyperlink" Target="http://twitter.com/fijiaaron" TargetMode="External"/><Relationship Id="rId3" Type="http://schemas.openxmlformats.org/officeDocument/2006/relationships/image" Target="../media/image1.png"/><Relationship Id="rId7" Type="http://schemas.openxmlformats.org/officeDocument/2006/relationships/hyperlink" Target="http://fijiaaron.com/"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mailto:aarone@one-shore.com" TargetMode="External"/><Relationship Id="rId5" Type="http://schemas.openxmlformats.org/officeDocument/2006/relationships/image" Target="../media/image9.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Testing Web Applications </a:t>
            </a:r>
          </a:p>
          <a:p>
            <a:pPr algn="ctr"/>
            <a:r>
              <a:rPr lang="en-US" sz="4800" dirty="0" smtClean="0"/>
              <a:t>&amp; Web Services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1000" y="4436644"/>
            <a:ext cx="2396747" cy="1542047"/>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73160" y="504962"/>
            <a:ext cx="3370840" cy="2238238"/>
          </a:xfrm>
          <a:prstGeom prst="rect">
            <a:avLst/>
          </a:prstGeom>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8" name="Picture 7" descr="wedding.jpg"/>
          <p:cNvPicPr>
            <a:picLocks noChangeAspect="1"/>
          </p:cNvPicPr>
          <p:nvPr/>
        </p:nvPicPr>
        <p:blipFill>
          <a:blip r:embed="rId5" cstate="print"/>
          <a:stretch>
            <a:fillRect/>
          </a:stretch>
        </p:blipFill>
        <p:spPr>
          <a:xfrm>
            <a:off x="0" y="0"/>
            <a:ext cx="6302256" cy="4191000"/>
          </a:xfrm>
          <a:prstGeom prst="rect">
            <a:avLst/>
          </a:prstGeom>
        </p:spPr>
      </p:pic>
      <p:pic>
        <p:nvPicPr>
          <p:cNvPr id="7" name="Picture 6" descr="mushroom-cloud.jpg"/>
          <p:cNvPicPr>
            <a:picLocks noChangeAspect="1"/>
          </p:cNvPicPr>
          <p:nvPr/>
        </p:nvPicPr>
        <p:blipFill>
          <a:blip r:embed="rId6" cstate="print"/>
          <a:stretch>
            <a:fillRect/>
          </a:stretch>
        </p:blipFill>
        <p:spPr>
          <a:xfrm>
            <a:off x="2666683" y="2887215"/>
            <a:ext cx="6477317" cy="3970785"/>
          </a:xfrm>
          <a:prstGeom prst="rect">
            <a:avLst/>
          </a:prstGeom>
        </p:spPr>
      </p:pic>
      <p:pic>
        <p:nvPicPr>
          <p:cNvPr id="3" name="Picture 2"/>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52149" y="2887215"/>
            <a:ext cx="2683503" cy="3970785"/>
          </a:xfrm>
          <a:prstGeom prst="rect">
            <a:avLst/>
          </a:prstGeom>
        </p:spPr>
      </p:pic>
      <p:pic>
        <p:nvPicPr>
          <p:cNvPr id="6" name="Picture 5"/>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57059" y="504962"/>
            <a:ext cx="5858142" cy="5858142"/>
          </a:xfrm>
          <a:prstGeom prst="rect">
            <a:avLst/>
          </a:prstGeom>
        </p:spPr>
      </p:pic>
    </p:spTree>
    <p:extLst>
      <p:ext uri="{BB962C8B-B14F-4D97-AF65-F5344CB8AC3E}">
        <p14:creationId xmlns:p14="http://schemas.microsoft.com/office/powerpoint/2010/main" val="3873980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pic>
        <p:nvPicPr>
          <p:cNvPr id="15" name="Picture 14" descr="aaron-cuenca-background.png"/>
          <p:cNvPicPr>
            <a:picLocks noChangeAspect="1"/>
          </p:cNvPicPr>
          <p:nvPr/>
        </p:nvPicPr>
        <p:blipFill>
          <a:blip r:embed="rId5" cstate="print"/>
          <a:stretch>
            <a:fillRect/>
          </a:stretch>
        </p:blipFill>
        <p:spPr>
          <a:xfrm>
            <a:off x="1388658" y="2057400"/>
            <a:ext cx="7755342" cy="4017267"/>
          </a:xfrm>
          <a:prstGeom prst="rect">
            <a:avLst/>
          </a:prstGeom>
        </p:spPr>
      </p:pic>
      <p:sp>
        <p:nvSpPr>
          <p:cNvPr id="16" name="TextBox 15"/>
          <p:cNvSpPr txBox="1"/>
          <p:nvPr/>
        </p:nvSpPr>
        <p:spPr>
          <a:xfrm>
            <a:off x="0" y="1371600"/>
            <a:ext cx="9144000" cy="830997"/>
          </a:xfrm>
          <a:prstGeom prst="rect">
            <a:avLst/>
          </a:prstGeom>
          <a:noFill/>
        </p:spPr>
        <p:txBody>
          <a:bodyPr wrap="square" rtlCol="0">
            <a:spAutoFit/>
          </a:bodyPr>
          <a:lstStyle/>
          <a:p>
            <a:pPr algn="ctr"/>
            <a:r>
              <a:rPr lang="en-US" sz="4800" dirty="0" smtClean="0"/>
              <a:t>Hi.</a:t>
            </a:r>
            <a:endParaRPr lang="en-US" sz="4800" dirty="0"/>
          </a:p>
        </p:txBody>
      </p:sp>
      <p:sp>
        <p:nvSpPr>
          <p:cNvPr id="17" name="TextBox 16"/>
          <p:cNvSpPr txBox="1"/>
          <p:nvPr/>
        </p:nvSpPr>
        <p:spPr>
          <a:xfrm>
            <a:off x="0" y="2819400"/>
            <a:ext cx="9144000" cy="830997"/>
          </a:xfrm>
          <a:prstGeom prst="rect">
            <a:avLst/>
          </a:prstGeom>
          <a:noFill/>
        </p:spPr>
        <p:txBody>
          <a:bodyPr wrap="square" rtlCol="0">
            <a:spAutoFit/>
          </a:bodyPr>
          <a:lstStyle/>
          <a:p>
            <a:pPr algn="ctr"/>
            <a:r>
              <a:rPr lang="en-US" sz="4800" dirty="0" smtClean="0"/>
              <a:t>I’m Aaron Evans</a:t>
            </a:r>
            <a:endParaRPr lang="en-US" sz="4800" dirty="0"/>
          </a:p>
        </p:txBody>
      </p:sp>
      <p:sp>
        <p:nvSpPr>
          <p:cNvPr id="11" name="TextBox 10"/>
          <p:cNvSpPr txBox="1"/>
          <p:nvPr/>
        </p:nvSpPr>
        <p:spPr>
          <a:xfrm>
            <a:off x="0" y="4114800"/>
            <a:ext cx="9144000" cy="1569660"/>
          </a:xfrm>
          <a:prstGeom prst="rect">
            <a:avLst/>
          </a:prstGeom>
          <a:noFill/>
        </p:spPr>
        <p:txBody>
          <a:bodyPr wrap="square" rtlCol="0">
            <a:spAutoFit/>
          </a:bodyPr>
          <a:lstStyle/>
          <a:p>
            <a:pPr algn="ctr"/>
            <a:r>
              <a:rPr lang="en-US" sz="2400" dirty="0" smtClean="0">
                <a:solidFill>
                  <a:schemeClr val="tx2"/>
                </a:solidFill>
                <a:hlinkClick r:id="rId6"/>
              </a:rPr>
              <a:t>aaron@one-shore.com</a:t>
            </a:r>
            <a:r>
              <a:rPr lang="en-US" sz="2400" dirty="0" smtClean="0">
                <a:solidFill>
                  <a:schemeClr val="tx2"/>
                </a:solidFill>
              </a:rPr>
              <a:t> </a:t>
            </a:r>
          </a:p>
          <a:p>
            <a:pPr algn="ctr"/>
            <a:r>
              <a:rPr lang="en-US" sz="2400" dirty="0" smtClean="0">
                <a:solidFill>
                  <a:schemeClr val="tx2"/>
                </a:solidFill>
                <a:hlinkClick r:id="rId7"/>
              </a:rPr>
              <a:t>fijiaaron.com</a:t>
            </a:r>
            <a:endParaRPr lang="en-US" sz="2400" dirty="0" smtClean="0">
              <a:solidFill>
                <a:schemeClr val="tx2"/>
              </a:solidFill>
            </a:endParaRPr>
          </a:p>
          <a:p>
            <a:pPr algn="ctr"/>
            <a:r>
              <a:rPr lang="en-US" sz="2400" dirty="0" smtClean="0">
                <a:solidFill>
                  <a:schemeClr val="tx2"/>
                </a:solidFill>
                <a:hlinkClick r:id="rId8"/>
              </a:rPr>
              <a:t>@</a:t>
            </a:r>
            <a:r>
              <a:rPr lang="en-US" sz="2400" dirty="0" err="1" smtClean="0">
                <a:solidFill>
                  <a:schemeClr val="tx2"/>
                </a:solidFill>
                <a:hlinkClick r:id="rId8"/>
              </a:rPr>
              <a:t>fijiaaron</a:t>
            </a:r>
            <a:endParaRPr lang="en-US" sz="2400" dirty="0" smtClean="0">
              <a:solidFill>
                <a:schemeClr val="tx2"/>
              </a:solidFill>
            </a:endParaRPr>
          </a:p>
          <a:p>
            <a:pPr algn="ctr"/>
            <a:r>
              <a:rPr lang="en-US" sz="2400" dirty="0" smtClean="0">
                <a:solidFill>
                  <a:schemeClr val="tx2"/>
                </a:solidFill>
              </a:rPr>
              <a:t>425-242-4304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20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fade">
                                      <p:cBhvr>
                                        <p:cTn id="17" dur="2000"/>
                                        <p:tgtEl>
                                          <p:spTgt spid="11">
                                            <p:txEl>
                                              <p:pRg st="0" end="0"/>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xEl>
                                              <p:pRg st="1" end="1"/>
                                            </p:txEl>
                                          </p:spTgt>
                                        </p:tgtEl>
                                        <p:attrNameLst>
                                          <p:attrName>style.visibility</p:attrName>
                                        </p:attrNameLst>
                                      </p:cBhvr>
                                      <p:to>
                                        <p:strVal val="visible"/>
                                      </p:to>
                                    </p:set>
                                    <p:animEffect transition="in" filter="fade">
                                      <p:cBhvr>
                                        <p:cTn id="20" dur="2000"/>
                                        <p:tgtEl>
                                          <p:spTgt spid="11">
                                            <p:txEl>
                                              <p:pRg st="1" end="1"/>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2000"/>
                                        <p:tgtEl>
                                          <p:spTgt spid="11">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xEl>
                                              <p:pRg st="3" end="3"/>
                                            </p:txEl>
                                          </p:spTgt>
                                        </p:tgtEl>
                                        <p:attrNameLst>
                                          <p:attrName>style.visibility</p:attrName>
                                        </p:attrNameLst>
                                      </p:cBhvr>
                                      <p:to>
                                        <p:strVal val="visible"/>
                                      </p:to>
                                    </p:set>
                                    <p:animEffect transition="in" filter="fade">
                                      <p:cBhvr>
                                        <p:cTn id="26" dur="2000"/>
                                        <p:tgtEl>
                                          <p:spTgt spid="1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1" grpId="0" build="allAtOnce"/>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1524000"/>
            <a:ext cx="9144000" cy="830997"/>
          </a:xfrm>
          <a:prstGeom prst="rect">
            <a:avLst/>
          </a:prstGeom>
          <a:noFill/>
        </p:spPr>
        <p:txBody>
          <a:bodyPr wrap="square" rtlCol="0">
            <a:spAutoFit/>
          </a:bodyPr>
          <a:lstStyle/>
          <a:p>
            <a:pPr algn="ctr"/>
            <a:r>
              <a:rPr lang="en-US" sz="4800" dirty="0" smtClean="0"/>
              <a:t>But enough about me.</a:t>
            </a:r>
            <a:endParaRPr lang="en-US" sz="4800" dirty="0"/>
          </a:p>
        </p:txBody>
      </p:sp>
      <p:sp>
        <p:nvSpPr>
          <p:cNvPr id="17" name="TextBox 16"/>
          <p:cNvSpPr txBox="1"/>
          <p:nvPr/>
        </p:nvSpPr>
        <p:spPr>
          <a:xfrm>
            <a:off x="0" y="3124200"/>
            <a:ext cx="9144000" cy="830997"/>
          </a:xfrm>
          <a:prstGeom prst="rect">
            <a:avLst/>
          </a:prstGeom>
          <a:noFill/>
        </p:spPr>
        <p:txBody>
          <a:bodyPr wrap="square" rtlCol="0">
            <a:spAutoFit/>
          </a:bodyPr>
          <a:lstStyle/>
          <a:p>
            <a:pPr algn="ctr"/>
            <a:r>
              <a:rPr lang="en-US" sz="4800" dirty="0" smtClean="0"/>
              <a:t>Tell me about yourselves.</a:t>
            </a:r>
            <a:endParaRPr lang="en-US" sz="4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fade">
                                      <p:cBhvr>
                                        <p:cTn id="7" dur="20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My teaching process</a:t>
            </a:r>
            <a:endParaRPr lang="en-US" sz="4800" dirty="0"/>
          </a:p>
        </p:txBody>
      </p:sp>
      <p:sp>
        <p:nvSpPr>
          <p:cNvPr id="11" name="TextBox 10"/>
          <p:cNvSpPr txBox="1"/>
          <p:nvPr/>
        </p:nvSpPr>
        <p:spPr>
          <a:xfrm>
            <a:off x="381000" y="2057400"/>
            <a:ext cx="8382000" cy="3970318"/>
          </a:xfrm>
          <a:prstGeom prst="rect">
            <a:avLst/>
          </a:prstGeom>
          <a:noFill/>
        </p:spPr>
        <p:txBody>
          <a:bodyPr wrap="square" rtlCol="0">
            <a:spAutoFit/>
          </a:bodyPr>
          <a:lstStyle/>
          <a:p>
            <a:pPr marL="742950" indent="-742950">
              <a:buFont typeface="+mj-lt"/>
              <a:buAutoNum type="arabicPeriod"/>
            </a:pPr>
            <a:r>
              <a:rPr lang="en-US" sz="3600" dirty="0" smtClean="0"/>
              <a:t>Introduce the subject</a:t>
            </a:r>
          </a:p>
          <a:p>
            <a:pPr marL="742950" indent="-742950">
              <a:buFont typeface="+mj-lt"/>
              <a:buAutoNum type="arabicPeriod"/>
            </a:pPr>
            <a:r>
              <a:rPr lang="en-US" sz="3600" dirty="0" smtClean="0"/>
              <a:t>Q&amp;A</a:t>
            </a:r>
          </a:p>
          <a:p>
            <a:pPr marL="742950" indent="-742950">
              <a:buFont typeface="+mj-lt"/>
              <a:buAutoNum type="arabicPeriod"/>
            </a:pPr>
            <a:r>
              <a:rPr lang="en-US" sz="3600" dirty="0" smtClean="0"/>
              <a:t>Brief lecture</a:t>
            </a:r>
          </a:p>
          <a:p>
            <a:pPr marL="742950" indent="-742950">
              <a:buFont typeface="+mj-lt"/>
              <a:buAutoNum type="arabicPeriod"/>
            </a:pPr>
            <a:r>
              <a:rPr lang="en-US" sz="3600" dirty="0" smtClean="0"/>
              <a:t>Introduce tools</a:t>
            </a:r>
          </a:p>
          <a:p>
            <a:pPr marL="742950" indent="-742950">
              <a:buFont typeface="+mj-lt"/>
              <a:buAutoNum type="arabicPeriod"/>
            </a:pPr>
            <a:r>
              <a:rPr lang="en-US" sz="3600" dirty="0" smtClean="0"/>
              <a:t>Hands on exercise</a:t>
            </a:r>
          </a:p>
          <a:p>
            <a:pPr marL="742950" indent="-742950">
              <a:buFont typeface="+mj-lt"/>
              <a:buAutoNum type="arabicPeriod"/>
            </a:pPr>
            <a:r>
              <a:rPr lang="en-US" sz="3600" dirty="0" smtClean="0"/>
              <a:t>Project at the end of each day</a:t>
            </a:r>
          </a:p>
          <a:p>
            <a:pPr marL="742950" indent="-742950">
              <a:buFont typeface="+mj-lt"/>
              <a:buAutoNum type="arabicPeriod"/>
            </a:pP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fade">
                                      <p:cBhvr>
                                        <p:cTn id="27" dur="2000"/>
                                        <p:tgtEl>
                                          <p:spTgt spid="1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xEl>
                                              <p:pRg st="5" end="5"/>
                                            </p:txEl>
                                          </p:spTgt>
                                        </p:tgtEl>
                                        <p:attrNameLst>
                                          <p:attrName>style.visibility</p:attrName>
                                        </p:attrNameLst>
                                      </p:cBhvr>
                                      <p:to>
                                        <p:strVal val="visible"/>
                                      </p:to>
                                    </p:set>
                                    <p:animEffect transition="in" filter="fade">
                                      <p:cBhvr>
                                        <p:cTn id="32" dur="20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Curriculum</a:t>
            </a:r>
            <a:endParaRPr lang="en-US" sz="4800" dirty="0"/>
          </a:p>
        </p:txBody>
      </p:sp>
      <p:sp>
        <p:nvSpPr>
          <p:cNvPr id="11" name="TextBox 10"/>
          <p:cNvSpPr txBox="1"/>
          <p:nvPr/>
        </p:nvSpPr>
        <p:spPr>
          <a:xfrm>
            <a:off x="381000" y="2057400"/>
            <a:ext cx="8382000" cy="1754326"/>
          </a:xfrm>
          <a:prstGeom prst="rect">
            <a:avLst/>
          </a:prstGeom>
          <a:noFill/>
        </p:spPr>
        <p:txBody>
          <a:bodyPr wrap="square" rtlCol="0">
            <a:spAutoFit/>
          </a:bodyPr>
          <a:lstStyle/>
          <a:p>
            <a:pPr marL="742950" indent="-742950"/>
            <a:r>
              <a:rPr lang="en-US" sz="3600" dirty="0" smtClean="0"/>
              <a:t>Day 1: Testing web apps</a:t>
            </a:r>
          </a:p>
          <a:p>
            <a:pPr marL="742950" indent="-742950"/>
            <a:endParaRPr lang="en-US" sz="3600" dirty="0" smtClean="0"/>
          </a:p>
          <a:p>
            <a:pPr marL="742950" indent="-742950"/>
            <a:r>
              <a:rPr lang="en-US" sz="3600" dirty="0" smtClean="0"/>
              <a:t>Day 2: Testing web services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2" end="2"/>
                                            </p:txEl>
                                          </p:spTgt>
                                        </p:tgtEl>
                                        <p:attrNameLst>
                                          <p:attrName>style.visibility</p:attrName>
                                        </p:attrNameLst>
                                      </p:cBhvr>
                                      <p:to>
                                        <p:strVal val="visible"/>
                                      </p:to>
                                    </p:set>
                                    <p:animEffect transition="in" filter="fade">
                                      <p:cBhvr>
                                        <p:cTn id="12" dur="200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1</a:t>
            </a:r>
            <a:endParaRPr lang="en-US" sz="4800" dirty="0"/>
          </a:p>
        </p:txBody>
      </p:sp>
      <p:sp>
        <p:nvSpPr>
          <p:cNvPr id="11" name="TextBox 10"/>
          <p:cNvSpPr txBox="1"/>
          <p:nvPr/>
        </p:nvSpPr>
        <p:spPr>
          <a:xfrm>
            <a:off x="381000" y="2057400"/>
            <a:ext cx="8382000" cy="2862322"/>
          </a:xfrm>
          <a:prstGeom prst="rect">
            <a:avLst/>
          </a:prstGeom>
          <a:noFill/>
        </p:spPr>
        <p:txBody>
          <a:bodyPr wrap="square" rtlCol="0">
            <a:spAutoFit/>
          </a:bodyPr>
          <a:lstStyle/>
          <a:p>
            <a:pPr marL="742950" indent="-742950">
              <a:buFont typeface="+mj-lt"/>
              <a:buAutoNum type="arabicPeriod"/>
            </a:pPr>
            <a:r>
              <a:rPr lang="en-US" sz="3600" dirty="0" smtClean="0"/>
              <a:t>Compare web apps &amp; services</a:t>
            </a:r>
          </a:p>
          <a:p>
            <a:pPr marL="742950" indent="-742950">
              <a:buFont typeface="+mj-lt"/>
              <a:buAutoNum type="arabicPeriod"/>
            </a:pPr>
            <a:r>
              <a:rPr lang="en-US" sz="3600" dirty="0" smtClean="0"/>
              <a:t>A technical understanding of the web</a:t>
            </a:r>
          </a:p>
          <a:p>
            <a:pPr marL="742950" indent="-742950">
              <a:buFont typeface="+mj-lt"/>
              <a:buAutoNum type="arabicPeriod"/>
            </a:pPr>
            <a:r>
              <a:rPr lang="en-US" sz="3600" dirty="0" smtClean="0"/>
              <a:t>Testing web applications</a:t>
            </a:r>
          </a:p>
          <a:p>
            <a:pPr marL="742950" indent="-742950">
              <a:buFont typeface="+mj-lt"/>
              <a:buAutoNum type="arabicPeriod"/>
            </a:pPr>
            <a:r>
              <a:rPr lang="en-US" sz="3600" dirty="0" err="1" smtClean="0"/>
              <a:t>AngularJS</a:t>
            </a:r>
            <a:endParaRPr lang="en-US" sz="3600" dirty="0" smtClean="0"/>
          </a:p>
          <a:p>
            <a:pPr marL="742950" indent="-742950"/>
            <a:endParaRPr lang="en-US" sz="3600" dirty="0" smtClean="0"/>
          </a:p>
        </p:txBody>
      </p:sp>
      <p:sp>
        <p:nvSpPr>
          <p:cNvPr id="9" name="TextBox 8"/>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2</a:t>
            </a:r>
            <a:endParaRPr lang="en-US" sz="4800" dirty="0"/>
          </a:p>
        </p:txBody>
      </p:sp>
      <p:sp>
        <p:nvSpPr>
          <p:cNvPr id="11" name="TextBox 10"/>
          <p:cNvSpPr txBox="1"/>
          <p:nvPr/>
        </p:nvSpPr>
        <p:spPr>
          <a:xfrm>
            <a:off x="381000" y="2057400"/>
            <a:ext cx="8382000" cy="2862322"/>
          </a:xfrm>
          <a:prstGeom prst="rect">
            <a:avLst/>
          </a:prstGeom>
          <a:noFill/>
        </p:spPr>
        <p:txBody>
          <a:bodyPr wrap="square" rtlCol="0">
            <a:spAutoFit/>
          </a:bodyPr>
          <a:lstStyle/>
          <a:p>
            <a:pPr marL="742950" indent="-742950">
              <a:buFont typeface="+mj-lt"/>
              <a:buAutoNum type="arabicPeriod"/>
            </a:pPr>
            <a:r>
              <a:rPr lang="en-US" sz="3600" dirty="0" smtClean="0"/>
              <a:t>Understanding web services</a:t>
            </a:r>
          </a:p>
          <a:p>
            <a:pPr marL="742950" indent="-742950">
              <a:buFont typeface="+mj-lt"/>
              <a:buAutoNum type="arabicPeriod"/>
            </a:pPr>
            <a:r>
              <a:rPr lang="en-US" sz="3600" dirty="0" smtClean="0"/>
              <a:t>Testing RESTful web services</a:t>
            </a:r>
          </a:p>
          <a:p>
            <a:pPr marL="742950" indent="-742950">
              <a:buFont typeface="+mj-lt"/>
              <a:buAutoNum type="arabicPeriod"/>
            </a:pPr>
            <a:r>
              <a:rPr lang="en-US" sz="3600" dirty="0" smtClean="0"/>
              <a:t>Tools for testing web services</a:t>
            </a:r>
          </a:p>
          <a:p>
            <a:pPr marL="742950" indent="-742950">
              <a:buFont typeface="+mj-lt"/>
              <a:buAutoNum type="arabicPeriod"/>
            </a:pPr>
            <a:r>
              <a:rPr lang="en-US" sz="3600" dirty="0" smtClean="0"/>
              <a:t>Performance and security testing</a:t>
            </a:r>
          </a:p>
          <a:p>
            <a:pPr marL="742950" indent="-742950">
              <a:buFont typeface="+mj-lt"/>
              <a:buAutoNum type="arabicPeriod"/>
            </a:pPr>
            <a:endParaRPr lang="en-US" sz="3600" dirty="0" smtClean="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Web apps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What’s a web app?</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How are web applications</a:t>
            </a:r>
          </a:p>
          <a:p>
            <a:pPr algn="ctr"/>
            <a:r>
              <a:rPr lang="en-US" sz="4800" dirty="0" smtClean="0"/>
              <a:t>different from </a:t>
            </a:r>
          </a:p>
          <a:p>
            <a:pPr algn="ctr"/>
            <a:r>
              <a:rPr lang="en-US" sz="4800" dirty="0" smtClean="0"/>
              <a:t>traditional applications ?</a:t>
            </a:r>
            <a:endParaRPr lang="en-US" sz="4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457200" y="990600"/>
            <a:ext cx="8229600" cy="5078313"/>
          </a:xfrm>
          <a:prstGeom prst="rect">
            <a:avLst/>
          </a:prstGeom>
          <a:noFill/>
        </p:spPr>
        <p:txBody>
          <a:bodyPr wrap="square" rtlCol="0">
            <a:spAutoFit/>
          </a:bodyPr>
          <a:lstStyle/>
          <a:p>
            <a:pPr marL="457200" indent="-457200">
              <a:buFont typeface="Calibri" pitchFamily="34" charset="0"/>
              <a:buChar char="›"/>
            </a:pPr>
            <a:r>
              <a:rPr lang="en-US" sz="3600" b="1" dirty="0" smtClean="0"/>
              <a:t>Network</a:t>
            </a:r>
            <a:r>
              <a:rPr lang="en-US" sz="3600" dirty="0" smtClean="0"/>
              <a:t> – </a:t>
            </a:r>
            <a:r>
              <a:rPr lang="en-US" sz="2400" dirty="0" smtClean="0"/>
              <a:t>unreliable, latency, connected</a:t>
            </a:r>
          </a:p>
          <a:p>
            <a:pPr marL="457200" indent="-457200">
              <a:buFont typeface="Calibri" pitchFamily="34" charset="0"/>
              <a:buChar char="›"/>
            </a:pPr>
            <a:r>
              <a:rPr lang="en-US" sz="3600" b="1" dirty="0" smtClean="0"/>
              <a:t>Browser</a:t>
            </a:r>
            <a:r>
              <a:rPr lang="en-US" sz="3600" dirty="0" smtClean="0"/>
              <a:t> </a:t>
            </a:r>
            <a:r>
              <a:rPr lang="en-US" sz="3600" b="1" dirty="0" smtClean="0"/>
              <a:t>based</a:t>
            </a:r>
            <a:r>
              <a:rPr lang="en-US" sz="3600" dirty="0" smtClean="0"/>
              <a:t>– </a:t>
            </a:r>
            <a:r>
              <a:rPr lang="en-US" sz="2400" dirty="0" smtClean="0"/>
              <a:t>compatibility issues, no install</a:t>
            </a:r>
            <a:r>
              <a:rPr lang="en-US" sz="3600" dirty="0" smtClean="0"/>
              <a:t> </a:t>
            </a:r>
          </a:p>
          <a:p>
            <a:pPr marL="457200" indent="-457200">
              <a:buFont typeface="Calibri" pitchFamily="34" charset="0"/>
              <a:buChar char="›"/>
            </a:pPr>
            <a:r>
              <a:rPr lang="en-US" sz="3600" b="1" dirty="0" smtClean="0"/>
              <a:t>Cross Platform</a:t>
            </a:r>
            <a:r>
              <a:rPr lang="en-US" sz="3600" dirty="0" smtClean="0"/>
              <a:t> – </a:t>
            </a:r>
            <a:r>
              <a:rPr lang="en-US" sz="2400" dirty="0" smtClean="0"/>
              <a:t>multiple OS</a:t>
            </a:r>
            <a:endParaRPr lang="en-US" sz="3600" b="1" dirty="0" smtClean="0"/>
          </a:p>
          <a:p>
            <a:pPr marL="457200" indent="-457200">
              <a:buFont typeface="Calibri" pitchFamily="34" charset="0"/>
              <a:buChar char="›"/>
            </a:pPr>
            <a:r>
              <a:rPr lang="en-US" sz="3600" b="1" dirty="0" smtClean="0"/>
              <a:t>Rendering</a:t>
            </a:r>
            <a:r>
              <a:rPr lang="en-US" sz="3600" dirty="0" smtClean="0"/>
              <a:t> – </a:t>
            </a:r>
            <a:r>
              <a:rPr lang="en-US" sz="2400" dirty="0" smtClean="0"/>
              <a:t>HTML, CSS, limited UI widgets</a:t>
            </a:r>
            <a:endParaRPr lang="en-US" sz="3600" b="1" dirty="0" smtClean="0"/>
          </a:p>
          <a:p>
            <a:pPr marL="457200" indent="-457200">
              <a:buFont typeface="Calibri" pitchFamily="34" charset="0"/>
              <a:buChar char="›"/>
            </a:pPr>
            <a:r>
              <a:rPr lang="en-US" sz="3600" b="1" dirty="0" smtClean="0"/>
              <a:t>JavaScript</a:t>
            </a:r>
            <a:r>
              <a:rPr lang="en-US" sz="3600" dirty="0" smtClean="0"/>
              <a:t> – </a:t>
            </a:r>
            <a:r>
              <a:rPr lang="en-US" sz="2400" dirty="0" smtClean="0"/>
              <a:t>not precompiled, performance</a:t>
            </a:r>
          </a:p>
          <a:p>
            <a:pPr marL="457200" indent="-457200">
              <a:buFont typeface="Calibri" pitchFamily="34" charset="0"/>
              <a:buChar char="›"/>
            </a:pPr>
            <a:r>
              <a:rPr lang="en-US" sz="3600" b="1" dirty="0" smtClean="0"/>
              <a:t>Limited libraries</a:t>
            </a:r>
            <a:r>
              <a:rPr lang="en-US" sz="3600" dirty="0" smtClean="0"/>
              <a:t> – </a:t>
            </a:r>
            <a:r>
              <a:rPr lang="en-US" sz="2400" dirty="0" smtClean="0"/>
              <a:t>no shared DLLs, browser libraries</a:t>
            </a:r>
          </a:p>
          <a:p>
            <a:pPr marL="457200" indent="-457200">
              <a:buFont typeface="Calibri" pitchFamily="34" charset="0"/>
              <a:buChar char="›"/>
            </a:pPr>
            <a:r>
              <a:rPr lang="en-US" sz="3600" b="1" dirty="0" smtClean="0"/>
              <a:t>Security Model </a:t>
            </a:r>
            <a:r>
              <a:rPr lang="en-US" sz="3600" dirty="0" smtClean="0"/>
              <a:t>– </a:t>
            </a:r>
            <a:r>
              <a:rPr lang="en-US" sz="2400" dirty="0" smtClean="0"/>
              <a:t>sandbox, limited I/O, safer</a:t>
            </a:r>
            <a:r>
              <a:rPr lang="en-US" sz="2400" b="1" dirty="0" smtClean="0"/>
              <a:t> </a:t>
            </a:r>
            <a:endParaRPr lang="en-US" sz="2400" dirty="0" smtClean="0"/>
          </a:p>
          <a:p>
            <a:pPr marL="457200" indent="-457200">
              <a:buFont typeface="Calibri" pitchFamily="34" charset="0"/>
              <a:buChar char="›"/>
            </a:pPr>
            <a:r>
              <a:rPr lang="en-US" sz="3600" b="1" dirty="0" smtClean="0"/>
              <a:t>Concurrency </a:t>
            </a:r>
            <a:r>
              <a:rPr lang="en-US" sz="3600" dirty="0" smtClean="0"/>
              <a:t>– </a:t>
            </a:r>
            <a:r>
              <a:rPr lang="en-US" sz="2400" dirty="0" smtClean="0"/>
              <a:t>multiple requests, sessions</a:t>
            </a:r>
          </a:p>
          <a:p>
            <a:pPr marL="457200" indent="-457200">
              <a:buFont typeface="Calibri" pitchFamily="34" charset="0"/>
              <a:buChar char="›"/>
            </a:pPr>
            <a:r>
              <a:rPr lang="en-US" sz="3600" b="1" dirty="0" smtClean="0"/>
              <a:t>Scalability </a:t>
            </a:r>
            <a:r>
              <a:rPr lang="en-US" sz="3600" dirty="0" smtClean="0"/>
              <a:t>– </a:t>
            </a:r>
            <a:r>
              <a:rPr lang="en-US" sz="2400" dirty="0" smtClean="0"/>
              <a:t>multiple clients, horizontal scaling</a:t>
            </a:r>
            <a:endParaRPr lang="en-US" sz="24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a:t>
            </a:r>
          </a:p>
          <a:p>
            <a:pPr algn="ctr"/>
            <a:r>
              <a:rPr lang="en-US" sz="4800" dirty="0" smtClean="0"/>
              <a:t>web sites &amp; web applications?</a:t>
            </a:r>
            <a:endParaRPr lang="en-US" sz="48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9" name="Rectangle 8"/>
          <p:cNvSpPr/>
          <p:nvPr/>
        </p:nvSpPr>
        <p:spPr>
          <a:xfrm>
            <a:off x="381000" y="1295400"/>
            <a:ext cx="4114800" cy="3970318"/>
          </a:xfrm>
          <a:prstGeom prst="rect">
            <a:avLst/>
          </a:prstGeom>
        </p:spPr>
        <p:txBody>
          <a:bodyPr wrap="square" numCol="1">
            <a:spAutoFit/>
          </a:bodyPr>
          <a:lstStyle/>
          <a:p>
            <a:pPr marL="457200" indent="-457200"/>
            <a:r>
              <a:rPr lang="en-US" sz="4800" b="1" u="sng" dirty="0" smtClean="0"/>
              <a:t>Web Sites</a:t>
            </a:r>
          </a:p>
          <a:p>
            <a:pPr marL="457200" indent="-457200"/>
            <a:endParaRPr lang="en-US" sz="2400" dirty="0" smtClean="0"/>
          </a:p>
          <a:p>
            <a:pPr marL="457200" indent="-457200">
              <a:buFont typeface="Calibri" pitchFamily="34" charset="0"/>
              <a:buChar char="›"/>
            </a:pPr>
            <a:r>
              <a:rPr lang="en-US" sz="3600" dirty="0" smtClean="0"/>
              <a:t>Static</a:t>
            </a:r>
          </a:p>
          <a:p>
            <a:pPr marL="457200" indent="-457200">
              <a:buFont typeface="Calibri" pitchFamily="34" charset="0"/>
              <a:buChar char="›"/>
            </a:pPr>
            <a:r>
              <a:rPr lang="en-US" sz="3600" dirty="0" smtClean="0"/>
              <a:t>Multiple pages</a:t>
            </a:r>
          </a:p>
          <a:p>
            <a:pPr marL="457200" indent="-457200">
              <a:buFont typeface="Calibri" pitchFamily="34" charset="0"/>
              <a:buChar char="›"/>
            </a:pPr>
            <a:r>
              <a:rPr lang="en-US" sz="3600" dirty="0" smtClean="0"/>
              <a:t>Stateless</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Content driven</a:t>
            </a:r>
          </a:p>
        </p:txBody>
      </p:sp>
      <p:sp>
        <p:nvSpPr>
          <p:cNvPr id="11" name="Rectangle 10"/>
          <p:cNvSpPr/>
          <p:nvPr/>
        </p:nvSpPr>
        <p:spPr>
          <a:xfrm>
            <a:off x="4800600" y="1295400"/>
            <a:ext cx="3886200" cy="3970318"/>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Dynamic</a:t>
            </a:r>
          </a:p>
          <a:p>
            <a:pPr marL="457200" indent="-457200">
              <a:buFont typeface="Calibri" pitchFamily="34" charset="0"/>
              <a:buChar char="›"/>
            </a:pPr>
            <a:r>
              <a:rPr lang="en-US" sz="3600" dirty="0" smtClean="0"/>
              <a:t>Single page</a:t>
            </a:r>
          </a:p>
          <a:p>
            <a:pPr marL="457200" indent="-457200">
              <a:buFont typeface="Calibri" pitchFamily="34" charset="0"/>
              <a:buChar char="›"/>
            </a:pPr>
            <a:r>
              <a:rPr lang="en-US" sz="3600" dirty="0" smtClean="0"/>
              <a:t>Stateful</a:t>
            </a:r>
          </a:p>
          <a:p>
            <a:pPr marL="457200" indent="-457200">
              <a:buFont typeface="Calibri" pitchFamily="34" charset="0"/>
              <a:buChar char="›"/>
            </a:pPr>
            <a:r>
              <a:rPr lang="en-US" sz="3600" dirty="0" smtClean="0"/>
              <a:t>Frameworks</a:t>
            </a:r>
          </a:p>
          <a:p>
            <a:pPr marL="457200" indent="-457200">
              <a:buFont typeface="Calibri" pitchFamily="34" charset="0"/>
              <a:buChar char="›"/>
            </a:pPr>
            <a:r>
              <a:rPr lang="en-US" sz="3600" dirty="0" smtClean="0"/>
              <a:t>Event driven</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 </a:t>
            </a:r>
          </a:p>
          <a:p>
            <a:pPr algn="ctr"/>
            <a:r>
              <a:rPr lang="en-US" sz="4800" dirty="0" smtClean="0"/>
              <a:t>web applications &amp; web services? </a:t>
            </a:r>
            <a:endParaRPr lang="en-US" sz="48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1295400"/>
            <a:ext cx="4114800" cy="4524315"/>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Runs in browser</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Client side logic</a:t>
            </a:r>
          </a:p>
          <a:p>
            <a:pPr marL="457200" indent="-457200">
              <a:buFont typeface="Calibri" pitchFamily="34" charset="0"/>
              <a:buChar char="›"/>
            </a:pPr>
            <a:r>
              <a:rPr lang="en-US" sz="3600" dirty="0" smtClean="0"/>
              <a:t>At least it has cookies</a:t>
            </a:r>
          </a:p>
          <a:p>
            <a:pPr marL="457200" indent="-457200">
              <a:buFont typeface="Calibri" pitchFamily="34" charset="0"/>
              <a:buChar char="›"/>
            </a:pPr>
            <a:r>
              <a:rPr lang="en-US" sz="3600" dirty="0" smtClean="0"/>
              <a:t>HTTP &amp; URLs</a:t>
            </a:r>
          </a:p>
        </p:txBody>
      </p:sp>
      <p:sp>
        <p:nvSpPr>
          <p:cNvPr id="11" name="Rectangle 10"/>
          <p:cNvSpPr/>
          <p:nvPr/>
        </p:nvSpPr>
        <p:spPr>
          <a:xfrm>
            <a:off x="4800600" y="1295400"/>
            <a:ext cx="3886200" cy="4524315"/>
          </a:xfrm>
          <a:prstGeom prst="rect">
            <a:avLst/>
          </a:prstGeom>
        </p:spPr>
        <p:txBody>
          <a:bodyPr wrap="square" numCol="1">
            <a:spAutoFit/>
          </a:bodyPr>
          <a:lstStyle/>
          <a:p>
            <a:pPr marL="457200" indent="-457200"/>
            <a:r>
              <a:rPr lang="en-US" sz="4800" b="1" u="sng" dirty="0" smtClean="0"/>
              <a:t>Web Services</a:t>
            </a:r>
          </a:p>
          <a:p>
            <a:pPr marL="457200" indent="-457200"/>
            <a:endParaRPr lang="en-US" sz="2400" dirty="0" smtClean="0"/>
          </a:p>
          <a:p>
            <a:pPr marL="457200" indent="-457200">
              <a:buFont typeface="Calibri" pitchFamily="34" charset="0"/>
              <a:buChar char="›"/>
            </a:pPr>
            <a:r>
              <a:rPr lang="en-US" sz="3600" dirty="0" smtClean="0"/>
              <a:t>No UI</a:t>
            </a:r>
          </a:p>
          <a:p>
            <a:pPr marL="457200" indent="-457200">
              <a:buFont typeface="Calibri" pitchFamily="34" charset="0"/>
              <a:buChar char="›"/>
            </a:pPr>
            <a:r>
              <a:rPr lang="en-US" sz="3600" dirty="0" smtClean="0"/>
              <a:t>XML or JSON</a:t>
            </a:r>
          </a:p>
          <a:p>
            <a:pPr marL="457200" indent="-457200">
              <a:buFont typeface="Calibri" pitchFamily="34" charset="0"/>
              <a:buChar char="›"/>
            </a:pPr>
            <a:r>
              <a:rPr lang="en-US" sz="3600" dirty="0" smtClean="0"/>
              <a:t>Logic on server</a:t>
            </a:r>
          </a:p>
          <a:p>
            <a:pPr marL="457200" indent="-457200">
              <a:buFont typeface="Calibri" pitchFamily="34" charset="0"/>
              <a:buChar char="›"/>
            </a:pPr>
            <a:r>
              <a:rPr lang="en-US" sz="3600" dirty="0" smtClean="0"/>
              <a:t>Even more stateless</a:t>
            </a:r>
          </a:p>
          <a:p>
            <a:pPr marL="457200" indent="-457200">
              <a:buFont typeface="Calibri" pitchFamily="34" charset="0"/>
              <a:buChar char="›"/>
            </a:pPr>
            <a:r>
              <a:rPr lang="en-US" sz="3600" dirty="0" smtClean="0"/>
              <a:t>HTTP &amp; URLs</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838200"/>
            <a:ext cx="8305800" cy="1569660"/>
          </a:xfrm>
          <a:prstGeom prst="rect">
            <a:avLst/>
          </a:prstGeom>
        </p:spPr>
        <p:txBody>
          <a:bodyPr wrap="square" numCol="1">
            <a:spAutoFit/>
          </a:bodyPr>
          <a:lstStyle/>
          <a:p>
            <a:pPr marL="457200" indent="-457200" algn="ctr"/>
            <a:r>
              <a:rPr lang="en-US" sz="4800" dirty="0" smtClean="0"/>
              <a:t>How do web services</a:t>
            </a:r>
          </a:p>
          <a:p>
            <a:pPr marL="457200" indent="-457200" algn="ctr"/>
            <a:r>
              <a:rPr lang="en-US" sz="4800" dirty="0" smtClean="0"/>
              <a:t>compliment web applications?</a:t>
            </a:r>
            <a:endParaRPr lang="en-US" sz="3600" dirty="0" smtClean="0"/>
          </a:p>
        </p:txBody>
      </p:sp>
      <p:sp>
        <p:nvSpPr>
          <p:cNvPr id="14" name="Rectangle 13"/>
          <p:cNvSpPr/>
          <p:nvPr/>
        </p:nvSpPr>
        <p:spPr>
          <a:xfrm>
            <a:off x="381000" y="2667000"/>
            <a:ext cx="8229600" cy="3416320"/>
          </a:xfrm>
          <a:prstGeom prst="rect">
            <a:avLst/>
          </a:prstGeom>
        </p:spPr>
        <p:txBody>
          <a:bodyPr wrap="square" numCol="1">
            <a:spAutoFit/>
          </a:bodyPr>
          <a:lstStyle/>
          <a:p>
            <a:pPr marL="457200" indent="-457200">
              <a:buFont typeface="Calibri" pitchFamily="34" charset="0"/>
              <a:buChar char="›"/>
            </a:pPr>
            <a:r>
              <a:rPr lang="en-US" sz="3600" dirty="0" smtClean="0"/>
              <a:t>Separation of concerns</a:t>
            </a:r>
          </a:p>
          <a:p>
            <a:pPr marL="914400" lvl="1" indent="-457200">
              <a:buFont typeface="Arial" pitchFamily="34" charset="0"/>
              <a:buChar char="•"/>
            </a:pPr>
            <a:r>
              <a:rPr lang="en-US" sz="2400" dirty="0" smtClean="0"/>
              <a:t>Data from user interface</a:t>
            </a:r>
          </a:p>
          <a:p>
            <a:pPr marL="914400" lvl="1" indent="-457200">
              <a:buFont typeface="Arial" pitchFamily="34" charset="0"/>
              <a:buChar char="•"/>
            </a:pPr>
            <a:r>
              <a:rPr lang="en-US" sz="2400" dirty="0" smtClean="0"/>
              <a:t>Domain model from authentication, etc.</a:t>
            </a:r>
          </a:p>
          <a:p>
            <a:pPr marL="457200" indent="-457200">
              <a:buFont typeface="Calibri" pitchFamily="34" charset="0"/>
              <a:buChar char="›"/>
            </a:pPr>
            <a:r>
              <a:rPr lang="en-US" sz="3600" dirty="0" smtClean="0"/>
              <a:t>Modularity</a:t>
            </a:r>
          </a:p>
          <a:p>
            <a:pPr marL="457200" indent="-457200">
              <a:buFont typeface="Calibri" pitchFamily="34" charset="0"/>
              <a:buChar char="›"/>
            </a:pPr>
            <a:r>
              <a:rPr lang="en-US" sz="3600" dirty="0" smtClean="0"/>
              <a:t>Scalability</a:t>
            </a:r>
          </a:p>
          <a:p>
            <a:pPr marL="457200" indent="-457200">
              <a:buFont typeface="Calibri" pitchFamily="34" charset="0"/>
              <a:buChar char="›"/>
            </a:pPr>
            <a:r>
              <a:rPr lang="en-US" sz="3600" dirty="0" smtClean="0"/>
              <a:t>Reusability</a:t>
            </a:r>
          </a:p>
          <a:p>
            <a:pPr lvl="2" indent="-457200">
              <a:buFont typeface="Arial" pitchFamily="34" charset="0"/>
              <a:buChar char="•"/>
            </a:pPr>
            <a:r>
              <a:rPr lang="en-US" sz="2400" dirty="0" smtClean="0"/>
              <a:t>Multiple apps can share the same service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2000"/>
                                        <p:tgtEl>
                                          <p:spTgt spid="1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xEl>
                                              <p:pRg st="1" end="1"/>
                                            </p:txEl>
                                          </p:spTgt>
                                        </p:tgtEl>
                                        <p:attrNameLst>
                                          <p:attrName>style.visibility</p:attrName>
                                        </p:attrNameLst>
                                      </p:cBhvr>
                                      <p:to>
                                        <p:strVal val="visible"/>
                                      </p:to>
                                    </p:set>
                                    <p:animEffect transition="in" filter="fade">
                                      <p:cBhvr>
                                        <p:cTn id="10" dur="2000"/>
                                        <p:tgtEl>
                                          <p:spTgt spid="1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xEl>
                                              <p:pRg st="2" end="2"/>
                                            </p:txEl>
                                          </p:spTgt>
                                        </p:tgtEl>
                                        <p:attrNameLst>
                                          <p:attrName>style.visibility</p:attrName>
                                        </p:attrNameLst>
                                      </p:cBhvr>
                                      <p:to>
                                        <p:strVal val="visible"/>
                                      </p:to>
                                    </p:set>
                                    <p:animEffect transition="in" filter="fade">
                                      <p:cBhvr>
                                        <p:cTn id="13" dur="2000"/>
                                        <p:tgtEl>
                                          <p:spTgt spid="1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xEl>
                                              <p:pRg st="3" end="3"/>
                                            </p:txEl>
                                          </p:spTgt>
                                        </p:tgtEl>
                                        <p:attrNameLst>
                                          <p:attrName>style.visibility</p:attrName>
                                        </p:attrNameLst>
                                      </p:cBhvr>
                                      <p:to>
                                        <p:strVal val="visible"/>
                                      </p:to>
                                    </p:set>
                                    <p:animEffect transition="in" filter="fade">
                                      <p:cBhvr>
                                        <p:cTn id="18" dur="2000"/>
                                        <p:tgtEl>
                                          <p:spTgt spid="1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animEffect transition="in" filter="fade">
                                      <p:cBhvr>
                                        <p:cTn id="23" dur="2000"/>
                                        <p:tgtEl>
                                          <p:spTgt spid="14">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xEl>
                                              <p:pRg st="5" end="5"/>
                                            </p:txEl>
                                          </p:spTgt>
                                        </p:tgtEl>
                                        <p:attrNameLst>
                                          <p:attrName>style.visibility</p:attrName>
                                        </p:attrNameLst>
                                      </p:cBhvr>
                                      <p:to>
                                        <p:strVal val="visible"/>
                                      </p:to>
                                    </p:set>
                                    <p:animEffect transition="in" filter="fade">
                                      <p:cBhvr>
                                        <p:cTn id="28" dur="2000"/>
                                        <p:tgtEl>
                                          <p:spTgt spid="14">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animEffect transition="in" filter="fade">
                                      <p:cBhvr>
                                        <p:cTn id="31" dur="2000"/>
                                        <p:tgtEl>
                                          <p:spTgt spid="1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Types of tests</a:t>
            </a:r>
            <a:endParaRPr lang="en-US" sz="48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838200"/>
            <a:ext cx="9144000" cy="5262979"/>
          </a:xfrm>
          <a:prstGeom prst="rect">
            <a:avLst/>
          </a:prstGeom>
          <a:noFill/>
        </p:spPr>
        <p:txBody>
          <a:bodyPr wrap="square" rtlCol="0">
            <a:spAutoFit/>
          </a:bodyPr>
          <a:lstStyle/>
          <a:p>
            <a:pPr algn="ctr"/>
            <a:r>
              <a:rPr lang="en-US" sz="4800" dirty="0" smtClean="0"/>
              <a:t>Unit, Integration, System, System Integration, End-to-end, Functional, Performance, Load, Stress, Security, Usability, White box, Black box, Gray box, Acceptance, Regression, Sanity, Smoke, Manual, Automated, Installation, Deployment, etc.</a:t>
            </a:r>
            <a:endParaRPr lang="en-US" sz="48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638800" y="0"/>
            <a:ext cx="3505200" cy="584775"/>
          </a:xfrm>
          <a:prstGeom prst="rect">
            <a:avLst/>
          </a:prstGeom>
          <a:solidFill>
            <a:schemeClr val="bg2">
              <a:lumMod val="75000"/>
            </a:schemeClr>
          </a:solidFill>
        </p:spPr>
        <p:txBody>
          <a:bodyPr wrap="square" rtlCol="0">
            <a:spAutoFit/>
          </a:bodyPr>
          <a:lstStyle/>
          <a:p>
            <a:pPr algn="r"/>
            <a:r>
              <a:rPr lang="en-US" sz="3200" dirty="0" smtClean="0"/>
              <a:t>Testing Perspectives</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Testing Perspectives</a:t>
            </a:r>
            <a:endParaRPr lang="en-US" sz="4800" dirty="0"/>
          </a:p>
        </p:txBody>
      </p:sp>
      <p:sp>
        <p:nvSpPr>
          <p:cNvPr id="11" name="TextBox 10"/>
          <p:cNvSpPr txBox="1"/>
          <p:nvPr/>
        </p:nvSpPr>
        <p:spPr>
          <a:xfrm>
            <a:off x="381000" y="2057400"/>
            <a:ext cx="3657600" cy="2308324"/>
          </a:xfrm>
          <a:prstGeom prst="rect">
            <a:avLst/>
          </a:prstGeom>
          <a:noFill/>
        </p:spPr>
        <p:txBody>
          <a:bodyPr wrap="square" rtlCol="0">
            <a:spAutoFit/>
          </a:bodyPr>
          <a:lstStyle/>
          <a:p>
            <a:pPr marL="457200" indent="-457200">
              <a:buFont typeface="Calibri" pitchFamily="34" charset="0"/>
              <a:buChar char="›"/>
            </a:pPr>
            <a:r>
              <a:rPr lang="en-US" sz="3600" dirty="0" smtClean="0"/>
              <a:t>Verification</a:t>
            </a:r>
          </a:p>
          <a:p>
            <a:pPr marL="457200" indent="-457200">
              <a:buFont typeface="Calibri" pitchFamily="34" charset="0"/>
              <a:buChar char="›"/>
            </a:pPr>
            <a:r>
              <a:rPr lang="en-US" sz="3600" dirty="0" smtClean="0"/>
              <a:t>Validation</a:t>
            </a:r>
          </a:p>
          <a:p>
            <a:pPr marL="457200" indent="-457200">
              <a:buFont typeface="Calibri" pitchFamily="34" charset="0"/>
              <a:buChar char="›"/>
            </a:pPr>
            <a:r>
              <a:rPr lang="en-US" sz="3600" dirty="0" smtClean="0"/>
              <a:t>Exploratory</a:t>
            </a:r>
          </a:p>
          <a:p>
            <a:pPr marL="457200" indent="-457200">
              <a:buFont typeface="Calibri" pitchFamily="34" charset="0"/>
              <a:buChar char="›"/>
            </a:pPr>
            <a:r>
              <a:rPr lang="en-US" sz="3600" dirty="0" smtClean="0"/>
              <a:t>Destructive</a:t>
            </a:r>
          </a:p>
        </p:txBody>
      </p:sp>
      <p:sp>
        <p:nvSpPr>
          <p:cNvPr id="9" name="TextBox 8"/>
          <p:cNvSpPr txBox="1"/>
          <p:nvPr/>
        </p:nvSpPr>
        <p:spPr>
          <a:xfrm>
            <a:off x="4876800" y="2057400"/>
            <a:ext cx="3733800" cy="4031873"/>
          </a:xfrm>
          <a:prstGeom prst="rect">
            <a:avLst/>
          </a:prstGeom>
          <a:noFill/>
        </p:spPr>
        <p:txBody>
          <a:bodyPr wrap="square" rtlCol="0">
            <a:spAutoFit/>
          </a:bodyPr>
          <a:lstStyle/>
          <a:p>
            <a:pPr marL="457200" indent="-457200">
              <a:buFont typeface="Calibri" pitchFamily="34" charset="0"/>
              <a:buChar char="›"/>
            </a:pPr>
            <a:r>
              <a:rPr lang="en-US" sz="3200" dirty="0" smtClean="0"/>
              <a:t>Functionality</a:t>
            </a:r>
          </a:p>
          <a:p>
            <a:pPr marL="457200" indent="-457200">
              <a:buFont typeface="Calibri" pitchFamily="34" charset="0"/>
              <a:buChar char="›"/>
            </a:pPr>
            <a:r>
              <a:rPr lang="en-US" sz="3200" dirty="0" smtClean="0"/>
              <a:t>Presentation</a:t>
            </a:r>
          </a:p>
          <a:p>
            <a:pPr marL="457200" indent="-457200">
              <a:buFont typeface="Calibri" pitchFamily="34" charset="0"/>
              <a:buChar char="›"/>
            </a:pPr>
            <a:r>
              <a:rPr lang="en-US" sz="3200" dirty="0" smtClean="0"/>
              <a:t>Usability</a:t>
            </a:r>
          </a:p>
          <a:p>
            <a:pPr marL="457200" indent="-457200">
              <a:buFont typeface="Calibri" pitchFamily="34" charset="0"/>
              <a:buChar char="›"/>
            </a:pPr>
            <a:r>
              <a:rPr lang="en-US" sz="3200" dirty="0" smtClean="0"/>
              <a:t>Feasibility</a:t>
            </a:r>
          </a:p>
          <a:p>
            <a:pPr marL="457200" indent="-457200">
              <a:buFont typeface="Calibri" pitchFamily="34" charset="0"/>
              <a:buChar char="›"/>
            </a:pPr>
            <a:r>
              <a:rPr lang="en-US" sz="3200" dirty="0" smtClean="0"/>
              <a:t>Compliance</a:t>
            </a:r>
          </a:p>
          <a:p>
            <a:pPr marL="457200" indent="-457200">
              <a:buFont typeface="Calibri" pitchFamily="34" charset="0"/>
              <a:buChar char="›"/>
            </a:pPr>
            <a:r>
              <a:rPr lang="en-US" sz="3200" dirty="0" smtClean="0"/>
              <a:t>Compatibility</a:t>
            </a:r>
          </a:p>
          <a:p>
            <a:pPr marL="457200" indent="-457200">
              <a:buFont typeface="Calibri" pitchFamily="34" charset="0"/>
              <a:buChar char="›"/>
            </a:pPr>
            <a:r>
              <a:rPr lang="en-US" sz="3200" dirty="0" smtClean="0"/>
              <a:t>Performance</a:t>
            </a:r>
          </a:p>
          <a:p>
            <a:pPr marL="457200" indent="-457200">
              <a:buFont typeface="Calibri" pitchFamily="34" charset="0"/>
              <a:buChar char="›"/>
            </a:pPr>
            <a:r>
              <a:rPr lang="en-US" sz="3200" dirty="0" smtClean="0"/>
              <a:t>Security</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0" end="0"/>
                                            </p:txEl>
                                          </p:spTgt>
                                        </p:tgtEl>
                                        <p:attrNameLst>
                                          <p:attrName>style.visibility</p:attrName>
                                        </p:attrNameLst>
                                      </p:cBhvr>
                                      <p:to>
                                        <p:strVal val="visible"/>
                                      </p:to>
                                    </p:set>
                                    <p:animEffect transition="in" filter="fade">
                                      <p:cBhvr>
                                        <p:cTn id="27" dur="2000"/>
                                        <p:tgtEl>
                                          <p:spTgt spid="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1" end="1"/>
                                            </p:txEl>
                                          </p:spTgt>
                                        </p:tgtEl>
                                        <p:attrNameLst>
                                          <p:attrName>style.visibility</p:attrName>
                                        </p:attrNameLst>
                                      </p:cBhvr>
                                      <p:to>
                                        <p:strVal val="visible"/>
                                      </p:to>
                                    </p:set>
                                    <p:animEffect transition="in" filter="fade">
                                      <p:cBhvr>
                                        <p:cTn id="32" dur="2000"/>
                                        <p:tgtEl>
                                          <p:spTgt spid="9">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2" end="2"/>
                                            </p:txEl>
                                          </p:spTgt>
                                        </p:tgtEl>
                                        <p:attrNameLst>
                                          <p:attrName>style.visibility</p:attrName>
                                        </p:attrNameLst>
                                      </p:cBhvr>
                                      <p:to>
                                        <p:strVal val="visible"/>
                                      </p:to>
                                    </p:set>
                                    <p:animEffect transition="in" filter="fade">
                                      <p:cBhvr>
                                        <p:cTn id="37" dur="2000"/>
                                        <p:tgtEl>
                                          <p:spTgt spid="9">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xEl>
                                              <p:pRg st="3" end="3"/>
                                            </p:txEl>
                                          </p:spTgt>
                                        </p:tgtEl>
                                        <p:attrNameLst>
                                          <p:attrName>style.visibility</p:attrName>
                                        </p:attrNameLst>
                                      </p:cBhvr>
                                      <p:to>
                                        <p:strVal val="visible"/>
                                      </p:to>
                                    </p:set>
                                    <p:animEffect transition="in" filter="fade">
                                      <p:cBhvr>
                                        <p:cTn id="42" dur="2000"/>
                                        <p:tgtEl>
                                          <p:spTgt spid="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9">
                                            <p:txEl>
                                              <p:pRg st="4" end="4"/>
                                            </p:txEl>
                                          </p:spTgt>
                                        </p:tgtEl>
                                        <p:attrNameLst>
                                          <p:attrName>style.visibility</p:attrName>
                                        </p:attrNameLst>
                                      </p:cBhvr>
                                      <p:to>
                                        <p:strVal val="visible"/>
                                      </p:to>
                                    </p:set>
                                    <p:animEffect transition="in" filter="fade">
                                      <p:cBhvr>
                                        <p:cTn id="47" dur="2000"/>
                                        <p:tgtEl>
                                          <p:spTgt spid="9">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9">
                                            <p:txEl>
                                              <p:pRg st="5" end="5"/>
                                            </p:txEl>
                                          </p:spTgt>
                                        </p:tgtEl>
                                        <p:attrNameLst>
                                          <p:attrName>style.visibility</p:attrName>
                                        </p:attrNameLst>
                                      </p:cBhvr>
                                      <p:to>
                                        <p:strVal val="visible"/>
                                      </p:to>
                                    </p:set>
                                    <p:animEffect transition="in" filter="fade">
                                      <p:cBhvr>
                                        <p:cTn id="52" dur="2000"/>
                                        <p:tgtEl>
                                          <p:spTgt spid="9">
                                            <p:txEl>
                                              <p:pRg st="5" end="5"/>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9">
                                            <p:txEl>
                                              <p:pRg st="6" end="6"/>
                                            </p:txEl>
                                          </p:spTgt>
                                        </p:tgtEl>
                                        <p:attrNameLst>
                                          <p:attrName>style.visibility</p:attrName>
                                        </p:attrNameLst>
                                      </p:cBhvr>
                                      <p:to>
                                        <p:strVal val="visible"/>
                                      </p:to>
                                    </p:set>
                                    <p:animEffect transition="in" filter="fade">
                                      <p:cBhvr>
                                        <p:cTn id="57" dur="2000"/>
                                        <p:tgtEl>
                                          <p:spTgt spid="9">
                                            <p:txEl>
                                              <p:pRg st="6" end="6"/>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9">
                                            <p:txEl>
                                              <p:pRg st="7" end="7"/>
                                            </p:txEl>
                                          </p:spTgt>
                                        </p:tgtEl>
                                        <p:attrNameLst>
                                          <p:attrName>style.visibility</p:attrName>
                                        </p:attrNameLst>
                                      </p:cBhvr>
                                      <p:to>
                                        <p:strVal val="visible"/>
                                      </p:to>
                                    </p:set>
                                    <p:animEffect transition="in" filter="fade">
                                      <p:cBhvr>
                                        <p:cTn id="62" dur="20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1569660"/>
          </a:xfrm>
          <a:prstGeom prst="rect">
            <a:avLst/>
          </a:prstGeom>
          <a:noFill/>
        </p:spPr>
        <p:txBody>
          <a:bodyPr wrap="square" rtlCol="0">
            <a:spAutoFit/>
          </a:bodyPr>
          <a:lstStyle/>
          <a:p>
            <a:pPr algn="ctr"/>
            <a:r>
              <a:rPr lang="en-US" sz="4800" smtClean="0"/>
              <a:t>Manual testing </a:t>
            </a:r>
            <a:r>
              <a:rPr lang="en-US" sz="4800" dirty="0" smtClean="0"/>
              <a:t>&amp; </a:t>
            </a:r>
          </a:p>
          <a:p>
            <a:pPr algn="ctr"/>
            <a:r>
              <a:rPr lang="en-US" sz="4800" dirty="0" smtClean="0"/>
              <a:t>test automation</a:t>
            </a:r>
            <a:endParaRPr lang="en-US" sz="48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Exercise:</a:t>
            </a:r>
          </a:p>
          <a:p>
            <a:pPr algn="ctr"/>
            <a:endParaRPr lang="en-US" sz="4800" dirty="0" smtClean="0"/>
          </a:p>
          <a:p>
            <a:pPr algn="ctr"/>
            <a:r>
              <a:rPr lang="en-US" sz="4800" dirty="0" smtClean="0"/>
              <a:t>Hello, world!</a:t>
            </a:r>
            <a:endParaRPr lang="en-US" sz="48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2135</TotalTime>
  <Words>3736</Words>
  <Application>Microsoft Office PowerPoint</Application>
  <PresentationFormat>On-screen Show (4:3)</PresentationFormat>
  <Paragraphs>372</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195</cp:revision>
  <dcterms:created xsi:type="dcterms:W3CDTF">2013-02-19T03:44:03Z</dcterms:created>
  <dcterms:modified xsi:type="dcterms:W3CDTF">2013-03-07T23:58:49Z</dcterms:modified>
</cp:coreProperties>
</file>
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5" r:id="rId3"/>
    <p:sldId id="257" r:id="rId4"/>
    <p:sldId id="258" r:id="rId5"/>
    <p:sldId id="259" r:id="rId6"/>
    <p:sldId id="260" r:id="rId7"/>
    <p:sldId id="261" r:id="rId8"/>
    <p:sldId id="264" r:id="rId9"/>
    <p:sldId id="278" r:id="rId10"/>
    <p:sldId id="262" r:id="rId11"/>
    <p:sldId id="268" r:id="rId12"/>
    <p:sldId id="265" r:id="rId13"/>
    <p:sldId id="270" r:id="rId14"/>
    <p:sldId id="266" r:id="rId15"/>
    <p:sldId id="279" r:id="rId16"/>
    <p:sldId id="284" r:id="rId17"/>
    <p:sldId id="283" r:id="rId18"/>
    <p:sldId id="274" r:id="rId19"/>
    <p:sldId id="277" r:id="rId20"/>
    <p:sldId id="280" r:id="rId21"/>
    <p:sldId id="28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5620"/>
    <p:restoredTop sz="16101" autoAdjust="0"/>
  </p:normalViewPr>
  <p:slideViewPr>
    <p:cSldViewPr>
      <p:cViewPr varScale="1">
        <p:scale>
          <a:sx n="20" d="100"/>
          <a:sy n="20" d="100"/>
        </p:scale>
        <p:origin x="-4116" y="-10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516BE-303C-4073-A4FC-07E358FC6551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8E330-6F11-4EB8-9125-0BEE82D167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Welcome to “Testing Web Applications &amp; Web Services” training .  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looking for “</a:t>
            </a:r>
            <a:r>
              <a:rPr lang="en-US" sz="120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Introduction to Wedding Planning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or "</a:t>
            </a:r>
            <a:r>
              <a:rPr lang="en-US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Thermo-Nuclear Detonators for Fun and Profit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you’re in the wrong room.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first part of a two day course.  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we’ll talk mostly about web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apps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tomorrow we will focus on web services. 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baseline="0" dirty="0" smtClean="0"/>
              <a:t>Introduction </a:t>
            </a:r>
          </a:p>
          <a:p>
            <a:endParaRPr lang="en-US" baseline="0" dirty="0" smtClean="0"/>
          </a:p>
          <a:p>
            <a:r>
              <a:rPr lang="en-US" baseline="0" dirty="0" smtClean="0"/>
              <a:t>My name is Aaron Evans.  </a:t>
            </a:r>
          </a:p>
          <a:p>
            <a:r>
              <a:rPr lang="en-US" baseline="0" dirty="0" smtClean="0"/>
              <a:t>I’ll </a:t>
            </a:r>
            <a:r>
              <a:rPr lang="en-US" baseline="0" dirty="0" smtClean="0"/>
              <a:t>be your trainer for the next two days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That’s me.</a:t>
            </a:r>
          </a:p>
          <a:p>
            <a:r>
              <a:rPr lang="en-US" baseline="0" dirty="0" smtClean="0"/>
              <a:t>Here’s </a:t>
            </a:r>
            <a:r>
              <a:rPr lang="en-US" baseline="0" dirty="0" smtClean="0"/>
              <a:t>my contact information</a:t>
            </a:r>
            <a:r>
              <a:rPr lang="en-US" baseline="0" dirty="0" smtClean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 me on twitter, read my blog, spam me, whatever.</a:t>
            </a:r>
          </a:p>
          <a:p>
            <a:endParaRPr lang="en-US" baseline="0" dirty="0" smtClean="0"/>
          </a:p>
          <a:p>
            <a:r>
              <a:rPr lang="en-US" b="1" baseline="0" dirty="0" smtClean="0"/>
              <a:t>My experience</a:t>
            </a:r>
            <a:r>
              <a:rPr lang="en-US" b="1" baseline="0" dirty="0" smtClean="0"/>
              <a:t>.</a:t>
            </a:r>
          </a:p>
          <a:p>
            <a:endParaRPr lang="en-US" b="1" baseline="0" dirty="0" smtClean="0"/>
          </a:p>
          <a:p>
            <a:r>
              <a:rPr lang="en-US" baseline="0" dirty="0" smtClean="0"/>
              <a:t>I’ve been doing software testing for a little over 10 years.</a:t>
            </a:r>
          </a:p>
          <a:p>
            <a:r>
              <a:rPr lang="en-US" baseline="0" dirty="0" smtClean="0"/>
              <a:t>Not coincidentally, most of what I’ve been doing lately involves testing web apps and web services – along with mobile apps.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are pretty popular with the kids these days, or so I’m told.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 mobile apps use web services, frequently the same services on the backend as web applications.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specialty is actually in test automation, and though we’re not going to get into that too much in this course, I might try to slip a bit in.</a:t>
            </a:r>
          </a:p>
          <a:p>
            <a:endParaRPr lang="en-US" baseline="0" dirty="0" smtClean="0"/>
          </a:p>
          <a:p>
            <a:endParaRPr lang="en-US" baseline="0" dirty="0" smtClean="0"/>
          </a:p>
          <a:p>
            <a:r>
              <a:rPr lang="en-US" b="1" baseline="0" dirty="0" smtClean="0"/>
              <a:t>A </a:t>
            </a:r>
            <a:r>
              <a:rPr lang="en-US" b="1" baseline="0" dirty="0" smtClean="0"/>
              <a:t>little bit </a:t>
            </a:r>
            <a:r>
              <a:rPr lang="en-US" b="1" baseline="0" dirty="0" smtClean="0"/>
              <a:t>about myself</a:t>
            </a:r>
            <a:r>
              <a:rPr lang="en-US" b="1" baseline="0" dirty="0" smtClean="0"/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you can see from my lovely photograph, I like to go out on a limb, or in this case, a ledge.  That’s me (from a few years ago) hanging out of my apartment window in Cuenca, Ecuador where I used to live.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wife volunteered at an orphanage there and we have a lot of great friends in Ecuador and the weather is perfect.  Even though it’s on the equator, it’s up in the mountains, so it’s like spring year round.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a long winded way of saying I like to travel.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I’ve also lived in Fiji in the South Pacific which is where my twitter handle and blog title came from.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started writing it as a travel blog so I wouldn’t have to write separate letters to my mom and girlfriend but it turned into a tech blog full of my rambles and frustrations with various testing tools.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actually moved to Fiji after I was fed up with testing and was going to start a Survivor-like vacation tour where you can learn to start a fire without matches, catch fish without a pole, climb coconut trees and so on.</a:t>
            </a:r>
          </a:p>
          <a:p>
            <a:endParaRPr lang="en-US" b="1" baseline="0" dirty="0" smtClean="0"/>
          </a:p>
          <a:p>
            <a:endParaRPr lang="en-US" baseline="0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enough about me.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 me about yourselves.  </a:t>
            </a:r>
          </a:p>
          <a:p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hopes and dreams, hobbies, favorite colors, and your names, and deepest secrets.  Or at least your names.  </a:t>
            </a:r>
          </a:p>
          <a:p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everyone could, please stand up and tell me who you are and what you do. </a:t>
            </a:r>
          </a:p>
          <a:p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you’re remote, you don’t have to stand up</a:t>
            </a:r>
            <a:r>
              <a:rPr lang="en-US" sz="120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no one will know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9E5ED-425F-4E07-BCD6-7E079AD34B1B}" type="datetimeFigureOut">
              <a:rPr lang="en-US" smtClean="0"/>
              <a:pPr/>
              <a:t>3/6/2013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twitter.com/fijiaaron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://fijiaaron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arone@one-shor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2133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Web Applications </a:t>
            </a:r>
          </a:p>
          <a:p>
            <a:pPr algn="ctr"/>
            <a:r>
              <a:rPr lang="en-US" sz="4800" dirty="0" smtClean="0"/>
              <a:t>&amp; Web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36644"/>
            <a:ext cx="2396747" cy="15420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160" y="504962"/>
            <a:ext cx="3370840" cy="2238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8" name="Picture 7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6302256" cy="4191000"/>
          </a:xfrm>
          <a:prstGeom prst="rect">
            <a:avLst/>
          </a:prstGeom>
        </p:spPr>
      </p:pic>
      <p:pic>
        <p:nvPicPr>
          <p:cNvPr id="7" name="Picture 6" descr="mushroom-cloud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666683" y="2887215"/>
            <a:ext cx="6477317" cy="39707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149" y="2887215"/>
            <a:ext cx="2683503" cy="39707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59" y="504962"/>
            <a:ext cx="5858142" cy="58581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858000" y="0"/>
            <a:ext cx="22860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  <p:pic>
        <p:nvPicPr>
          <p:cNvPr id="15" name="Picture 14" descr="aaron-cuenca-backgroun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88658" y="2057400"/>
            <a:ext cx="7755342" cy="40172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1371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Hi.</a:t>
            </a:r>
            <a:endParaRPr lang="en-US" sz="48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I’m Aaron Evans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4114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2"/>
                </a:solidFill>
                <a:hlinkClick r:id="rId6"/>
              </a:rPr>
              <a:t>aaron@one-shore.com</a:t>
            </a:r>
            <a:r>
              <a:rPr lang="en-US" sz="2400" dirty="0" smtClean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sz="2400" dirty="0" smtClean="0">
                <a:solidFill>
                  <a:schemeClr val="tx2"/>
                </a:solidFill>
                <a:hlinkClick r:id="rId7"/>
              </a:rPr>
              <a:t>fijiaaron.com</a:t>
            </a:r>
            <a:endParaRPr lang="en-US" sz="2400" dirty="0" smtClean="0">
              <a:solidFill>
                <a:schemeClr val="tx2"/>
              </a:solidFill>
            </a:endParaRPr>
          </a:p>
          <a:p>
            <a:pPr algn="ctr"/>
            <a:r>
              <a:rPr lang="en-US" sz="2400" dirty="0" smtClean="0">
                <a:solidFill>
                  <a:schemeClr val="tx2"/>
                </a:solidFill>
                <a:hlinkClick r:id="rId8"/>
              </a:rPr>
              <a:t>@</a:t>
            </a:r>
            <a:r>
              <a:rPr lang="en-US" sz="2400" dirty="0" err="1" smtClean="0">
                <a:solidFill>
                  <a:schemeClr val="tx2"/>
                </a:solidFill>
                <a:hlinkClick r:id="rId8"/>
              </a:rPr>
              <a:t>fijiaaron</a:t>
            </a:r>
            <a:endParaRPr lang="en-US" sz="2400" dirty="0" smtClean="0">
              <a:solidFill>
                <a:schemeClr val="tx2"/>
              </a:solidFill>
            </a:endParaRPr>
          </a:p>
          <a:p>
            <a:pPr algn="ctr"/>
            <a:r>
              <a:rPr lang="en-US" sz="2400" dirty="0" smtClean="0">
                <a:solidFill>
                  <a:schemeClr val="tx2"/>
                </a:solidFill>
              </a:rPr>
              <a:t>425-242-4304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858000" y="0"/>
            <a:ext cx="22860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524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But enough about me.</a:t>
            </a:r>
            <a:endParaRPr lang="en-US" sz="48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31242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Tell me about yourselves.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858000" y="0"/>
            <a:ext cx="22860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My teaching process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838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Introduce the subject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Q&amp;A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Brief lecture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Introduce tools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Hands on exercise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Project at the end of each day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086600" y="0"/>
            <a:ext cx="2057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Curriculum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Curriculum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/>
            <a:r>
              <a:rPr lang="en-US" sz="3600" dirty="0" smtClean="0"/>
              <a:t>Day 1: Testing web apps</a:t>
            </a:r>
          </a:p>
          <a:p>
            <a:pPr marL="742950" indent="-742950"/>
            <a:endParaRPr lang="en-US" sz="3600" dirty="0" smtClean="0"/>
          </a:p>
          <a:p>
            <a:pPr marL="742950" indent="-742950"/>
            <a:r>
              <a:rPr lang="en-US" sz="3600" dirty="0" smtClean="0"/>
              <a:t>Day 2: Testing web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Day 1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Compare web apps &amp; services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A technical understanding of the web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Testing web applications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 smtClean="0"/>
              <a:t>AngularJS</a:t>
            </a:r>
            <a:endParaRPr lang="en-US" sz="3600" dirty="0" smtClean="0"/>
          </a:p>
          <a:p>
            <a:pPr marL="742950" indent="-742950"/>
            <a:endParaRPr lang="en-US" sz="36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7086600" y="0"/>
            <a:ext cx="2057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Curriculum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086600" y="0"/>
            <a:ext cx="2057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Curriculum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Day 2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Understanding web services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Testing RESTful web services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Tools for testing web services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Performance and security testing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315200" y="0"/>
            <a:ext cx="18288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apps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What’s a web app?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105400" y="0"/>
            <a:ext cx="4038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Traditional &amp; web apps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How are web applications</a:t>
            </a:r>
          </a:p>
          <a:p>
            <a:pPr algn="ctr"/>
            <a:r>
              <a:rPr lang="en-US" sz="4800" dirty="0" smtClean="0"/>
              <a:t>different from </a:t>
            </a:r>
          </a:p>
          <a:p>
            <a:pPr algn="ctr"/>
            <a:r>
              <a:rPr lang="en-US" sz="4800" dirty="0" smtClean="0"/>
              <a:t>traditional applications ?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105400" y="0"/>
            <a:ext cx="4038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Traditional &amp; web apps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990600"/>
            <a:ext cx="8229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Network</a:t>
            </a:r>
            <a:r>
              <a:rPr lang="en-US" sz="3600" dirty="0" smtClean="0"/>
              <a:t> – </a:t>
            </a:r>
            <a:r>
              <a:rPr lang="en-US" sz="2400" dirty="0" smtClean="0"/>
              <a:t>unreliable, latency, connected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Browser</a:t>
            </a:r>
            <a:r>
              <a:rPr lang="en-US" sz="3600" dirty="0" smtClean="0"/>
              <a:t> </a:t>
            </a:r>
            <a:r>
              <a:rPr lang="en-US" sz="3600" b="1" dirty="0" smtClean="0"/>
              <a:t>based</a:t>
            </a:r>
            <a:r>
              <a:rPr lang="en-US" sz="3600" dirty="0" smtClean="0"/>
              <a:t>– </a:t>
            </a:r>
            <a:r>
              <a:rPr lang="en-US" sz="2400" dirty="0" smtClean="0"/>
              <a:t>compatibility issues, no install</a:t>
            </a:r>
            <a:r>
              <a:rPr lang="en-US" sz="3600" dirty="0" smtClean="0"/>
              <a:t> 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Cross Platform</a:t>
            </a:r>
            <a:r>
              <a:rPr lang="en-US" sz="3600" dirty="0" smtClean="0"/>
              <a:t> – </a:t>
            </a:r>
            <a:r>
              <a:rPr lang="en-US" sz="2400" dirty="0" smtClean="0"/>
              <a:t>multiple OS</a:t>
            </a:r>
            <a:endParaRPr lang="en-US" sz="3600" b="1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Rendering</a:t>
            </a:r>
            <a:r>
              <a:rPr lang="en-US" sz="3600" dirty="0" smtClean="0"/>
              <a:t> – </a:t>
            </a:r>
            <a:r>
              <a:rPr lang="en-US" sz="2400" dirty="0" smtClean="0"/>
              <a:t>HTML, CSS, limited UI widgets</a:t>
            </a:r>
            <a:endParaRPr lang="en-US" sz="3600" b="1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JavaScript</a:t>
            </a:r>
            <a:r>
              <a:rPr lang="en-US" sz="3600" dirty="0" smtClean="0"/>
              <a:t> – </a:t>
            </a:r>
            <a:r>
              <a:rPr lang="en-US" sz="2400" dirty="0" smtClean="0"/>
              <a:t>not precompiled, performance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Limited libraries</a:t>
            </a:r>
            <a:r>
              <a:rPr lang="en-US" sz="3600" dirty="0" smtClean="0"/>
              <a:t> – </a:t>
            </a:r>
            <a:r>
              <a:rPr lang="en-US" sz="2400" dirty="0" smtClean="0"/>
              <a:t>no shared DLLs, browser libraries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Security Model </a:t>
            </a:r>
            <a:r>
              <a:rPr lang="en-US" sz="3600" dirty="0" smtClean="0"/>
              <a:t>– </a:t>
            </a:r>
            <a:r>
              <a:rPr lang="en-US" sz="2400" dirty="0" smtClean="0"/>
              <a:t>sandbox, limited I/O, safer</a:t>
            </a:r>
            <a:r>
              <a:rPr lang="en-US" sz="2400" b="1" dirty="0" smtClean="0"/>
              <a:t> </a:t>
            </a:r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Concurrency </a:t>
            </a:r>
            <a:r>
              <a:rPr lang="en-US" sz="3600" dirty="0" smtClean="0"/>
              <a:t>– </a:t>
            </a:r>
            <a:r>
              <a:rPr lang="en-US" sz="2400" dirty="0" smtClean="0"/>
              <a:t>multiple requests, sessions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Scalability </a:t>
            </a:r>
            <a:r>
              <a:rPr lang="en-US" sz="3600" dirty="0" smtClean="0"/>
              <a:t>– </a:t>
            </a:r>
            <a:r>
              <a:rPr lang="en-US" sz="2400" dirty="0" smtClean="0"/>
              <a:t>multiple clients, horizontal scaling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257800" y="0"/>
            <a:ext cx="38862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sites &amp; web apps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 are the </a:t>
            </a:r>
          </a:p>
          <a:p>
            <a:pPr algn="ctr"/>
            <a:r>
              <a:rPr lang="en-US" sz="4800" dirty="0" smtClean="0"/>
              <a:t>differences between</a:t>
            </a:r>
          </a:p>
          <a:p>
            <a:pPr algn="ctr"/>
            <a:r>
              <a:rPr lang="en-US" sz="4800" dirty="0" smtClean="0"/>
              <a:t>web sites &amp; web applications?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257800" y="0"/>
            <a:ext cx="38862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sites &amp; web apps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381000" y="1295400"/>
            <a:ext cx="4114800" cy="397031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/>
            <a:r>
              <a:rPr lang="en-US" sz="4800" b="1" u="sng" dirty="0" smtClean="0"/>
              <a:t>Web Sites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Static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Multiple pages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Stateless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HTML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Content driven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295400"/>
            <a:ext cx="3886200" cy="397031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/>
            <a:r>
              <a:rPr lang="en-US" sz="4800" b="1" u="sng" dirty="0" smtClean="0"/>
              <a:t>Web Apps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Dynamic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Single page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Stateful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Frameworks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Event driven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486400" y="0"/>
            <a:ext cx="3657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apps &amp; services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 are the </a:t>
            </a:r>
          </a:p>
          <a:p>
            <a:pPr algn="ctr"/>
            <a:r>
              <a:rPr lang="en-US" sz="4800" dirty="0" smtClean="0"/>
              <a:t>differences between </a:t>
            </a:r>
          </a:p>
          <a:p>
            <a:pPr algn="ctr"/>
            <a:r>
              <a:rPr lang="en-US" sz="4800" dirty="0" smtClean="0"/>
              <a:t>web applications &amp; web services? 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486400" y="0"/>
            <a:ext cx="3657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apps &amp; services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381000" y="1295400"/>
            <a:ext cx="4114800" cy="4524315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/>
            <a:r>
              <a:rPr lang="en-US" sz="4800" b="1" u="sng" dirty="0" smtClean="0"/>
              <a:t>Web Apps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Runs in browser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HTML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Client side logic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At least it has cookies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HTTP &amp; URLs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295400"/>
            <a:ext cx="3886200" cy="4524315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/>
            <a:r>
              <a:rPr lang="en-US" sz="4800" b="1" u="sng" dirty="0" smtClean="0"/>
              <a:t>Web Services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No UI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XML or JSON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Logic on server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Even more stateless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HTTP &amp; URLs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486400" y="0"/>
            <a:ext cx="3657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apps &amp; services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381000" y="838200"/>
            <a:ext cx="8305800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 algn="ctr"/>
            <a:r>
              <a:rPr lang="en-US" sz="4800" dirty="0" smtClean="0"/>
              <a:t>How do web services</a:t>
            </a:r>
          </a:p>
          <a:p>
            <a:pPr marL="457200" indent="-457200" algn="ctr"/>
            <a:r>
              <a:rPr lang="en-US" sz="4800" dirty="0" smtClean="0"/>
              <a:t>compliment web applications?</a:t>
            </a:r>
            <a:endParaRPr lang="en-US" sz="36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381000" y="2667000"/>
            <a:ext cx="8229600" cy="341632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Separation of concerns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 smtClean="0"/>
              <a:t>Data from user interface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 smtClean="0"/>
              <a:t>Domain model from authentication, etc.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Modularity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Scalability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Reusability</a:t>
            </a:r>
          </a:p>
          <a:p>
            <a:pPr lvl="2" indent="-457200">
              <a:buFont typeface="Arial" pitchFamily="34" charset="0"/>
              <a:buChar char="•"/>
            </a:pPr>
            <a:r>
              <a:rPr lang="en-US" sz="2400" dirty="0" smtClean="0"/>
              <a:t>Multiple apps can share the same service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705600" y="0"/>
            <a:ext cx="2438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Types of tests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Types of tests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705600" y="0"/>
            <a:ext cx="2438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Types of tests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838200"/>
            <a:ext cx="9144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Unit, Integration, System, System Integration, End-to-end, Functional, Performance, Load, Stress, Security, Usability, White box, Black box, Gray box, Acceptance, Regression, Sanity, Smoke, Manual, Automated, Installation, Deployment, etc.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638800" y="0"/>
            <a:ext cx="35052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3200" dirty="0" smtClean="0"/>
              <a:t>Testing Perspectives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Perspectives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Verification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Validation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Exploratory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Destructive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0" y="2057400"/>
            <a:ext cx="3733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Functionality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Presentation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Usability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Feasibility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Compliance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Compatibility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Performance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Security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705600" y="0"/>
            <a:ext cx="2438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Types of tests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mtClean="0"/>
              <a:t>Manual testing </a:t>
            </a:r>
            <a:r>
              <a:rPr lang="en-US" sz="4800" dirty="0" smtClean="0"/>
              <a:t>&amp; </a:t>
            </a:r>
          </a:p>
          <a:p>
            <a:pPr algn="ctr"/>
            <a:r>
              <a:rPr lang="en-US" sz="4800" dirty="0" smtClean="0"/>
              <a:t>test automation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705600" y="0"/>
            <a:ext cx="2438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Types of tests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Exercise:</a:t>
            </a:r>
          </a:p>
          <a:p>
            <a:pPr algn="ctr"/>
            <a:endParaRPr lang="en-US" sz="4800" dirty="0" smtClean="0"/>
          </a:p>
          <a:p>
            <a:pPr algn="ctr"/>
            <a:r>
              <a:rPr lang="en-US" sz="4800" dirty="0" smtClean="0"/>
              <a:t>Hello, world!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2160</TotalTime>
  <Words>1029</Words>
  <Application>Microsoft Office PowerPoint</Application>
  <PresentationFormat>On-screen Show (4:3)</PresentationFormat>
  <Paragraphs>207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Evans</dc:creator>
  <cp:lastModifiedBy>Aaron Evans</cp:lastModifiedBy>
  <cp:revision>192</cp:revision>
  <dcterms:created xsi:type="dcterms:W3CDTF">2013-02-19T03:44:03Z</dcterms:created>
  <dcterms:modified xsi:type="dcterms:W3CDTF">2013-03-06T21:05:17Z</dcterms:modified>
</cp:coreProperties>
</file>
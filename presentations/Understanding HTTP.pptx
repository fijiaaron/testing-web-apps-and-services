
<file path=[Content_Types].xml><?xml version="1.0" encoding="utf-8"?>
<Types xmlns="http://schemas.openxmlformats.org/package/2006/content-types">
  <Default Extension="png" ContentType="image/png"/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4"/>
  </p:notesMasterIdLst>
  <p:sldIdLst>
    <p:sldId id="257" r:id="rId2"/>
    <p:sldId id="259" r:id="rId3"/>
    <p:sldId id="268" r:id="rId4"/>
    <p:sldId id="269" r:id="rId5"/>
    <p:sldId id="260" r:id="rId6"/>
    <p:sldId id="261" r:id="rId7"/>
    <p:sldId id="270" r:id="rId8"/>
    <p:sldId id="271" r:id="rId9"/>
    <p:sldId id="282" r:id="rId10"/>
    <p:sldId id="262" r:id="rId11"/>
    <p:sldId id="283" r:id="rId12"/>
    <p:sldId id="284" r:id="rId13"/>
    <p:sldId id="277" r:id="rId14"/>
    <p:sldId id="272" r:id="rId15"/>
    <p:sldId id="273" r:id="rId16"/>
    <p:sldId id="280" r:id="rId17"/>
    <p:sldId id="274" r:id="rId18"/>
    <p:sldId id="275" r:id="rId19"/>
    <p:sldId id="281" r:id="rId20"/>
    <p:sldId id="276" r:id="rId21"/>
    <p:sldId id="278" r:id="rId22"/>
    <p:sldId id="285" r:id="rId23"/>
  </p:sldIdLst>
  <p:sldSz cx="9144000" cy="6858000" type="screen4x3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69667" autoAdjust="0"/>
  </p:normalViewPr>
  <p:slideViewPr>
    <p:cSldViewPr>
      <p:cViewPr varScale="1">
        <p:scale>
          <a:sx n="70" d="100"/>
          <a:sy n="70" d="100"/>
        </p:scale>
        <p:origin x="-540" y="-102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56D5BA7-B707-45D4-A387-3F9FDC15B41A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1BAB9FF4-AA6D-402C-8BBD-98529578E01B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2215530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</a:t>
            </a:fld>
            <a:endParaRPr lang="en-US"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3</a:t>
            </a:fld>
            <a:endParaRPr lang="en-US"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4</a:t>
            </a:fld>
            <a:endParaRPr lang="en-US"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5</a:t>
            </a:fld>
            <a:endParaRPr lang="en-US"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6</a:t>
            </a:fld>
            <a:endParaRPr lang="en-US"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7</a:t>
            </a:fld>
            <a:endParaRPr lang="en-US"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8</a:t>
            </a:fld>
            <a:endParaRPr lang="en-US"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PCData</a:t>
            </a:r>
            <a:r>
              <a:rPr lang="en-US" sz="1200" kern="120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is Parsed</a:t>
            </a:r>
            <a:r>
              <a:rPr lang="en-US" sz="1200" kern="1200" baseline="0" dirty="0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 Character Data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9</a:t>
            </a:fld>
            <a:endParaRPr lang="en-US"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10</a:t>
            </a:fld>
            <a:endParaRPr lang="en-US"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11</a:t>
            </a:fld>
            <a:endParaRPr lang="en-US"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12</a:t>
            </a:fld>
            <a:endParaRPr lang="en-US"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13</a:t>
            </a:fld>
            <a:endParaRPr lang="en-US"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14</a:t>
            </a:fld>
            <a:endParaRPr lang="en-US"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15</a:t>
            </a:fld>
            <a:endParaRPr lang="en-US"/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16</a:t>
            </a:fld>
            <a:endParaRPr lang="en-US"/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r>
              <a:rPr lang="en-US" sz="1200" kern="1200" dirty="0" err="1" smtClean="0">
                <a:solidFill>
                  <a:schemeClr val="tx1"/>
                </a:solidFill>
                <a:effectLst/>
                <a:latin typeface="+mn-lt"/>
                <a:ea typeface="+mn-ea"/>
                <a:cs typeface="+mn-cs"/>
              </a:rPr>
              <a:t>Keepalive</a:t>
            </a:r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17</a:t>
            </a:fld>
            <a:endParaRPr lang="en-US"/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18</a:t>
            </a:fld>
            <a:endParaRPr lang="en-US"/>
          </a:p>
        </p:txBody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19</a:t>
            </a:fld>
            <a:endParaRPr lang="en-US"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20</a:t>
            </a:fld>
            <a:endParaRPr lang="en-US"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21</a:t>
            </a:fld>
            <a:endParaRPr lang="en-US"/>
          </a:p>
        </p:txBody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>
            <a:normAutofit/>
          </a:bodyPr>
          <a:lstStyle/>
          <a:p>
            <a:endParaRPr lang="en-US" sz="1200" kern="1200" dirty="0">
              <a:solidFill>
                <a:schemeClr val="tx1"/>
              </a:solidFill>
              <a:effectLst/>
              <a:latin typeface="+mn-lt"/>
              <a:ea typeface="+mn-ea"/>
              <a:cs typeface="+mn-cs"/>
            </a:endParaRP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2468E330-6F11-4EB8-9125-0BEE82D16730}" type="slidenum">
              <a:rPr lang="en-US" smtClean="0"/>
              <a:pPr/>
              <a:t>22</a:t>
            </a:fld>
            <a:endParaRPr lang="en-US"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67862241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7205444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4254106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338118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30483850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1228036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229930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7315535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6361120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0844765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281C71-67CB-4B59-A913-96D3D28CB4D7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FB19C03-38E8-41D9-9FE9-8743800C9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393474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281C71-67CB-4B59-A913-96D3D28CB4D7}" type="datetimeFigureOut">
              <a:rPr lang="en-US" smtClean="0"/>
              <a:t>3/15/2013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FB19C03-38E8-41D9-9FE9-8743800C984D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6796465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www.example.com/path/to/file.html" TargetMode="External"/><Relationship Id="rId4" Type="http://schemas.openxmlformats.org/officeDocument/2006/relationships/image" Target="../media/image2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5" Type="http://schemas.openxmlformats.org/officeDocument/2006/relationships/hyperlink" Target="http://example.com/file.html" TargetMode="External"/><Relationship Id="rId4" Type="http://schemas.openxmlformats.org/officeDocument/2006/relationships/image" Target="../media/image2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1.xml"/><Relationship Id="rId4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21336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Understanding HTTP</a:t>
            </a:r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</p:spTree>
    <p:extLst>
      <p:ext uri="{BB962C8B-B14F-4D97-AF65-F5344CB8AC3E}">
        <p14:creationId xmlns:p14="http://schemas.microsoft.com/office/powerpoint/2010/main" val="418303205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Hypertext Transfer Protocol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8229600" cy="341632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Invented by Tim-Berners Lee at CERN</a:t>
            </a:r>
          </a:p>
          <a:p>
            <a:endParaRPr lang="en-US" sz="2400" dirty="0" smtClean="0"/>
          </a:p>
          <a:p>
            <a:r>
              <a:rPr lang="en-US" sz="3600" dirty="0" smtClean="0"/>
              <a:t>Part of the “</a:t>
            </a:r>
            <a:r>
              <a:rPr lang="en-US" sz="3600" dirty="0" err="1" smtClean="0"/>
              <a:t>WorldWideWeb</a:t>
            </a:r>
            <a:r>
              <a:rPr lang="en-US" sz="3600" dirty="0" smtClean="0"/>
              <a:t>” standard</a:t>
            </a:r>
          </a:p>
          <a:p>
            <a:endParaRPr lang="en-US" sz="2400" dirty="0"/>
          </a:p>
          <a:p>
            <a:r>
              <a:rPr lang="en-US" sz="3600" dirty="0"/>
              <a:t>Originally always returned HTML document</a:t>
            </a:r>
          </a:p>
          <a:p>
            <a:endParaRPr lang="en-US" sz="2400" dirty="0"/>
          </a:p>
          <a:p>
            <a:r>
              <a:rPr lang="en-US" sz="3600" dirty="0" smtClean="0"/>
              <a:t>Standard developed by the IETF and W3C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158060421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URLs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288197"/>
            <a:ext cx="8462746" cy="44627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Uniform Resource Locators</a:t>
            </a:r>
          </a:p>
          <a:p>
            <a:endParaRPr lang="en-US" sz="1200" dirty="0" smtClean="0"/>
          </a:p>
          <a:p>
            <a:r>
              <a:rPr lang="en-US" sz="3200" dirty="0" smtClean="0">
                <a:hlinkClick r:id="rId5"/>
              </a:rPr>
              <a:t>http://www.example.com/path/to/file.html</a:t>
            </a:r>
            <a:endParaRPr lang="en-US" sz="3200" dirty="0" smtClean="0"/>
          </a:p>
          <a:p>
            <a:pPr marL="0" lvl="1"/>
            <a:endParaRPr lang="en-US" sz="12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/>
              <a:t>Globally unique</a:t>
            </a:r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Text identifier</a:t>
            </a:r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Case insensitive*</a:t>
            </a:r>
          </a:p>
          <a:p>
            <a:pPr marL="800100" lvl="1" indent="-342900">
              <a:buFont typeface="Calibri" pitchFamily="34" charset="0"/>
              <a:buChar char="›"/>
            </a:pPr>
            <a:endParaRPr lang="en-US" sz="1200" dirty="0" smtClean="0"/>
          </a:p>
          <a:p>
            <a:pPr marL="0" lvl="1"/>
            <a:r>
              <a:rPr lang="en-US" sz="2400" dirty="0" smtClean="0"/>
              <a:t>protocol://host.domain.tld/path.ext?query_string#anchor </a:t>
            </a:r>
          </a:p>
          <a:p>
            <a:pPr marL="0" lvl="1"/>
            <a:r>
              <a:rPr lang="en-US" sz="2400" dirty="0" smtClean="0"/>
              <a:t>scheme://user:password@domain:port/resource</a:t>
            </a:r>
          </a:p>
          <a:p>
            <a:pPr marL="342900" indent="-342900">
              <a:buFont typeface="Calibri" pitchFamily="34" charset="0"/>
              <a:buChar char="›"/>
            </a:pPr>
            <a:endParaRPr lang="en-US" sz="2400" dirty="0" smtClean="0"/>
          </a:p>
        </p:txBody>
      </p:sp>
      <p:sp>
        <p:nvSpPr>
          <p:cNvPr id="9" name="TextBox 8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69853995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Resources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2" name="Rectangle 1"/>
          <p:cNvSpPr/>
          <p:nvPr/>
        </p:nvSpPr>
        <p:spPr>
          <a:xfrm>
            <a:off x="426495" y="1752600"/>
            <a:ext cx="6477000" cy="3600986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r>
              <a:rPr lang="en-US" sz="3600" dirty="0" smtClean="0"/>
              <a:t>A resource can be any of these:</a:t>
            </a:r>
          </a:p>
          <a:p>
            <a:endParaRPr lang="en-US" sz="1200" dirty="0" smtClean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Document</a:t>
            </a:r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File</a:t>
            </a:r>
            <a:endParaRPr lang="en-US" sz="36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Data source</a:t>
            </a:r>
            <a:endParaRPr lang="en-US" sz="36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Service endpoint</a:t>
            </a:r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600" dirty="0" smtClean="0"/>
              <a:t>Action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749838377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Hyperlinks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8229600" cy="120032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Like footnotes that automatically load the referenced source document (and location)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3429000"/>
            <a:ext cx="82296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&lt;a </a:t>
            </a:r>
            <a:r>
              <a:rPr lang="en-US" sz="3600" dirty="0" err="1" smtClean="0"/>
              <a:t>href</a:t>
            </a:r>
            <a:r>
              <a:rPr lang="en-US" sz="3600" dirty="0" smtClean="0"/>
              <a:t>=“</a:t>
            </a:r>
            <a:r>
              <a:rPr lang="en-US" sz="3600" dirty="0" smtClean="0">
                <a:hlinkClick r:id="rId5"/>
              </a:rPr>
              <a:t>http://example.com/file.html</a:t>
            </a:r>
            <a:r>
              <a:rPr lang="en-US" sz="3600" dirty="0" smtClean="0"/>
              <a:t>”&gt;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5697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HTML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10569" y="1198055"/>
            <a:ext cx="82296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Hypertext Markup Language</a:t>
            </a:r>
          </a:p>
          <a:p>
            <a:pPr algn="ctr"/>
            <a:endParaRPr lang="en-US" sz="2400" dirty="0"/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Document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Semi-structured 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Hierarchical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Elements in &lt;brackets&gt;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Elements can have attributes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Rendered by a HTML browser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Presentation vs. semantic markup</a:t>
            </a:r>
            <a:endParaRPr lang="en-US" sz="3600" dirty="0"/>
          </a:p>
        </p:txBody>
      </p:sp>
      <p:sp>
        <p:nvSpPr>
          <p:cNvPr id="9" name="TextBox 8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5697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Example HTML document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76200" y="1319535"/>
            <a:ext cx="9067799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&lt;html&gt;</a:t>
            </a:r>
          </a:p>
          <a:p>
            <a:pPr lvl="1"/>
            <a:r>
              <a:rPr lang="en-US" dirty="0" smtClean="0">
                <a:latin typeface="Consolas" pitchFamily="49" charset="0"/>
                <a:cs typeface="Consolas" pitchFamily="49" charset="0"/>
              </a:rPr>
              <a:t>&lt;head&gt;</a:t>
            </a:r>
          </a:p>
          <a:p>
            <a:pPr lvl="2"/>
            <a:r>
              <a:rPr lang="en-US" dirty="0" smtClean="0">
                <a:latin typeface="Consolas" pitchFamily="49" charset="0"/>
                <a:cs typeface="Consolas" pitchFamily="49" charset="0"/>
              </a:rPr>
              <a:t>&lt;title&gt;Greeting&lt;/title&gt;</a:t>
            </a:r>
          </a:p>
          <a:p>
            <a:pPr lvl="1"/>
            <a:r>
              <a:rPr lang="en-US" dirty="0" smtClean="0">
                <a:latin typeface="Consolas" pitchFamily="49" charset="0"/>
                <a:cs typeface="Consolas" pitchFamily="49" charset="0"/>
              </a:rPr>
              <a:t>&lt;/head&gt;</a:t>
            </a:r>
          </a:p>
          <a:p>
            <a:pPr lvl="1"/>
            <a:r>
              <a:rPr lang="en-US" dirty="0" smtClean="0">
                <a:latin typeface="Consolas" pitchFamily="49" charset="0"/>
                <a:cs typeface="Consolas" pitchFamily="49" charset="0"/>
              </a:rPr>
              <a:t>&lt;body&gt;</a:t>
            </a:r>
          </a:p>
          <a:p>
            <a:pPr lvl="2"/>
            <a:r>
              <a:rPr lang="en-US" dirty="0" smtClean="0">
                <a:latin typeface="Consolas" pitchFamily="49" charset="0"/>
                <a:cs typeface="Consolas" pitchFamily="49" charset="0"/>
              </a:rPr>
              <a:t>&lt;h1&gt;Hello, world!&lt;/h1&gt;</a:t>
            </a:r>
          </a:p>
          <a:p>
            <a:pPr lvl="2"/>
            <a:r>
              <a:rPr lang="en-US" dirty="0" smtClean="0">
                <a:latin typeface="Consolas" pitchFamily="49" charset="0"/>
                <a:cs typeface="Consolas" pitchFamily="49" charset="0"/>
              </a:rPr>
              <a:t>&lt;p&gt;</a:t>
            </a:r>
          </a:p>
          <a:p>
            <a:pPr lvl="2"/>
            <a:r>
              <a:rPr lang="en-US" dirty="0" smtClean="0">
                <a:latin typeface="Consolas" pitchFamily="49" charset="0"/>
                <a:cs typeface="Consolas" pitchFamily="49" charset="0"/>
              </a:rPr>
              <a:t>Do you want to respond in:</a:t>
            </a:r>
          </a:p>
          <a:p>
            <a:pPr lvl="3"/>
            <a:r>
              <a:rPr lang="en-US" dirty="0" smtClean="0">
                <a:latin typeface="Consolas" pitchFamily="49" charset="0"/>
                <a:cs typeface="Consolas" pitchFamily="49" charset="0"/>
              </a:rPr>
              <a:t>&lt;</a:t>
            </a:r>
            <a:r>
              <a:rPr lang="en-US" dirty="0" err="1" smtClean="0">
                <a:latin typeface="Consolas" pitchFamily="49" charset="0"/>
                <a:cs typeface="Consolas" pitchFamily="49" charset="0"/>
              </a:rPr>
              <a:t>ul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&gt;</a:t>
            </a:r>
          </a:p>
          <a:p>
            <a:pPr lvl="4"/>
            <a:r>
              <a:rPr lang="en-US" dirty="0">
                <a:latin typeface="Consolas" pitchFamily="49" charset="0"/>
                <a:cs typeface="Consolas" pitchFamily="49" charset="0"/>
              </a:rPr>
              <a:t>&lt;li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&gt; &lt;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a </a:t>
            </a:r>
            <a:r>
              <a:rPr lang="en-US" dirty="0" err="1">
                <a:latin typeface="Consolas" pitchFamily="49" charset="0"/>
                <a:cs typeface="Consolas" pitchFamily="49" charset="0"/>
              </a:rPr>
              <a:t>href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=“http://greeter/english”&gt;English&lt;/a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&gt; &lt;/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li&gt;</a:t>
            </a:r>
          </a:p>
          <a:p>
            <a:pPr lvl="4"/>
            <a:r>
              <a:rPr lang="en-US" dirty="0" smtClean="0">
                <a:latin typeface="Consolas" pitchFamily="49" charset="0"/>
                <a:cs typeface="Consolas" pitchFamily="49" charset="0"/>
              </a:rPr>
              <a:t>&lt;li&gt; &lt;a </a:t>
            </a:r>
            <a:r>
              <a:rPr lang="en-US" dirty="0" err="1" smtClean="0">
                <a:latin typeface="Consolas" pitchFamily="49" charset="0"/>
                <a:cs typeface="Consolas" pitchFamily="49" charset="0"/>
              </a:rPr>
              <a:t>href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=“http://greeter/spanish”&gt;Spanish&lt;/a&gt; &lt;/li&gt;</a:t>
            </a:r>
          </a:p>
          <a:p>
            <a:pPr lvl="3"/>
            <a:r>
              <a:rPr lang="en-US" dirty="0" smtClean="0">
                <a:latin typeface="Consolas" pitchFamily="49" charset="0"/>
                <a:cs typeface="Consolas" pitchFamily="49" charset="0"/>
              </a:rPr>
              <a:t>&lt;/</a:t>
            </a:r>
            <a:r>
              <a:rPr lang="en-US" dirty="0" err="1" smtClean="0">
                <a:latin typeface="Consolas" pitchFamily="49" charset="0"/>
                <a:cs typeface="Consolas" pitchFamily="49" charset="0"/>
              </a:rPr>
              <a:t>ul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&gt;</a:t>
            </a:r>
          </a:p>
          <a:p>
            <a:pPr lvl="3"/>
            <a:r>
              <a:rPr lang="en-US" dirty="0">
                <a:latin typeface="Consolas" pitchFamily="49" charset="0"/>
                <a:cs typeface="Consolas" pitchFamily="49" charset="0"/>
              </a:rPr>
              <a:t>&lt;!-- this is a comment </a:t>
            </a:r>
            <a:r>
              <a:rPr lang="en-US" dirty="0" smtClean="0">
                <a:latin typeface="Consolas" pitchFamily="49" charset="0"/>
                <a:cs typeface="Consolas" pitchFamily="49" charset="0"/>
                <a:sym typeface="Wingdings" pitchFamily="2" charset="2"/>
              </a:rPr>
              <a:t>--&gt;</a:t>
            </a:r>
            <a:endParaRPr lang="en-US" dirty="0" smtClean="0">
              <a:latin typeface="Consolas" pitchFamily="49" charset="0"/>
              <a:cs typeface="Consolas" pitchFamily="49" charset="0"/>
            </a:endParaRPr>
          </a:p>
          <a:p>
            <a:pPr lvl="2"/>
            <a:r>
              <a:rPr lang="en-US" dirty="0" smtClean="0">
                <a:latin typeface="Consolas" pitchFamily="49" charset="0"/>
                <a:cs typeface="Consolas" pitchFamily="49" charset="0"/>
              </a:rPr>
              <a:t>&lt;/p&gt;</a:t>
            </a:r>
          </a:p>
          <a:p>
            <a:pPr lvl="1"/>
            <a:r>
              <a:rPr lang="en-US" dirty="0" smtClean="0">
                <a:latin typeface="Consolas" pitchFamily="49" charset="0"/>
                <a:cs typeface="Consolas" pitchFamily="49" charset="0"/>
              </a:rPr>
              <a:t>&lt;/body&gt;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&lt;/html&gt;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04438288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</p:bld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XML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12844" y="1288197"/>
            <a:ext cx="82296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Extensible Markup Language</a:t>
            </a:r>
          </a:p>
          <a:p>
            <a:pPr algn="ctr"/>
            <a:endParaRPr lang="en-US" sz="1200" dirty="0"/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Based on HTML </a:t>
            </a:r>
          </a:p>
          <a:p>
            <a:pPr marL="1028700" lvl="1" indent="-571500">
              <a:buFont typeface="Calibri" pitchFamily="34" charset="0"/>
              <a:buChar char="›"/>
            </a:pPr>
            <a:r>
              <a:rPr lang="en-US" sz="2400" dirty="0" smtClean="0"/>
              <a:t>uses angle &lt;brackets&gt;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Strictly Structured</a:t>
            </a:r>
            <a:endParaRPr lang="en-US" sz="3600" dirty="0"/>
          </a:p>
          <a:p>
            <a:pPr marL="1028700" lvl="1" indent="-571500">
              <a:buFont typeface="Calibri" pitchFamily="34" charset="0"/>
              <a:buChar char="›"/>
            </a:pPr>
            <a:r>
              <a:rPr lang="en-US" sz="2400" dirty="0" smtClean="0"/>
              <a:t>DOCTYPE </a:t>
            </a:r>
          </a:p>
          <a:p>
            <a:pPr marL="1028700" lvl="1" indent="-571500">
              <a:buFont typeface="Calibri" pitchFamily="34" charset="0"/>
              <a:buChar char="›"/>
            </a:pPr>
            <a:r>
              <a:rPr lang="en-US" sz="2400" dirty="0" smtClean="0"/>
              <a:t>schema</a:t>
            </a:r>
            <a:endParaRPr lang="en-US" sz="2400" dirty="0"/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Entities</a:t>
            </a:r>
          </a:p>
          <a:p>
            <a:endParaRPr lang="en-US" sz="3600" dirty="0" smtClean="0"/>
          </a:p>
          <a:p>
            <a:r>
              <a:rPr lang="en-US" sz="3600" dirty="0" smtClean="0"/>
              <a:t>Content-type: application/xml </a:t>
            </a:r>
            <a:r>
              <a:rPr lang="en-US" sz="2400" dirty="0" smtClean="0"/>
              <a:t>or</a:t>
            </a:r>
            <a:r>
              <a:rPr lang="en-US" sz="3600" dirty="0" smtClean="0"/>
              <a:t> text/xml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9931669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5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6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9" end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/>
              <a:t>Example XML Document</a:t>
            </a:r>
            <a:endParaRPr lang="en-US" sz="24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93261" y="918865"/>
            <a:ext cx="9067799" cy="286232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&lt;xml version=“1.0” encoding=“utf-8”&gt;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&lt;!DOCTYPE 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greeting PUBLIC “http://greeter.one-shore.com/greeting.dtd”&gt;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&lt;greeting locale=“en-au”&gt;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	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&lt;message&gt;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	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	&lt;salutation&gt;</a:t>
            </a:r>
            <a:r>
              <a:rPr lang="en-US" dirty="0" err="1" smtClean="0">
                <a:latin typeface="Consolas" pitchFamily="49" charset="0"/>
                <a:cs typeface="Consolas" pitchFamily="49" charset="0"/>
              </a:rPr>
              <a:t>G’day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&lt;/salutation&gt;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		&lt;subject&gt;mate&lt;/subject&gt;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		&lt;modifier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/&gt;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	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	&lt;punctuation&gt;&amp;exclamation&lt;/punctuation&gt;</a:t>
            </a:r>
            <a:endParaRPr lang="en-US" dirty="0">
              <a:latin typeface="Consolas" pitchFamily="49" charset="0"/>
              <a:cs typeface="Consolas" pitchFamily="49" charset="0"/>
            </a:endParaRP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	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&lt;/message&gt;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&lt;/greeting&gt;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0" y="4115139"/>
            <a:ext cx="9067799" cy="203132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&lt;!ELEMENT greeting (message)&gt;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&lt;!ATTLIST greeting type CDATA “language”&gt;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&lt;!ELEMENT 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message (salutation, subject, modifier+, punctuation)&gt;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&lt;!ELEMENT salutation (#PCDATA)&gt;</a:t>
            </a:r>
          </a:p>
          <a:p>
            <a:r>
              <a:rPr lang="en-US" dirty="0" smtClean="0">
                <a:latin typeface="Consolas" pitchFamily="49" charset="0"/>
                <a:cs typeface="Consolas" pitchFamily="49" charset="0"/>
              </a:rPr>
              <a:t>&lt;!ELEMENT subject (#PCDATA)&gt;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&lt;!ELEMENT 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modifier 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(#PCDATA</a:t>
            </a:r>
            <a:r>
              <a:rPr lang="en-US" dirty="0" smtClean="0">
                <a:latin typeface="Consolas" pitchFamily="49" charset="0"/>
                <a:cs typeface="Consolas" pitchFamily="49" charset="0"/>
              </a:rPr>
              <a:t>)&gt;</a:t>
            </a:r>
          </a:p>
          <a:p>
            <a:r>
              <a:rPr lang="en-US" dirty="0"/>
              <a:t>&lt;!ENTITY </a:t>
            </a:r>
            <a:r>
              <a:rPr lang="en-US" dirty="0" smtClean="0"/>
              <a:t>exclamation “!”&gt;</a:t>
            </a:r>
            <a:endParaRPr lang="en-US" dirty="0" smtClean="0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-28433" y="3561391"/>
            <a:ext cx="9144000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2400" dirty="0" smtClean="0"/>
              <a:t>Example XML DTD</a:t>
            </a:r>
            <a:endParaRPr lang="en-US" sz="2400" dirty="0" smtClean="0"/>
          </a:p>
        </p:txBody>
      </p:sp>
    </p:spTree>
    <p:extLst>
      <p:ext uri="{BB962C8B-B14F-4D97-AF65-F5344CB8AC3E}">
        <p14:creationId xmlns:p14="http://schemas.microsoft.com/office/powerpoint/2010/main" val="4137992742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1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1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18" grpId="0"/>
      <p:bldP spid="9" grpId="0"/>
      <p:bldP spid="12" grpId="0"/>
      <p:bldP spid="14" grpId="0"/>
    </p:bld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SGML, HTML, &amp; XML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548432"/>
            <a:ext cx="8229600" cy="452431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SGML was invented at IBM in the 1970s</a:t>
            </a:r>
          </a:p>
          <a:p>
            <a:r>
              <a:rPr lang="en-US" sz="3600" dirty="0" smtClean="0"/>
              <a:t>It was the precursor to HTML</a:t>
            </a:r>
          </a:p>
          <a:p>
            <a:r>
              <a:rPr lang="en-US" sz="3600" dirty="0" smtClean="0"/>
              <a:t>HTML is not strictly SGML</a:t>
            </a:r>
          </a:p>
          <a:p>
            <a:endParaRPr lang="en-US" sz="3600" dirty="0" smtClean="0"/>
          </a:p>
          <a:p>
            <a:r>
              <a:rPr lang="en-US" sz="3600" dirty="0" smtClean="0"/>
              <a:t>XML was designed in 1997-1999</a:t>
            </a:r>
          </a:p>
          <a:p>
            <a:r>
              <a:rPr lang="en-US" sz="3600" dirty="0" smtClean="0"/>
              <a:t>It was based on HTML</a:t>
            </a:r>
          </a:p>
          <a:p>
            <a:r>
              <a:rPr lang="en-US" sz="3600" dirty="0" smtClean="0"/>
              <a:t>XML is a strict implementation of SGML</a:t>
            </a:r>
          </a:p>
          <a:p>
            <a:r>
              <a:rPr lang="en-US" sz="3600" dirty="0" smtClean="0"/>
              <a:t>It is designed to be “extensible”</a:t>
            </a:r>
            <a:endParaRPr lang="en-US" sz="3600" dirty="0"/>
          </a:p>
        </p:txBody>
      </p:sp>
      <p:sp>
        <p:nvSpPr>
          <p:cNvPr id="8" name="TextBox 7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15697294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9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1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4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JSON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36729" y="1256604"/>
            <a:ext cx="8229600" cy="470898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JavaScript object notation</a:t>
            </a:r>
          </a:p>
          <a:p>
            <a:pPr algn="ctr"/>
            <a:endParaRPr lang="en-US" sz="1200" dirty="0" smtClean="0"/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A subset of the JavaScript language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More concise than XML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Easily parsed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No Schema or Definition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Key </a:t>
            </a:r>
            <a:r>
              <a:rPr lang="en-US" sz="3600" dirty="0"/>
              <a:t>: </a:t>
            </a:r>
            <a:r>
              <a:rPr lang="en-US" sz="3600" dirty="0" smtClean="0"/>
              <a:t>Value 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Objects {}</a:t>
            </a:r>
          </a:p>
          <a:p>
            <a:pPr marL="571500" indent="-571500">
              <a:buFont typeface="Calibri" pitchFamily="34" charset="0"/>
              <a:buChar char="›"/>
            </a:pPr>
            <a:r>
              <a:rPr lang="en-US" sz="3600" dirty="0" smtClean="0"/>
              <a:t>Arrays []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4028654665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1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2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3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4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5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4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5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6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7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9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Example JSON document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76201" y="1270251"/>
            <a:ext cx="9067799" cy="480131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dirty="0">
                <a:latin typeface="Consolas" pitchFamily="49" charset="0"/>
                <a:cs typeface="Consolas" pitchFamily="49" charset="0"/>
              </a:rPr>
              <a:t>{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"greeting": {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"locale": "</a:t>
            </a:r>
            <a:r>
              <a:rPr lang="en-US" dirty="0" err="1">
                <a:latin typeface="Consolas" pitchFamily="49" charset="0"/>
                <a:cs typeface="Consolas" pitchFamily="49" charset="0"/>
              </a:rPr>
              <a:t>es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",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"message": {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"salutation": "</a:t>
            </a:r>
            <a:r>
              <a:rPr lang="en-US" dirty="0" err="1">
                <a:latin typeface="Consolas" pitchFamily="49" charset="0"/>
                <a:cs typeface="Consolas" pitchFamily="49" charset="0"/>
              </a:rPr>
              <a:t>Hola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",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"subject": "Aaron",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"modifier": [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    "tonto",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    "</a:t>
            </a:r>
            <a:r>
              <a:rPr lang="en-US" dirty="0" err="1">
                <a:latin typeface="Consolas" pitchFamily="49" charset="0"/>
                <a:cs typeface="Consolas" pitchFamily="49" charset="0"/>
              </a:rPr>
              <a:t>perezoso</a:t>
            </a:r>
            <a:r>
              <a:rPr lang="en-US" dirty="0">
                <a:latin typeface="Consolas" pitchFamily="49" charset="0"/>
                <a:cs typeface="Consolas" pitchFamily="49" charset="0"/>
              </a:rPr>
              <a:t>"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],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"punctuation": [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    { "before": "!" },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    { "after": "¡" }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    ]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    }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    }</a:t>
            </a:r>
          </a:p>
          <a:p>
            <a:r>
              <a:rPr lang="en-US" dirty="0">
                <a:latin typeface="Consolas" pitchFamily="49" charset="0"/>
                <a:cs typeface="Consolas" pitchFamily="49" charset="0"/>
              </a:rPr>
              <a:t>}</a:t>
            </a:r>
            <a:endParaRPr lang="en-US" dirty="0" smtClean="0">
              <a:latin typeface="Consolas" pitchFamily="49" charset="0"/>
              <a:cs typeface="Consolas" pitchFamily="49" charset="0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387081217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HTTP Request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385548" y="1288197"/>
            <a:ext cx="8229600" cy="433965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GET   /   HTTP/1.1</a:t>
            </a:r>
          </a:p>
          <a:p>
            <a:endParaRPr lang="en-US" sz="2400" dirty="0" smtClean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2800" dirty="0" smtClean="0"/>
              <a:t>Method</a:t>
            </a:r>
            <a:endParaRPr lang="en-US" sz="28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2800" dirty="0" smtClean="0"/>
              <a:t>Resource</a:t>
            </a:r>
            <a:endParaRPr lang="en-US" sz="28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2800" dirty="0" smtClean="0"/>
              <a:t>Version</a:t>
            </a:r>
          </a:p>
          <a:p>
            <a:pPr lvl="1"/>
            <a:endParaRPr lang="en-US" sz="2400" dirty="0" smtClean="0"/>
          </a:p>
          <a:p>
            <a:r>
              <a:rPr lang="en-US" sz="3600" dirty="0" smtClean="0"/>
              <a:t>Headers</a:t>
            </a:r>
          </a:p>
          <a:p>
            <a:endParaRPr lang="en-US" sz="3600" dirty="0" smtClean="0"/>
          </a:p>
          <a:p>
            <a:r>
              <a:rPr lang="en-US" sz="3600" dirty="0" smtClean="0"/>
              <a:t>Body (optional)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1917008603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Request Methods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8462746" cy="273921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800100" lvl="1" indent="-342900">
              <a:buFont typeface="Calibri" pitchFamily="34" charset="0"/>
              <a:buChar char="›"/>
            </a:pPr>
            <a:r>
              <a:rPr lang="en-US" sz="3200" dirty="0" smtClean="0"/>
              <a:t>GET</a:t>
            </a:r>
            <a:endParaRPr lang="en-US" sz="32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200" dirty="0" smtClean="0"/>
              <a:t>POST</a:t>
            </a:r>
            <a:endParaRPr lang="en-US" sz="32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200" dirty="0" smtClean="0"/>
              <a:t>HEAD</a:t>
            </a:r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200" dirty="0" smtClean="0"/>
              <a:t>PUT, DELETE, OPTIONS, TRACE, CONNECT</a:t>
            </a:r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3200" dirty="0" smtClean="0"/>
              <a:t>More…</a:t>
            </a:r>
          </a:p>
          <a:p>
            <a:pPr marL="800100" lvl="1" indent="-342900">
              <a:buFont typeface="Calibri" pitchFamily="34" charset="0"/>
              <a:buChar char="›"/>
            </a:pPr>
            <a:endParaRPr lang="en-US" sz="12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  <p:sp>
        <p:nvSpPr>
          <p:cNvPr id="7" name="TextBox 6"/>
          <p:cNvSpPr txBox="1"/>
          <p:nvPr/>
        </p:nvSpPr>
        <p:spPr>
          <a:xfrm>
            <a:off x="6934202" y="1717637"/>
            <a:ext cx="2057400" cy="64633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verbs</a:t>
            </a:r>
            <a:endParaRPr lang="en-US" sz="3600" dirty="0"/>
          </a:p>
        </p:txBody>
      </p:sp>
      <p:sp>
        <p:nvSpPr>
          <p:cNvPr id="12" name="TextBox 11"/>
          <p:cNvSpPr txBox="1"/>
          <p:nvPr/>
        </p:nvSpPr>
        <p:spPr>
          <a:xfrm>
            <a:off x="6934202" y="2744601"/>
            <a:ext cx="2057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HTTP/1.1</a:t>
            </a:r>
            <a:endParaRPr lang="en-US" sz="3200" dirty="0"/>
          </a:p>
        </p:txBody>
      </p:sp>
      <p:sp>
        <p:nvSpPr>
          <p:cNvPr id="13" name="TextBox 12"/>
          <p:cNvSpPr txBox="1"/>
          <p:nvPr/>
        </p:nvSpPr>
        <p:spPr>
          <a:xfrm>
            <a:off x="7048500" y="4356892"/>
            <a:ext cx="2057400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200" dirty="0" smtClean="0"/>
              <a:t>extensions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801926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1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4" fill="hold">
                      <p:stCondLst>
                        <p:cond delay="indefinite"/>
                      </p:stCondLst>
                      <p:childTnLst>
                        <p:par>
                          <p:cTn id="15" fill="hold">
                            <p:stCondLst>
                              <p:cond delay="0"/>
                            </p:stCondLst>
                            <p:childTnLst>
                              <p:par>
                                <p:cTn id="1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8" dur="500"/>
                                        <p:tgtEl>
                                          <p:spTgt spid="7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9" fill="hold">
                      <p:stCondLst>
                        <p:cond delay="indefinite"/>
                      </p:stCondLst>
                      <p:childTnLst>
                        <p:par>
                          <p:cTn id="20" fill="hold">
                            <p:stCondLst>
                              <p:cond delay="0"/>
                            </p:stCondLst>
                            <p:childTnLst>
                              <p:par>
                                <p:cTn id="2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3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4" fill="hold">
                      <p:stCondLst>
                        <p:cond delay="indefinite"/>
                      </p:stCondLst>
                      <p:childTnLst>
                        <p:par>
                          <p:cTn id="25" fill="hold">
                            <p:stCondLst>
                              <p:cond delay="0"/>
                            </p:stCondLst>
                            <p:childTnLst>
                              <p:par>
                                <p:cTn id="2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8" dur="500"/>
                                        <p:tgtEl>
                                          <p:spTgt spid="12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9" fill="hold">
                      <p:stCondLst>
                        <p:cond delay="indefinite"/>
                      </p:stCondLst>
                      <p:childTnLst>
                        <p:par>
                          <p:cTn id="30" fill="hold">
                            <p:stCondLst>
                              <p:cond delay="0"/>
                            </p:stCondLst>
                            <p:childTnLst>
                              <p:par>
                                <p:cTn id="31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1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HTTP Response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82296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HTTP/1.1   200   OK</a:t>
            </a:r>
          </a:p>
          <a:p>
            <a:endParaRPr lang="en-US" sz="12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2400" dirty="0" smtClean="0"/>
              <a:t>HTTP Version</a:t>
            </a:r>
            <a:endParaRPr lang="en-US" sz="24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2400" dirty="0" smtClean="0"/>
              <a:t>Status Code</a:t>
            </a:r>
            <a:endParaRPr lang="en-US" sz="2400" dirty="0"/>
          </a:p>
          <a:p>
            <a:pPr marL="800100" lvl="1" indent="-342900">
              <a:buFont typeface="Calibri" pitchFamily="34" charset="0"/>
              <a:buChar char="›"/>
            </a:pPr>
            <a:r>
              <a:rPr lang="en-US" sz="2400" dirty="0" smtClean="0"/>
              <a:t>Status Message</a:t>
            </a:r>
          </a:p>
          <a:p>
            <a:pPr marL="800100" lvl="1" indent="-342900">
              <a:buFont typeface="Calibri" pitchFamily="34" charset="0"/>
              <a:buChar char="›"/>
            </a:pPr>
            <a:endParaRPr lang="en-US" sz="2400" dirty="0"/>
          </a:p>
          <a:p>
            <a:r>
              <a:rPr lang="en-US" sz="3600" dirty="0"/>
              <a:t>Headers</a:t>
            </a:r>
          </a:p>
          <a:p>
            <a:endParaRPr lang="en-US" sz="3600" dirty="0"/>
          </a:p>
          <a:p>
            <a:r>
              <a:rPr lang="en-US" sz="3600" dirty="0" smtClean="0"/>
              <a:t>Body (optional)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01926068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Response Status codes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4576549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200 – OK </a:t>
            </a:r>
          </a:p>
          <a:p>
            <a:r>
              <a:rPr lang="en-US" sz="2400" dirty="0" smtClean="0"/>
              <a:t>301 – Moved permanently</a:t>
            </a:r>
          </a:p>
          <a:p>
            <a:r>
              <a:rPr lang="en-US" sz="2400" dirty="0" smtClean="0"/>
              <a:t>304 – Not modified</a:t>
            </a:r>
          </a:p>
          <a:p>
            <a:r>
              <a:rPr lang="en-US" sz="2400" dirty="0" smtClean="0"/>
              <a:t>401 – Unauthorized</a:t>
            </a:r>
          </a:p>
          <a:p>
            <a:r>
              <a:rPr lang="en-US" sz="2400" dirty="0" smtClean="0"/>
              <a:t>403 – Forbidden </a:t>
            </a:r>
            <a:endParaRPr lang="en-US" sz="2400" dirty="0"/>
          </a:p>
          <a:p>
            <a:r>
              <a:rPr lang="en-US" sz="2400" dirty="0" smtClean="0"/>
              <a:t>404 – Not found</a:t>
            </a:r>
          </a:p>
          <a:p>
            <a:r>
              <a:rPr lang="en-US" sz="2400" dirty="0" smtClean="0"/>
              <a:t>500 – Internal Server Error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5334000" y="1710013"/>
            <a:ext cx="3581397" cy="193899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100s – informational</a:t>
            </a:r>
          </a:p>
          <a:p>
            <a:r>
              <a:rPr lang="en-US" sz="2400" dirty="0" smtClean="0"/>
              <a:t>200s – success </a:t>
            </a:r>
          </a:p>
          <a:p>
            <a:r>
              <a:rPr lang="en-US" sz="2400" dirty="0" smtClean="0"/>
              <a:t>300s – redirect</a:t>
            </a:r>
          </a:p>
          <a:p>
            <a:r>
              <a:rPr lang="en-US" sz="2400" dirty="0" smtClean="0"/>
              <a:t>400s – client error</a:t>
            </a:r>
          </a:p>
          <a:p>
            <a:r>
              <a:rPr lang="en-US" sz="2400" dirty="0" smtClean="0"/>
              <a:t>500s – server error</a:t>
            </a:r>
          </a:p>
        </p:txBody>
      </p:sp>
    </p:spTree>
    <p:extLst>
      <p:ext uri="{BB962C8B-B14F-4D97-AF65-F5344CB8AC3E}">
        <p14:creationId xmlns:p14="http://schemas.microsoft.com/office/powerpoint/2010/main" val="100553755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2" presetClass="entr" presetSubtype="4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id="7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ppt_x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#ppt_x"/>
                                          </p:val>
                                        </p:tav>
                                        <p:tav tm="100000">
                                          <p:val>
                                            <p:strVal val="#ppt_x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id="8" dur="500" fill="hold"/>
                                        <p:tgtEl>
                                          <p:spTgt spid="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tm="0">
                                          <p:val>
                                            <p:strVal val="1+#ppt_h/2"/>
                                          </p:val>
                                        </p:tav>
                                        <p:tav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9" fill="hold">
                      <p:stCondLst>
                        <p:cond delay="indefinite"/>
                      </p:stCondLst>
                      <p:childTnLst>
                        <p:par>
                          <p:cTn id="10" fill="hold">
                            <p:stCondLst>
                              <p:cond delay="0"/>
                            </p:stCondLst>
                            <p:childTnLst>
                              <p:par>
                                <p:cTn id="11" presetID="10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3" dur="500"/>
                                        <p:tgtEl>
                                          <p:spTgt spid="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3" grpId="0"/>
      <p:bldP spid="9" grpId="0"/>
    </p:bld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HTTP Session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20806" y="1278592"/>
            <a:ext cx="8229600" cy="489364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/>
              <a:t>HTTP is inherently stateless</a:t>
            </a:r>
          </a:p>
          <a:p>
            <a:endParaRPr lang="en-US" sz="2400" dirty="0" smtClean="0"/>
          </a:p>
          <a:p>
            <a:r>
              <a:rPr lang="en-US" sz="3600" dirty="0" smtClean="0"/>
              <a:t>Initiated </a:t>
            </a:r>
            <a:r>
              <a:rPr lang="en-US" sz="3600" dirty="0"/>
              <a:t>by </a:t>
            </a:r>
            <a:r>
              <a:rPr lang="en-US" sz="3600" dirty="0" smtClean="0"/>
              <a:t>client request</a:t>
            </a:r>
            <a:endParaRPr lang="en-US" sz="3600" dirty="0"/>
          </a:p>
          <a:p>
            <a:endParaRPr lang="en-US" sz="2400" dirty="0" smtClean="0"/>
          </a:p>
          <a:p>
            <a:r>
              <a:rPr lang="en-US" sz="2400" dirty="0" smtClean="0"/>
              <a:t>TCP socket connection created -- It may be closed by either end.</a:t>
            </a:r>
          </a:p>
          <a:p>
            <a:endParaRPr lang="en-US" sz="2400" dirty="0" smtClean="0"/>
          </a:p>
          <a:p>
            <a:r>
              <a:rPr lang="en-US" sz="3600" dirty="0" smtClean="0"/>
              <a:t>Server sends a response with status code</a:t>
            </a:r>
          </a:p>
          <a:p>
            <a:endParaRPr lang="en-US" sz="2400" dirty="0" smtClean="0"/>
          </a:p>
          <a:p>
            <a:r>
              <a:rPr lang="en-US" sz="2400" dirty="0" smtClean="0"/>
              <a:t>It may </a:t>
            </a:r>
            <a:r>
              <a:rPr lang="en-US" sz="2400" dirty="0"/>
              <a:t>include additional resources </a:t>
            </a:r>
            <a:r>
              <a:rPr lang="en-US" sz="2400" dirty="0" smtClean="0"/>
              <a:t>(</a:t>
            </a:r>
            <a:r>
              <a:rPr lang="en-US" sz="2400" dirty="0" err="1"/>
              <a:t>eg</a:t>
            </a:r>
            <a:r>
              <a:rPr lang="en-US" sz="2400" dirty="0"/>
              <a:t>. images, </a:t>
            </a:r>
            <a:r>
              <a:rPr lang="en-US" sz="2400" dirty="0" smtClean="0"/>
              <a:t>JavaScript files)</a:t>
            </a:r>
          </a:p>
          <a:p>
            <a:endParaRPr lang="en-US" sz="2400" dirty="0"/>
          </a:p>
          <a:p>
            <a:r>
              <a:rPr lang="en-US" sz="3600" dirty="0"/>
              <a:t>Connection: </a:t>
            </a:r>
            <a:r>
              <a:rPr lang="en-US" sz="3600" dirty="0" smtClean="0"/>
              <a:t>keep-alive or close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01926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3" fill="hold">
                      <p:stCondLst>
                        <p:cond delay="indefinite"/>
                      </p:stCondLst>
                      <p:childTnLst>
                        <p:par>
                          <p:cTn id="24" fill="hold">
                            <p:stCondLst>
                              <p:cond delay="0"/>
                            </p:stCondLst>
                            <p:childTnLst>
                              <p:par>
                                <p:cTn id="2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7" dur="500"/>
                                        <p:tgtEl>
                                          <p:spTgt spid="3">
                                            <p:txEl>
                                              <p:pRg st="8" end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8" fill="hold">
                      <p:stCondLst>
                        <p:cond delay="indefinite"/>
                      </p:stCondLst>
                      <p:childTnLst>
                        <p:par>
                          <p:cTn id="29" fill="hold">
                            <p:stCondLst>
                              <p:cond delay="0"/>
                            </p:stCondLst>
                            <p:childTnLst>
                              <p:par>
                                <p:cTn id="3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2" dur="500"/>
                                        <p:tgtEl>
                                          <p:spTgt spid="3">
                                            <p:txEl>
                                              <p:pRg st="10" end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HTTP Headers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8229600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HTTP Headers are immediately after the request or response status</a:t>
            </a:r>
          </a:p>
          <a:p>
            <a:endParaRPr lang="en-US" sz="3600" dirty="0" smtClean="0"/>
          </a:p>
          <a:p>
            <a:r>
              <a:rPr lang="en-US" sz="3600" dirty="0" smtClean="0"/>
              <a:t>One header per line</a:t>
            </a:r>
          </a:p>
          <a:p>
            <a:endParaRPr lang="en-US" sz="3600" dirty="0" smtClean="0"/>
          </a:p>
          <a:p>
            <a:r>
              <a:rPr lang="en-US" sz="3600" dirty="0" smtClean="0"/>
              <a:t>Name: value</a:t>
            </a:r>
          </a:p>
          <a:p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01926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Common HTTP Headers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0" y="1447800"/>
            <a:ext cx="3585949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Request</a:t>
            </a:r>
          </a:p>
          <a:p>
            <a:r>
              <a:rPr lang="en-US" sz="2400" dirty="0" smtClean="0"/>
              <a:t>Host</a:t>
            </a:r>
          </a:p>
          <a:p>
            <a:r>
              <a:rPr lang="en-US" sz="2400" dirty="0" smtClean="0"/>
              <a:t>User-Agent</a:t>
            </a:r>
          </a:p>
          <a:p>
            <a:r>
              <a:rPr lang="en-US" sz="2400" dirty="0" err="1"/>
              <a:t>Referer</a:t>
            </a:r>
            <a:endParaRPr lang="en-US" sz="2400" dirty="0" smtClean="0"/>
          </a:p>
          <a:p>
            <a:r>
              <a:rPr lang="en-US" sz="2400" dirty="0" smtClean="0"/>
              <a:t>Accept</a:t>
            </a:r>
          </a:p>
          <a:p>
            <a:r>
              <a:rPr lang="en-US" sz="2400" dirty="0" smtClean="0"/>
              <a:t>Content-Type</a:t>
            </a:r>
          </a:p>
          <a:p>
            <a:r>
              <a:rPr lang="en-US" sz="2400" dirty="0" smtClean="0"/>
              <a:t>Content-Length</a:t>
            </a:r>
          </a:p>
          <a:p>
            <a:r>
              <a:rPr lang="en-US" sz="2400" dirty="0" smtClean="0"/>
              <a:t>Connection: keep-alive</a:t>
            </a:r>
          </a:p>
          <a:p>
            <a:r>
              <a:rPr lang="en-US" sz="2400" dirty="0" smtClean="0"/>
              <a:t>Authorization</a:t>
            </a:r>
            <a:br>
              <a:rPr lang="en-US" sz="2400" dirty="0" smtClean="0"/>
            </a:br>
            <a:r>
              <a:rPr lang="en-US" sz="2400" dirty="0" smtClean="0"/>
              <a:t>Cookie</a:t>
            </a:r>
            <a:endParaRPr lang="en-US" sz="24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  <p:sp>
        <p:nvSpPr>
          <p:cNvPr id="9" name="TextBox 8"/>
          <p:cNvSpPr txBox="1"/>
          <p:nvPr/>
        </p:nvSpPr>
        <p:spPr>
          <a:xfrm>
            <a:off x="4572001" y="1447800"/>
            <a:ext cx="3994244" cy="397031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u="sng" dirty="0" smtClean="0"/>
              <a:t>Response</a:t>
            </a:r>
          </a:p>
          <a:p>
            <a:r>
              <a:rPr lang="en-US" sz="2400" dirty="0" smtClean="0"/>
              <a:t>Server</a:t>
            </a:r>
          </a:p>
          <a:p>
            <a:r>
              <a:rPr lang="en-US" sz="2400" dirty="0" smtClean="0"/>
              <a:t>Date</a:t>
            </a:r>
            <a:endParaRPr lang="en-US" sz="2400" dirty="0"/>
          </a:p>
          <a:p>
            <a:r>
              <a:rPr lang="en-US" sz="2400" dirty="0" smtClean="0"/>
              <a:t>Last-Modified	</a:t>
            </a:r>
          </a:p>
          <a:p>
            <a:r>
              <a:rPr lang="en-US" sz="2400" dirty="0"/>
              <a:t>Expires</a:t>
            </a:r>
          </a:p>
          <a:p>
            <a:r>
              <a:rPr lang="en-US" sz="2400" dirty="0" smtClean="0"/>
              <a:t>Content-Type</a:t>
            </a:r>
          </a:p>
          <a:p>
            <a:r>
              <a:rPr lang="en-US" sz="2400" dirty="0" smtClean="0"/>
              <a:t>Content-Length</a:t>
            </a:r>
          </a:p>
          <a:p>
            <a:r>
              <a:rPr lang="en-US" sz="2400" dirty="0" smtClean="0"/>
              <a:t>Connection: close</a:t>
            </a:r>
            <a:br>
              <a:rPr lang="en-US" sz="2400" dirty="0" smtClean="0"/>
            </a:br>
            <a:r>
              <a:rPr lang="en-US" sz="2400" dirty="0"/>
              <a:t>Cache-Control </a:t>
            </a:r>
          </a:p>
          <a:p>
            <a:r>
              <a:rPr lang="en-US" sz="2400" dirty="0" smtClean="0"/>
              <a:t>Set-Cookie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758055242"/>
      </p:ext>
    </p:extLst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HTTP Body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452651" y="1710013"/>
            <a:ext cx="8229600" cy="415498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sz="3600" dirty="0" smtClean="0"/>
              <a:t>Body is optional</a:t>
            </a:r>
          </a:p>
          <a:p>
            <a:r>
              <a:rPr lang="en-US" sz="3600" dirty="0" smtClean="0"/>
              <a:t>1 blank line between headers and body</a:t>
            </a:r>
          </a:p>
          <a:p>
            <a:r>
              <a:rPr lang="en-US" sz="3600" dirty="0" smtClean="0"/>
              <a:t>Content-length tells how long the body is</a:t>
            </a:r>
          </a:p>
          <a:p>
            <a:r>
              <a:rPr lang="en-US" sz="3600" dirty="0" smtClean="0"/>
              <a:t>POST requests typically includes a body</a:t>
            </a:r>
          </a:p>
          <a:p>
            <a:r>
              <a:rPr lang="en-US" sz="2400" dirty="0" smtClean="0"/>
              <a:t>	Content-type: application/x-www-form-</a:t>
            </a:r>
            <a:r>
              <a:rPr lang="en-US" sz="2400" dirty="0" err="1" smtClean="0"/>
              <a:t>urlencoded</a:t>
            </a:r>
            <a:endParaRPr lang="en-US" sz="2400" dirty="0" smtClean="0"/>
          </a:p>
          <a:p>
            <a:r>
              <a:rPr lang="en-US" sz="3600" dirty="0" smtClean="0"/>
              <a:t>File Upload</a:t>
            </a:r>
          </a:p>
          <a:p>
            <a:r>
              <a:rPr lang="en-US" sz="2400" dirty="0"/>
              <a:t>	Content-type: </a:t>
            </a:r>
            <a:r>
              <a:rPr lang="en-US" sz="2400" dirty="0" smtClean="0"/>
              <a:t>multipart/form-data; boundary=</a:t>
            </a:r>
            <a:endParaRPr lang="en-US" sz="3600" dirty="0" smtClean="0"/>
          </a:p>
          <a:p>
            <a:r>
              <a:rPr lang="en-US" sz="3600" dirty="0" smtClean="0"/>
              <a:t>Response has body unless HEAD, 1xx, error</a:t>
            </a:r>
            <a:endParaRPr lang="en-US" sz="36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801926068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5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8" fill="hold">
                      <p:stCondLst>
                        <p:cond delay="indefinite"/>
                      </p:stCondLst>
                      <p:childTnLst>
                        <p:par>
                          <p:cTn id="9" fill="hold">
                            <p:stCondLst>
                              <p:cond delay="0"/>
                            </p:stCondLst>
                            <p:childTnLst>
                              <p:par>
                                <p:cTn id="1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2" dur="500"/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3" fill="hold">
                      <p:stCondLst>
                        <p:cond delay="indefinite"/>
                      </p:stCondLst>
                      <p:childTnLst>
                        <p:par>
                          <p:cTn id="14" fill="hold">
                            <p:stCondLst>
                              <p:cond delay="0"/>
                            </p:stCondLst>
                            <p:childTnLst>
                              <p:par>
                                <p:cTn id="15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7" dur="500"/>
                                        <p:tgtEl>
                                          <p:spTgt spid="3">
                                            <p:txEl>
                                              <p:pRg st="2" end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8" fill="hold">
                      <p:stCondLst>
                        <p:cond delay="indefinite"/>
                      </p:stCondLst>
                      <p:childTnLst>
                        <p:par>
                          <p:cTn id="19" fill="hold">
                            <p:stCondLst>
                              <p:cond delay="0"/>
                            </p:stCondLst>
                            <p:childTnLst>
                              <p:par>
                                <p:cTn id="20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1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2" dur="500"/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23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25" dur="500"/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26" fill="hold">
                      <p:stCondLst>
                        <p:cond delay="indefinite"/>
                      </p:stCondLst>
                      <p:childTnLst>
                        <p:par>
                          <p:cTn id="27" fill="hold">
                            <p:stCondLst>
                              <p:cond delay="0"/>
                            </p:stCondLst>
                            <p:childTnLst>
                              <p:par>
                                <p:cTn id="28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0" dur="500"/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31" presetID="10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2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3" dur="500"/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34" fill="hold">
                      <p:stCondLst>
                        <p:cond delay="indefinite"/>
                      </p:stCondLst>
                      <p:childTnLst>
                        <p:par>
                          <p:cTn id="35" fill="hold">
                            <p:stCondLst>
                              <p:cond delay="0"/>
                            </p:stCondLst>
                            <p:childTnLst>
                              <p:par>
                                <p:cTn id="36" presetID="10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37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38" dur="500"/>
                                        <p:tgtEl>
                                          <p:spTgt spid="3">
                                            <p:txEl>
                                              <p:pRg st="7" end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Exercise: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228600" y="1710013"/>
            <a:ext cx="8686797" cy="36009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Interacting with HTTP </a:t>
            </a:r>
          </a:p>
          <a:p>
            <a:pPr algn="ctr"/>
            <a:r>
              <a:rPr lang="en-US" sz="3600" dirty="0" smtClean="0"/>
              <a:t>from the command line</a:t>
            </a:r>
          </a:p>
          <a:p>
            <a:endParaRPr lang="en-US" sz="1200" dirty="0"/>
          </a:p>
          <a:p>
            <a:pPr lvl="7"/>
            <a:r>
              <a:rPr lang="en-US" sz="3600" dirty="0" smtClean="0"/>
              <a:t>telnet</a:t>
            </a:r>
          </a:p>
          <a:p>
            <a:pPr lvl="7"/>
            <a:r>
              <a:rPr lang="en-US" sz="3600" dirty="0" err="1" smtClean="0"/>
              <a:t>netcat</a:t>
            </a:r>
            <a:endParaRPr lang="en-US" sz="3600" dirty="0" smtClean="0"/>
          </a:p>
          <a:p>
            <a:pPr lvl="7"/>
            <a:r>
              <a:rPr lang="en-US" sz="3600" dirty="0" err="1" smtClean="0"/>
              <a:t>wget</a:t>
            </a:r>
            <a:endParaRPr lang="en-US" sz="3600" dirty="0" smtClean="0"/>
          </a:p>
          <a:p>
            <a:pPr lvl="7"/>
            <a:r>
              <a:rPr lang="en-US" sz="3600" dirty="0" smtClean="0"/>
              <a:t>curl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387551581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11" fill="hold">
                      <p:stCondLst>
                        <p:cond delay="indefinite"/>
                      </p:stCondLst>
                      <p:childTnLst>
                        <p:par>
                          <p:cTn id="12" fill="hold">
                            <p:stCondLst>
                              <p:cond delay="0"/>
                            </p:stCondLst>
                            <p:childTnLst>
                              <p:par>
                                <p:cTn id="13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4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3" end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5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4" end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7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8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5" end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  <p:par>
                                <p:cTn id="19" presetID="1" presetClass="entr" presetSubtype="0" fill="hold" nodeType="with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2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6" end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/>
          <p:cNvSpPr/>
          <p:nvPr/>
        </p:nvSpPr>
        <p:spPr>
          <a:xfrm>
            <a:off x="0" y="6096000"/>
            <a:ext cx="9144000" cy="762000"/>
          </a:xfrm>
          <a:prstGeom prst="rect">
            <a:avLst/>
          </a:prstGeom>
          <a:solidFill>
            <a:schemeClr val="tx1">
              <a:lumMod val="85000"/>
              <a:lumOff val="15000"/>
            </a:schemeClr>
          </a:solidFill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0" name="TextBox 9"/>
          <p:cNvSpPr txBox="1"/>
          <p:nvPr/>
        </p:nvSpPr>
        <p:spPr>
          <a:xfrm>
            <a:off x="1905000" y="6324600"/>
            <a:ext cx="4648200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dirty="0" smtClean="0">
                <a:solidFill>
                  <a:schemeClr val="bg1"/>
                </a:solidFill>
                <a:latin typeface="Verdana" pitchFamily="34" charset="0"/>
                <a:ea typeface="Verdana" pitchFamily="34" charset="0"/>
                <a:cs typeface="Verdana" pitchFamily="34" charset="0"/>
              </a:rPr>
              <a:t>Understanding HTTP</a:t>
            </a:r>
            <a:endParaRPr lang="en-US" dirty="0">
              <a:solidFill>
                <a:schemeClr val="bg1"/>
              </a:solidFill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18" name="TextBox 17"/>
          <p:cNvSpPr txBox="1"/>
          <p:nvPr/>
        </p:nvSpPr>
        <p:spPr>
          <a:xfrm>
            <a:off x="0" y="457200"/>
            <a:ext cx="9144000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4800" dirty="0" smtClean="0"/>
              <a:t>Exercise:</a:t>
            </a:r>
            <a:endParaRPr lang="en-US" sz="4800" dirty="0" smtClean="0"/>
          </a:p>
        </p:txBody>
      </p:sp>
      <p:pic>
        <p:nvPicPr>
          <p:cNvPr id="5" name="Picture 3"/>
          <p:cNvPicPr>
            <a:picLocks noChangeAspect="1" noChangeArrowheads="1"/>
          </p:cNvPicPr>
          <p:nvPr/>
        </p:nvPicPr>
        <p:blipFill>
          <a:blip r:embed="rId3" cstate="print"/>
          <a:srcRect/>
          <a:stretch>
            <a:fillRect/>
          </a:stretch>
        </p:blipFill>
        <p:spPr bwMode="auto">
          <a:xfrm>
            <a:off x="228600" y="6248400"/>
            <a:ext cx="1371600" cy="4103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pic>
        <p:nvPicPr>
          <p:cNvPr id="6" name="Picture 9"/>
          <p:cNvPicPr>
            <a:picLocks noChangeAspect="1" noChangeArrowheads="1"/>
          </p:cNvPicPr>
          <p:nvPr/>
        </p:nvPicPr>
        <p:blipFill>
          <a:blip r:embed="rId4" cstate="print"/>
          <a:srcRect/>
          <a:stretch>
            <a:fillRect/>
          </a:stretch>
        </p:blipFill>
        <p:spPr bwMode="auto">
          <a:xfrm>
            <a:off x="6934202" y="6248400"/>
            <a:ext cx="1981195" cy="43123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3" name="TextBox 2"/>
          <p:cNvSpPr txBox="1"/>
          <p:nvPr/>
        </p:nvSpPr>
        <p:spPr>
          <a:xfrm>
            <a:off x="228600" y="1710013"/>
            <a:ext cx="8686797" cy="138499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sz="3600" dirty="0" smtClean="0"/>
              <a:t>Interacting with HTTP </a:t>
            </a:r>
          </a:p>
          <a:p>
            <a:pPr algn="ctr"/>
            <a:r>
              <a:rPr lang="en-US" sz="3600" dirty="0" smtClean="0"/>
              <a:t>using Fiddler</a:t>
            </a:r>
          </a:p>
          <a:p>
            <a:endParaRPr lang="en-US" sz="1200" dirty="0"/>
          </a:p>
        </p:txBody>
      </p:sp>
      <p:sp>
        <p:nvSpPr>
          <p:cNvPr id="11" name="TextBox 10"/>
          <p:cNvSpPr txBox="1"/>
          <p:nvPr/>
        </p:nvSpPr>
        <p:spPr>
          <a:xfrm>
            <a:off x="8077200" y="0"/>
            <a:ext cx="1066799" cy="461665"/>
          </a:xfrm>
          <a:prstGeom prst="rect">
            <a:avLst/>
          </a:prstGeom>
          <a:solidFill>
            <a:schemeClr val="bg2">
              <a:lumMod val="75000"/>
            </a:schemeClr>
          </a:solidFill>
        </p:spPr>
        <p:txBody>
          <a:bodyPr wrap="square" rtlCol="0">
            <a:spAutoFit/>
          </a:bodyPr>
          <a:lstStyle/>
          <a:p>
            <a:r>
              <a:rPr lang="en-US" sz="2400" dirty="0" smtClean="0"/>
              <a:t>HTTP</a:t>
            </a:r>
            <a:endParaRPr lang="en-US" sz="2400" dirty="0"/>
          </a:p>
        </p:txBody>
      </p:sp>
    </p:spTree>
    <p:extLst>
      <p:ext uri="{BB962C8B-B14F-4D97-AF65-F5344CB8AC3E}">
        <p14:creationId xmlns:p14="http://schemas.microsoft.com/office/powerpoint/2010/main" val="262732913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id="7" fill="hold">
                      <p:stCondLst>
                        <p:cond delay="indefinite"/>
                      </p:stCondLst>
                      <p:childTnLst>
                        <p:par>
                          <p:cTn id="8" fill="hold">
                            <p:stCondLst>
                              <p:cond delay="0"/>
                            </p:stCondLst>
                            <p:childTnLst>
                              <p:par>
                                <p:cTn id="9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10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1" end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357</TotalTime>
  <Words>779</Words>
  <Application>Microsoft Office PowerPoint</Application>
  <PresentationFormat>On-screen Show (4:3)</PresentationFormat>
  <Paragraphs>291</Paragraphs>
  <Slides>22</Slides>
  <Notes>22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3" baseType="lpstr"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Ancestry.com Operations, Inc.</Company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Aaron Evans</dc:creator>
  <cp:lastModifiedBy>Aaron Evans</cp:lastModifiedBy>
  <cp:revision>95</cp:revision>
  <dcterms:created xsi:type="dcterms:W3CDTF">2013-03-12T20:52:24Z</dcterms:created>
  <dcterms:modified xsi:type="dcterms:W3CDTF">2013-03-15T21:57:18Z</dcterms:modified>
</cp:coreProperties>
</file>
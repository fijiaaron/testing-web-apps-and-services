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notesSlides/notesSlide18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2.xml" ContentType="application/vnd.openxmlformats-officedocument.presentationml.notes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9.xml" ContentType="application/vnd.openxmlformats-officedocument.presentationml.notes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17.xml" ContentType="application/vnd.openxmlformats-officedocument.presentationml.notesSlide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7" r:id="rId2"/>
    <p:sldId id="259" r:id="rId3"/>
    <p:sldId id="268" r:id="rId4"/>
    <p:sldId id="269" r:id="rId5"/>
    <p:sldId id="260" r:id="rId6"/>
    <p:sldId id="261" r:id="rId7"/>
    <p:sldId id="270" r:id="rId8"/>
    <p:sldId id="271" r:id="rId9"/>
    <p:sldId id="282" r:id="rId10"/>
    <p:sldId id="262" r:id="rId11"/>
    <p:sldId id="283" r:id="rId12"/>
    <p:sldId id="284" r:id="rId13"/>
    <p:sldId id="277" r:id="rId14"/>
    <p:sldId id="272" r:id="rId15"/>
    <p:sldId id="273" r:id="rId16"/>
    <p:sldId id="280" r:id="rId17"/>
    <p:sldId id="274" r:id="rId18"/>
    <p:sldId id="275" r:id="rId19"/>
    <p:sldId id="281" r:id="rId20"/>
    <p:sldId id="276" r:id="rId21"/>
    <p:sldId id="278" r:id="rId22"/>
    <p:sldId id="285" r:id="rId2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9667" autoAdjust="0"/>
  </p:normalViewPr>
  <p:slideViewPr>
    <p:cSldViewPr>
      <p:cViewPr varScale="1">
        <p:scale>
          <a:sx n="81" d="100"/>
          <a:sy n="81" d="100"/>
        </p:scale>
        <p:origin x="-1848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D5BA7-B707-45D4-A387-3F9FDC15B41A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AB9FF4-AA6D-402C-8BBD-98529578E01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922155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PCData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Parsed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Character Data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Keepalive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467862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172054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42541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63381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530483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712280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02299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557315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063611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08447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703934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281C71-67CB-4B59-A913-96D3D28CB4D7}" type="datetimeFigureOut">
              <a:rPr lang="en-US" smtClean="0"/>
              <a:pPr/>
              <a:t>3/17/2013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B19C03-38E8-41D9-9FE9-8743800C98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67964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www.example.com/path/to/file.html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example.com/file.html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2133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Understanding HTTP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4183032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Hypertext Transfer Protocol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Invented by Tim-Berners Lee at CERN</a:t>
            </a:r>
          </a:p>
          <a:p>
            <a:endParaRPr lang="en-US" sz="2400" dirty="0" smtClean="0"/>
          </a:p>
          <a:p>
            <a:r>
              <a:rPr lang="en-US" sz="3600" dirty="0" smtClean="0"/>
              <a:t>Part of the “</a:t>
            </a:r>
            <a:r>
              <a:rPr lang="en-US" sz="3600" dirty="0" err="1" smtClean="0"/>
              <a:t>WorldWideWeb</a:t>
            </a:r>
            <a:r>
              <a:rPr lang="en-US" sz="3600" dirty="0" smtClean="0"/>
              <a:t>” standard</a:t>
            </a:r>
          </a:p>
          <a:p>
            <a:endParaRPr lang="en-US" sz="2400" dirty="0"/>
          </a:p>
          <a:p>
            <a:r>
              <a:rPr lang="en-US" sz="3600" dirty="0"/>
              <a:t>Originally always returned HTML document</a:t>
            </a:r>
          </a:p>
          <a:p>
            <a:endParaRPr lang="en-US" sz="2400" dirty="0"/>
          </a:p>
          <a:p>
            <a:r>
              <a:rPr lang="en-US" sz="3600" dirty="0" smtClean="0"/>
              <a:t>Standard developed by the IETF and W3C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4158060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URLs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288197"/>
            <a:ext cx="8462746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Uniform Resource Locators</a:t>
            </a:r>
          </a:p>
          <a:p>
            <a:endParaRPr lang="en-US" sz="1200" dirty="0" smtClean="0"/>
          </a:p>
          <a:p>
            <a:r>
              <a:rPr lang="en-US" sz="3200" dirty="0" smtClean="0">
                <a:hlinkClick r:id="rId5"/>
              </a:rPr>
              <a:t>http://www.example.com/path/to/file.html</a:t>
            </a:r>
            <a:endParaRPr lang="en-US" sz="3200" dirty="0" smtClean="0"/>
          </a:p>
          <a:p>
            <a:pPr marL="0" lvl="1"/>
            <a:endParaRPr lang="en-US" sz="12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/>
              <a:t>Globally unique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Text identifier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Case insensitive*</a:t>
            </a:r>
          </a:p>
          <a:p>
            <a:pPr marL="800100" lvl="1" indent="-342900">
              <a:buFont typeface="Calibri" pitchFamily="34" charset="0"/>
              <a:buChar char="›"/>
            </a:pPr>
            <a:endParaRPr lang="en-US" sz="1200" dirty="0" smtClean="0"/>
          </a:p>
          <a:p>
            <a:pPr marL="0" lvl="1"/>
            <a:r>
              <a:rPr lang="en-US" sz="2400" dirty="0" smtClean="0"/>
              <a:t>protocol://host.domain.tld/path.ext?query_string#anchor </a:t>
            </a:r>
          </a:p>
          <a:p>
            <a:pPr marL="0" lvl="1"/>
            <a:r>
              <a:rPr lang="en-US" sz="2400" dirty="0" smtClean="0"/>
              <a:t>scheme://user:password@domain:port/resource</a:t>
            </a:r>
          </a:p>
          <a:p>
            <a:pPr marL="342900" indent="-342900">
              <a:buFont typeface="Calibri" pitchFamily="34" charset="0"/>
              <a:buChar char="›"/>
            </a:pPr>
            <a:endParaRPr lang="en-US" sz="24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169853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Resources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Rectangle 1"/>
          <p:cNvSpPr/>
          <p:nvPr/>
        </p:nvSpPr>
        <p:spPr>
          <a:xfrm>
            <a:off x="426495" y="1752600"/>
            <a:ext cx="6477000" cy="36009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 smtClean="0"/>
              <a:t>A resource can be any of these:</a:t>
            </a:r>
          </a:p>
          <a:p>
            <a:endParaRPr lang="en-US" sz="1200" dirty="0" smtClean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Document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File</a:t>
            </a:r>
            <a:endParaRPr lang="en-US" sz="36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Data source</a:t>
            </a:r>
            <a:endParaRPr lang="en-US" sz="36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Service endpoint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Action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749838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Hyperlinks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Like footnotes that automatically load the referenced source document (and 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&lt;a </a:t>
            </a:r>
            <a:r>
              <a:rPr lang="en-US" sz="3600" dirty="0" err="1" smtClean="0"/>
              <a:t>href</a:t>
            </a:r>
            <a:r>
              <a:rPr lang="en-US" sz="3600" dirty="0" smtClean="0"/>
              <a:t>=“</a:t>
            </a:r>
            <a:r>
              <a:rPr lang="en-US" sz="3600" dirty="0" smtClean="0">
                <a:hlinkClick r:id="rId5"/>
              </a:rPr>
              <a:t>http://example.com/file.html</a:t>
            </a:r>
            <a:r>
              <a:rPr lang="en-US" sz="3600" dirty="0" smtClean="0"/>
              <a:t>”&gt;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315697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HTML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10569" y="1198055"/>
            <a:ext cx="82296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Hypertext Markup Language</a:t>
            </a:r>
          </a:p>
          <a:p>
            <a:pPr algn="ctr"/>
            <a:endParaRPr lang="en-US" sz="2400" dirty="0"/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Document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Semi-structured 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Hierarchical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Elements in &lt;brackets&gt;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Elements can have attributes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Rendered by a HTML browser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Presentation vs. semantic markup</a:t>
            </a:r>
            <a:endParaRPr lang="en-US" sz="3600" dirty="0"/>
          </a:p>
        </p:txBody>
      </p:sp>
      <p:sp>
        <p:nvSpPr>
          <p:cNvPr id="9" name="TextBox 8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315697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Example HTML document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76200" y="1319535"/>
            <a:ext cx="906779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&lt;html&gt;</a:t>
            </a:r>
          </a:p>
          <a:p>
            <a:pPr lvl="1"/>
            <a:r>
              <a:rPr lang="en-US" dirty="0" smtClean="0">
                <a:latin typeface="Consolas" pitchFamily="49" charset="0"/>
                <a:cs typeface="Consolas" pitchFamily="49" charset="0"/>
              </a:rPr>
              <a:t>&lt;head&gt;</a:t>
            </a: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&lt;title&gt;Greeting&lt;/title&gt;</a:t>
            </a:r>
          </a:p>
          <a:p>
            <a:pPr lvl="1"/>
            <a:r>
              <a:rPr lang="en-US" dirty="0" smtClean="0">
                <a:latin typeface="Consolas" pitchFamily="49" charset="0"/>
                <a:cs typeface="Consolas" pitchFamily="49" charset="0"/>
              </a:rPr>
              <a:t>&lt;/head&gt;</a:t>
            </a:r>
          </a:p>
          <a:p>
            <a:pPr lvl="1"/>
            <a:r>
              <a:rPr lang="en-US" dirty="0" smtClean="0">
                <a:latin typeface="Consolas" pitchFamily="49" charset="0"/>
                <a:cs typeface="Consolas" pitchFamily="49" charset="0"/>
              </a:rPr>
              <a:t>&lt;body&gt;</a:t>
            </a: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&lt;h1&gt;Hello, world!&lt;/h1&gt;</a:t>
            </a: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&lt;p&gt;</a:t>
            </a: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Do you want to respond in:</a:t>
            </a:r>
          </a:p>
          <a:p>
            <a:pPr lvl="3"/>
            <a:r>
              <a:rPr lang="en-US" dirty="0" smtClean="0">
                <a:latin typeface="Consolas" pitchFamily="49" charset="0"/>
                <a:cs typeface="Consolas" pitchFamily="49" charset="0"/>
              </a:rPr>
              <a:t>&lt;</a:t>
            </a:r>
            <a:r>
              <a:rPr lang="en-US" dirty="0" err="1" smtClean="0">
                <a:latin typeface="Consolas" pitchFamily="49" charset="0"/>
                <a:cs typeface="Consolas" pitchFamily="49" charset="0"/>
              </a:rPr>
              <a:t>ul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&gt;</a:t>
            </a:r>
          </a:p>
          <a:p>
            <a:pPr lvl="4"/>
            <a:r>
              <a:rPr lang="en-US" dirty="0">
                <a:latin typeface="Consolas" pitchFamily="49" charset="0"/>
                <a:cs typeface="Consolas" pitchFamily="49" charset="0"/>
              </a:rPr>
              <a:t>&lt;li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&gt; &lt;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a </a:t>
            </a:r>
            <a:r>
              <a:rPr lang="en-US" dirty="0" err="1">
                <a:latin typeface="Consolas" pitchFamily="49" charset="0"/>
                <a:cs typeface="Consolas" pitchFamily="49" charset="0"/>
              </a:rPr>
              <a:t>href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=“http://greeter/english”&gt;English&lt;/a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&gt; &lt;/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li&gt;</a:t>
            </a:r>
          </a:p>
          <a:p>
            <a:pPr lvl="4"/>
            <a:r>
              <a:rPr lang="en-US" dirty="0" smtClean="0">
                <a:latin typeface="Consolas" pitchFamily="49" charset="0"/>
                <a:cs typeface="Consolas" pitchFamily="49" charset="0"/>
              </a:rPr>
              <a:t>&lt;li&gt; &lt;a </a:t>
            </a:r>
            <a:r>
              <a:rPr lang="en-US" dirty="0" err="1" smtClean="0">
                <a:latin typeface="Consolas" pitchFamily="49" charset="0"/>
                <a:cs typeface="Consolas" pitchFamily="49" charset="0"/>
              </a:rPr>
              <a:t>href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=“http://greeter/spanish”&gt;Spanish&lt;/a&gt; &lt;/li&gt;</a:t>
            </a:r>
          </a:p>
          <a:p>
            <a:pPr lvl="3"/>
            <a:r>
              <a:rPr lang="en-US" dirty="0" smtClean="0">
                <a:latin typeface="Consolas" pitchFamily="49" charset="0"/>
                <a:cs typeface="Consolas" pitchFamily="49" charset="0"/>
              </a:rPr>
              <a:t>&lt;/</a:t>
            </a:r>
            <a:r>
              <a:rPr lang="en-US" dirty="0" err="1" smtClean="0">
                <a:latin typeface="Consolas" pitchFamily="49" charset="0"/>
                <a:cs typeface="Consolas" pitchFamily="49" charset="0"/>
              </a:rPr>
              <a:t>ul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&gt;</a:t>
            </a:r>
          </a:p>
          <a:p>
            <a:pPr lvl="3"/>
            <a:r>
              <a:rPr lang="en-US" dirty="0">
                <a:latin typeface="Consolas" pitchFamily="49" charset="0"/>
                <a:cs typeface="Consolas" pitchFamily="49" charset="0"/>
              </a:rPr>
              <a:t>&lt;!-- this is a comment </a:t>
            </a:r>
            <a:r>
              <a:rPr lang="en-US" dirty="0" smtClean="0">
                <a:latin typeface="Consolas" pitchFamily="49" charset="0"/>
                <a:cs typeface="Consolas" pitchFamily="49" charset="0"/>
                <a:sym typeface="Wingdings" pitchFamily="2" charset="2"/>
              </a:rPr>
              <a:t>--&gt;</a:t>
            </a:r>
            <a:endParaRPr lang="en-US" dirty="0" smtClean="0">
              <a:latin typeface="Consolas" pitchFamily="49" charset="0"/>
              <a:cs typeface="Consolas" pitchFamily="49" charset="0"/>
            </a:endParaRP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&lt;/p&gt;</a:t>
            </a:r>
          </a:p>
          <a:p>
            <a:pPr lvl="1"/>
            <a:r>
              <a:rPr lang="en-US" dirty="0" smtClean="0">
                <a:latin typeface="Consolas" pitchFamily="49" charset="0"/>
                <a:cs typeface="Consolas" pitchFamily="49" charset="0"/>
              </a:rPr>
              <a:t>&lt;/body&gt;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&lt;/html&gt;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304438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XML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12844" y="1288197"/>
            <a:ext cx="82296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Extensible Markup Language</a:t>
            </a:r>
          </a:p>
          <a:p>
            <a:pPr algn="ctr"/>
            <a:endParaRPr lang="en-US" sz="1200" dirty="0"/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Based on HTML </a:t>
            </a:r>
          </a:p>
          <a:p>
            <a:pPr marL="1028700" lvl="1" indent="-571500">
              <a:buFont typeface="Calibri" pitchFamily="34" charset="0"/>
              <a:buChar char="›"/>
            </a:pPr>
            <a:r>
              <a:rPr lang="en-US" sz="2400" dirty="0" smtClean="0"/>
              <a:t>uses angle &lt;brackets&gt;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Strictly Structured</a:t>
            </a:r>
            <a:endParaRPr lang="en-US" sz="3600" dirty="0"/>
          </a:p>
          <a:p>
            <a:pPr marL="1028700" lvl="1" indent="-571500">
              <a:buFont typeface="Calibri" pitchFamily="34" charset="0"/>
              <a:buChar char="›"/>
            </a:pPr>
            <a:r>
              <a:rPr lang="en-US" sz="2400" dirty="0" smtClean="0"/>
              <a:t>DOCTYPE </a:t>
            </a:r>
          </a:p>
          <a:p>
            <a:pPr marL="1028700" lvl="1" indent="-571500">
              <a:buFont typeface="Calibri" pitchFamily="34" charset="0"/>
              <a:buChar char="›"/>
            </a:pPr>
            <a:r>
              <a:rPr lang="en-US" sz="2400" dirty="0" smtClean="0"/>
              <a:t>schema</a:t>
            </a:r>
            <a:endParaRPr lang="en-US" sz="2400" dirty="0"/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Entities</a:t>
            </a:r>
          </a:p>
          <a:p>
            <a:endParaRPr lang="en-US" sz="3600" dirty="0" smtClean="0"/>
          </a:p>
          <a:p>
            <a:r>
              <a:rPr lang="en-US" sz="3600" dirty="0" smtClean="0"/>
              <a:t>Content-type: application/xml </a:t>
            </a:r>
            <a:r>
              <a:rPr lang="en-US" sz="2400" dirty="0" smtClean="0"/>
              <a:t>or</a:t>
            </a:r>
            <a:r>
              <a:rPr lang="en-US" sz="3600" dirty="0" smtClean="0"/>
              <a:t> text/xml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239931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/>
              <a:t>Example XML Document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93261" y="918865"/>
            <a:ext cx="90677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&lt;xml version=“1.0” encoding=“utf-8”&gt;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&lt;!DOCTYPE 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greeting PUBLIC “http://greeter.one-shore.com/greeting.dtd”&gt;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&lt;greeting locale=“en-au”&gt;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&lt;message&gt;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	&lt;salutation&gt;</a:t>
            </a:r>
            <a:r>
              <a:rPr lang="en-US" dirty="0" err="1" smtClean="0">
                <a:latin typeface="Consolas" pitchFamily="49" charset="0"/>
                <a:cs typeface="Consolas" pitchFamily="49" charset="0"/>
              </a:rPr>
              <a:t>G’day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&lt;/salutation&gt;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		&lt;subject&gt;mate&lt;/subject&gt;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	&lt;modifier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/&gt;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	&lt;punctuation&gt;&amp;exclamation&lt;/punctuation&gt;</a:t>
            </a:r>
            <a:endParaRPr lang="en-US" dirty="0">
              <a:latin typeface="Consolas" pitchFamily="49" charset="0"/>
              <a:cs typeface="Consolas" pitchFamily="49" charset="0"/>
            </a:endParaRP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&lt;/message&gt;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&lt;/greeting&gt;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115139"/>
            <a:ext cx="90677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&lt;!ELEMENT greeting (message)&gt;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&lt;!ATTLIST greeting type CDATA “language”&gt;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&lt;!ELEMENT 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message (salutation, subject, modifier+, punctuation)&gt;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&lt;!ELEMENT salutation (#PCDATA)&gt;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&lt;!ELEMENT subject (#PCDATA)&gt;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&lt;!ELEMENT 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modifier 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(#PCDATA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)&gt;</a:t>
            </a:r>
          </a:p>
          <a:p>
            <a:r>
              <a:rPr lang="en-US" dirty="0"/>
              <a:t>&lt;!ENTITY </a:t>
            </a:r>
            <a:r>
              <a:rPr lang="en-US" dirty="0" smtClean="0"/>
              <a:t>exclamation “!”&gt;</a:t>
            </a:r>
            <a:endParaRPr lang="en-US" dirty="0" smtClean="0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-28433" y="3561391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/>
              <a:t>Example XML DTD</a:t>
            </a:r>
          </a:p>
        </p:txBody>
      </p:sp>
    </p:spTree>
    <p:extLst>
      <p:ext uri="{BB962C8B-B14F-4D97-AF65-F5344CB8AC3E}">
        <p14:creationId xmlns:p14="http://schemas.microsoft.com/office/powerpoint/2010/main" xmlns="" val="4137992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9" grpId="0"/>
      <p:bldP spid="12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SGML, HTML, &amp; XML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548432"/>
            <a:ext cx="82296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SGML was invented at IBM in the 1970s</a:t>
            </a:r>
          </a:p>
          <a:p>
            <a:r>
              <a:rPr lang="en-US" sz="3600" dirty="0" smtClean="0"/>
              <a:t>It was the precursor to HTML</a:t>
            </a:r>
          </a:p>
          <a:p>
            <a:r>
              <a:rPr lang="en-US" sz="3600" dirty="0" smtClean="0"/>
              <a:t>HTML is not strictly SGML</a:t>
            </a:r>
          </a:p>
          <a:p>
            <a:endParaRPr lang="en-US" sz="3600" dirty="0" smtClean="0"/>
          </a:p>
          <a:p>
            <a:r>
              <a:rPr lang="en-US" sz="3600" dirty="0" smtClean="0"/>
              <a:t>XML was designed in 1997-1999</a:t>
            </a:r>
          </a:p>
          <a:p>
            <a:r>
              <a:rPr lang="en-US" sz="3600" dirty="0" smtClean="0"/>
              <a:t>It was based on HTML</a:t>
            </a:r>
          </a:p>
          <a:p>
            <a:r>
              <a:rPr lang="en-US" sz="3600" dirty="0" smtClean="0"/>
              <a:t>XML is a strict implementation of SGML</a:t>
            </a:r>
          </a:p>
          <a:p>
            <a:r>
              <a:rPr lang="en-US" sz="3600" dirty="0" smtClean="0"/>
              <a:t>It is designed to be “extensible”</a:t>
            </a:r>
            <a:endParaRPr lang="en-US" sz="3600" dirty="0"/>
          </a:p>
        </p:txBody>
      </p:sp>
      <p:sp>
        <p:nvSpPr>
          <p:cNvPr id="8" name="TextBox 7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315697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JSON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36729" y="1256604"/>
            <a:ext cx="82296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JavaScript object notation</a:t>
            </a:r>
          </a:p>
          <a:p>
            <a:pPr algn="ctr"/>
            <a:endParaRPr lang="en-US" sz="1200" dirty="0" smtClean="0"/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A subset of the JavaScript language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More concise than XML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Easily parsed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No Schema or Definition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Key </a:t>
            </a:r>
            <a:r>
              <a:rPr lang="en-US" sz="3600" dirty="0"/>
              <a:t>: </a:t>
            </a:r>
            <a:r>
              <a:rPr lang="en-US" sz="3600" dirty="0" smtClean="0"/>
              <a:t>Value 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Objects {}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Arrays []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402865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Example JSON document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76201" y="1270251"/>
            <a:ext cx="90677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itchFamily="49" charset="0"/>
                <a:cs typeface="Consolas" pitchFamily="49" charset="0"/>
              </a:rPr>
              <a:t>{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"greeting": {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"locale": "</a:t>
            </a:r>
            <a:r>
              <a:rPr lang="en-US" dirty="0" err="1">
                <a:latin typeface="Consolas" pitchFamily="49" charset="0"/>
                <a:cs typeface="Consolas" pitchFamily="49" charset="0"/>
              </a:rPr>
              <a:t>es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",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"message": {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"salutation": "</a:t>
            </a:r>
            <a:r>
              <a:rPr lang="en-US" dirty="0" err="1">
                <a:latin typeface="Consolas" pitchFamily="49" charset="0"/>
                <a:cs typeface="Consolas" pitchFamily="49" charset="0"/>
              </a:rPr>
              <a:t>Hola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",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"subject": "Aaron",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"modifier": [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    "tonto",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    "</a:t>
            </a:r>
            <a:r>
              <a:rPr lang="en-US" dirty="0" err="1">
                <a:latin typeface="Consolas" pitchFamily="49" charset="0"/>
                <a:cs typeface="Consolas" pitchFamily="49" charset="0"/>
              </a:rPr>
              <a:t>perezoso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"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],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"punctuation": [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    { "before": "!" },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    { "after": "¡" }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]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}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}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}</a:t>
            </a:r>
            <a:endParaRPr lang="en-US" dirty="0" smtClean="0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2387081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Request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385548" y="1288197"/>
            <a:ext cx="822960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GET   /   HTTP/1.1</a:t>
            </a:r>
          </a:p>
          <a:p>
            <a:endParaRPr lang="en-US" sz="2400" dirty="0" smtClean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800" dirty="0" smtClean="0"/>
              <a:t>Method</a:t>
            </a:r>
            <a:endParaRPr lang="en-US" sz="28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800" dirty="0" smtClean="0"/>
              <a:t>Resource</a:t>
            </a:r>
            <a:endParaRPr lang="en-US" sz="28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800" dirty="0" smtClean="0"/>
              <a:t>Version</a:t>
            </a:r>
          </a:p>
          <a:p>
            <a:pPr lvl="1"/>
            <a:endParaRPr lang="en-US" sz="2400" dirty="0" smtClean="0"/>
          </a:p>
          <a:p>
            <a:r>
              <a:rPr lang="en-US" sz="3600" dirty="0" smtClean="0"/>
              <a:t>Headers</a:t>
            </a:r>
          </a:p>
          <a:p>
            <a:endParaRPr lang="en-US" sz="3600" dirty="0" smtClean="0"/>
          </a:p>
          <a:p>
            <a:r>
              <a:rPr lang="en-US" sz="3600" dirty="0" smtClean="0"/>
              <a:t>Body (optional)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1917008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Request Methods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462746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GET</a:t>
            </a:r>
            <a:endParaRPr lang="en-US" sz="32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POST</a:t>
            </a:r>
            <a:endParaRPr lang="en-US" sz="32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HEAD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PUT, DELETE, OPTIONS, TRACE, CONNECT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More…</a:t>
            </a:r>
          </a:p>
          <a:p>
            <a:pPr marL="800100" lvl="1" indent="-342900">
              <a:buFont typeface="Calibri" pitchFamily="34" charset="0"/>
              <a:buChar char="›"/>
            </a:pPr>
            <a:endParaRPr lang="en-US" sz="12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6934202" y="1717637"/>
            <a:ext cx="2057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verbs</a:t>
            </a:r>
            <a:endParaRPr lang="en-US" sz="3600" dirty="0"/>
          </a:p>
        </p:txBody>
      </p:sp>
      <p:sp>
        <p:nvSpPr>
          <p:cNvPr id="12" name="TextBox 11"/>
          <p:cNvSpPr txBox="1"/>
          <p:nvPr/>
        </p:nvSpPr>
        <p:spPr>
          <a:xfrm>
            <a:off x="6934202" y="2744601"/>
            <a:ext cx="2057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HTTP/1.1</a:t>
            </a:r>
            <a:endParaRPr lang="en-US" sz="3200" dirty="0"/>
          </a:p>
        </p:txBody>
      </p:sp>
      <p:sp>
        <p:nvSpPr>
          <p:cNvPr id="13" name="TextBox 12"/>
          <p:cNvSpPr txBox="1"/>
          <p:nvPr/>
        </p:nvSpPr>
        <p:spPr>
          <a:xfrm>
            <a:off x="7048500" y="4356892"/>
            <a:ext cx="2057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extensions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xmlns="" val="80192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Response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HTTP/1.1   200   OK</a:t>
            </a:r>
          </a:p>
          <a:p>
            <a:endParaRPr lang="en-US" sz="12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400" dirty="0" smtClean="0"/>
              <a:t>HTTP Version</a:t>
            </a:r>
            <a:endParaRPr lang="en-US" sz="24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400" dirty="0" smtClean="0"/>
              <a:t>Status Code</a:t>
            </a:r>
            <a:endParaRPr lang="en-US" sz="24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400" dirty="0" smtClean="0"/>
              <a:t>Status Message</a:t>
            </a:r>
          </a:p>
          <a:p>
            <a:pPr marL="800100" lvl="1" indent="-342900">
              <a:buFont typeface="Calibri" pitchFamily="34" charset="0"/>
              <a:buChar char="›"/>
            </a:pPr>
            <a:endParaRPr lang="en-US" sz="2400" dirty="0"/>
          </a:p>
          <a:p>
            <a:r>
              <a:rPr lang="en-US" sz="3600" dirty="0"/>
              <a:t>Headers</a:t>
            </a:r>
          </a:p>
          <a:p>
            <a:endParaRPr lang="en-US" sz="3600" dirty="0"/>
          </a:p>
          <a:p>
            <a:r>
              <a:rPr lang="en-US" sz="3600" dirty="0" smtClean="0"/>
              <a:t>Body (optional)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801926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Response Status codes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457654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200 – OK </a:t>
            </a:r>
          </a:p>
          <a:p>
            <a:r>
              <a:rPr lang="en-US" sz="2400" dirty="0" smtClean="0"/>
              <a:t>301 – Moved permanently</a:t>
            </a:r>
          </a:p>
          <a:p>
            <a:r>
              <a:rPr lang="en-US" sz="2400" dirty="0" smtClean="0"/>
              <a:t>304 – Not modified</a:t>
            </a:r>
          </a:p>
          <a:p>
            <a:r>
              <a:rPr lang="en-US" sz="2400" dirty="0" smtClean="0"/>
              <a:t>401 – Unauthorized</a:t>
            </a:r>
          </a:p>
          <a:p>
            <a:r>
              <a:rPr lang="en-US" sz="2400" dirty="0" smtClean="0"/>
              <a:t>403 – Forbidden </a:t>
            </a:r>
            <a:endParaRPr lang="en-US" sz="2400" dirty="0"/>
          </a:p>
          <a:p>
            <a:r>
              <a:rPr lang="en-US" sz="2400" dirty="0" smtClean="0"/>
              <a:t>404 – Not found</a:t>
            </a:r>
          </a:p>
          <a:p>
            <a:r>
              <a:rPr lang="en-US" sz="2400" dirty="0" smtClean="0"/>
              <a:t>500 – Internal Server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5334000" y="1710013"/>
            <a:ext cx="358139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100s – informational</a:t>
            </a:r>
          </a:p>
          <a:p>
            <a:r>
              <a:rPr lang="en-US" sz="2400" dirty="0" smtClean="0"/>
              <a:t>200s – success </a:t>
            </a:r>
          </a:p>
          <a:p>
            <a:r>
              <a:rPr lang="en-US" sz="2400" dirty="0" smtClean="0"/>
              <a:t>300s – redirect</a:t>
            </a:r>
          </a:p>
          <a:p>
            <a:r>
              <a:rPr lang="en-US" sz="2400" dirty="0" smtClean="0"/>
              <a:t>400s – client error</a:t>
            </a:r>
          </a:p>
          <a:p>
            <a:r>
              <a:rPr lang="en-US" sz="2400" dirty="0" smtClean="0"/>
              <a:t>500s – server error</a:t>
            </a:r>
          </a:p>
        </p:txBody>
      </p:sp>
    </p:spTree>
    <p:extLst>
      <p:ext uri="{BB962C8B-B14F-4D97-AF65-F5344CB8AC3E}">
        <p14:creationId xmlns:p14="http://schemas.microsoft.com/office/powerpoint/2010/main" xmlns="" val="1005537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Session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20806" y="1278592"/>
            <a:ext cx="82296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HTTP is inherently stateless</a:t>
            </a:r>
          </a:p>
          <a:p>
            <a:endParaRPr lang="en-US" sz="2400" dirty="0" smtClean="0"/>
          </a:p>
          <a:p>
            <a:r>
              <a:rPr lang="en-US" sz="3600" dirty="0" smtClean="0"/>
              <a:t>Initiated </a:t>
            </a:r>
            <a:r>
              <a:rPr lang="en-US" sz="3600" dirty="0"/>
              <a:t>by </a:t>
            </a:r>
            <a:r>
              <a:rPr lang="en-US" sz="3600" dirty="0" smtClean="0"/>
              <a:t>client request</a:t>
            </a:r>
            <a:endParaRPr lang="en-US" sz="3600" dirty="0"/>
          </a:p>
          <a:p>
            <a:endParaRPr lang="en-US" sz="2400" dirty="0" smtClean="0"/>
          </a:p>
          <a:p>
            <a:r>
              <a:rPr lang="en-US" sz="2400" dirty="0" smtClean="0"/>
              <a:t>TCP socket connection created -- It may be closed by either end.</a:t>
            </a:r>
          </a:p>
          <a:p>
            <a:endParaRPr lang="en-US" sz="2400" dirty="0" smtClean="0"/>
          </a:p>
          <a:p>
            <a:r>
              <a:rPr lang="en-US" sz="3600" dirty="0" smtClean="0"/>
              <a:t>Server sends a response with status code</a:t>
            </a:r>
          </a:p>
          <a:p>
            <a:endParaRPr lang="en-US" sz="2400" dirty="0" smtClean="0"/>
          </a:p>
          <a:p>
            <a:r>
              <a:rPr lang="en-US" sz="2400" dirty="0" smtClean="0"/>
              <a:t>It may </a:t>
            </a:r>
            <a:r>
              <a:rPr lang="en-US" sz="2400" dirty="0"/>
              <a:t>include additional resources </a:t>
            </a:r>
            <a:r>
              <a:rPr lang="en-US" sz="2400" dirty="0" smtClean="0"/>
              <a:t>(</a:t>
            </a:r>
            <a:r>
              <a:rPr lang="en-US" sz="2400" dirty="0" err="1"/>
              <a:t>eg</a:t>
            </a:r>
            <a:r>
              <a:rPr lang="en-US" sz="2400" dirty="0"/>
              <a:t>. images, </a:t>
            </a:r>
            <a:r>
              <a:rPr lang="en-US" sz="2400" dirty="0" smtClean="0"/>
              <a:t>JavaScript files)</a:t>
            </a:r>
          </a:p>
          <a:p>
            <a:endParaRPr lang="en-US" sz="2400" dirty="0"/>
          </a:p>
          <a:p>
            <a:r>
              <a:rPr lang="en-US" sz="3600" dirty="0"/>
              <a:t>Connection: </a:t>
            </a:r>
            <a:r>
              <a:rPr lang="en-US" sz="3600" dirty="0" smtClean="0"/>
              <a:t>keep-alive or close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80192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Headers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HTTP Headers are immediately after the request or response status</a:t>
            </a:r>
          </a:p>
          <a:p>
            <a:endParaRPr lang="en-US" sz="3600" dirty="0" smtClean="0"/>
          </a:p>
          <a:p>
            <a:r>
              <a:rPr lang="en-US" sz="3600" dirty="0" smtClean="0"/>
              <a:t>One header per line</a:t>
            </a:r>
          </a:p>
          <a:p>
            <a:endParaRPr lang="en-US" sz="3600" dirty="0" smtClean="0"/>
          </a:p>
          <a:p>
            <a:r>
              <a:rPr lang="en-US" sz="3600" dirty="0" smtClean="0"/>
              <a:t>Name: value</a:t>
            </a:r>
          </a:p>
          <a:p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80192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Common HTTP Headers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0" y="1447800"/>
            <a:ext cx="358594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Request</a:t>
            </a:r>
          </a:p>
          <a:p>
            <a:r>
              <a:rPr lang="en-US" sz="2400" dirty="0" smtClean="0"/>
              <a:t>Host</a:t>
            </a:r>
          </a:p>
          <a:p>
            <a:r>
              <a:rPr lang="en-US" sz="2400" dirty="0" smtClean="0"/>
              <a:t>User-Agent</a:t>
            </a:r>
          </a:p>
          <a:p>
            <a:r>
              <a:rPr lang="en-US" sz="2400" dirty="0" err="1"/>
              <a:t>Referer</a:t>
            </a:r>
            <a:endParaRPr lang="en-US" sz="2400" dirty="0" smtClean="0"/>
          </a:p>
          <a:p>
            <a:r>
              <a:rPr lang="en-US" sz="2400" dirty="0" smtClean="0"/>
              <a:t>Accept</a:t>
            </a:r>
          </a:p>
          <a:p>
            <a:r>
              <a:rPr lang="en-US" sz="2400" dirty="0" smtClean="0"/>
              <a:t>Content-Type</a:t>
            </a:r>
          </a:p>
          <a:p>
            <a:r>
              <a:rPr lang="en-US" sz="2400" dirty="0" smtClean="0"/>
              <a:t>Content-Length</a:t>
            </a:r>
          </a:p>
          <a:p>
            <a:r>
              <a:rPr lang="en-US" sz="2400" dirty="0" smtClean="0"/>
              <a:t>Connection: keep-alive</a:t>
            </a:r>
          </a:p>
          <a:p>
            <a:r>
              <a:rPr lang="en-US" sz="2400" dirty="0" smtClean="0"/>
              <a:t>Authorization</a:t>
            </a:r>
            <a:br>
              <a:rPr lang="en-US" sz="2400" dirty="0" smtClean="0"/>
            </a:br>
            <a:r>
              <a:rPr lang="en-US" sz="2400" dirty="0" smtClean="0"/>
              <a:t>Cookie</a:t>
            </a:r>
            <a:endParaRPr lang="en-US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1" y="1447800"/>
            <a:ext cx="399424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Response</a:t>
            </a:r>
          </a:p>
          <a:p>
            <a:r>
              <a:rPr lang="en-US" sz="2400" dirty="0" smtClean="0"/>
              <a:t>Server</a:t>
            </a:r>
          </a:p>
          <a:p>
            <a:r>
              <a:rPr lang="en-US" sz="2400" dirty="0" smtClean="0"/>
              <a:t>Date</a:t>
            </a:r>
            <a:endParaRPr lang="en-US" sz="2400" dirty="0"/>
          </a:p>
          <a:p>
            <a:r>
              <a:rPr lang="en-US" sz="2400" dirty="0" smtClean="0"/>
              <a:t>Last-Modified	</a:t>
            </a:r>
          </a:p>
          <a:p>
            <a:r>
              <a:rPr lang="en-US" sz="2400" dirty="0"/>
              <a:t>Expires</a:t>
            </a:r>
          </a:p>
          <a:p>
            <a:r>
              <a:rPr lang="en-US" sz="2400" dirty="0" smtClean="0"/>
              <a:t>Content-Type</a:t>
            </a:r>
          </a:p>
          <a:p>
            <a:r>
              <a:rPr lang="en-US" sz="2400" dirty="0" smtClean="0"/>
              <a:t>Content-Length</a:t>
            </a:r>
          </a:p>
          <a:p>
            <a:r>
              <a:rPr lang="en-US" sz="2400" dirty="0" smtClean="0"/>
              <a:t>Connection: close</a:t>
            </a:r>
            <a:br>
              <a:rPr lang="en-US" sz="2400" dirty="0" smtClean="0"/>
            </a:br>
            <a:r>
              <a:rPr lang="en-US" sz="2400" dirty="0"/>
              <a:t>Cache-Control </a:t>
            </a:r>
          </a:p>
          <a:p>
            <a:r>
              <a:rPr lang="en-US" sz="2400" dirty="0" smtClean="0"/>
              <a:t>Set-Cookie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3758055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Body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Body is optional</a:t>
            </a:r>
          </a:p>
          <a:p>
            <a:r>
              <a:rPr lang="en-US" sz="3600" dirty="0" smtClean="0"/>
              <a:t>1 blank line between headers and body</a:t>
            </a:r>
          </a:p>
          <a:p>
            <a:r>
              <a:rPr lang="en-US" sz="3600" dirty="0" smtClean="0"/>
              <a:t>Content-length tells how long the body is</a:t>
            </a:r>
          </a:p>
          <a:p>
            <a:r>
              <a:rPr lang="en-US" sz="3600" dirty="0" smtClean="0"/>
              <a:t>POST requests typically includes a body</a:t>
            </a:r>
          </a:p>
          <a:p>
            <a:r>
              <a:rPr lang="en-US" sz="2400" dirty="0" smtClean="0"/>
              <a:t>	Content-type: application/x-www-form-</a:t>
            </a:r>
            <a:r>
              <a:rPr lang="en-US" sz="2400" dirty="0" err="1" smtClean="0"/>
              <a:t>urlencoded</a:t>
            </a:r>
            <a:endParaRPr lang="en-US" sz="2400" dirty="0" smtClean="0"/>
          </a:p>
          <a:p>
            <a:r>
              <a:rPr lang="en-US" sz="3600" dirty="0" smtClean="0"/>
              <a:t>File Upload</a:t>
            </a:r>
          </a:p>
          <a:p>
            <a:r>
              <a:rPr lang="en-US" sz="2400" dirty="0"/>
              <a:t>	Content-type: </a:t>
            </a:r>
            <a:r>
              <a:rPr lang="en-US" sz="2400" dirty="0" smtClean="0"/>
              <a:t>multipart/form-data; boundary=</a:t>
            </a:r>
            <a:endParaRPr lang="en-US" sz="3600" dirty="0" smtClean="0"/>
          </a:p>
          <a:p>
            <a:r>
              <a:rPr lang="en-US" sz="3600" dirty="0" smtClean="0"/>
              <a:t>Response has body unless HEAD, 1xx, error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80192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Exercise: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228600" y="1710013"/>
            <a:ext cx="868679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Interacting with HTTP </a:t>
            </a:r>
          </a:p>
          <a:p>
            <a:pPr algn="ctr"/>
            <a:r>
              <a:rPr lang="en-US" sz="3600" dirty="0" smtClean="0"/>
              <a:t>from the command line</a:t>
            </a:r>
          </a:p>
          <a:p>
            <a:endParaRPr lang="en-US" sz="1200" dirty="0"/>
          </a:p>
          <a:p>
            <a:pPr lvl="7"/>
            <a:r>
              <a:rPr lang="en-US" sz="3600" dirty="0" smtClean="0"/>
              <a:t>telnet</a:t>
            </a:r>
          </a:p>
          <a:p>
            <a:pPr lvl="7"/>
            <a:r>
              <a:rPr lang="en-US" sz="3600" dirty="0" err="1" smtClean="0"/>
              <a:t>netcat</a:t>
            </a:r>
            <a:endParaRPr lang="en-US" sz="3600" dirty="0" smtClean="0"/>
          </a:p>
          <a:p>
            <a:pPr lvl="7"/>
            <a:r>
              <a:rPr lang="en-US" sz="3600" dirty="0" err="1" smtClean="0"/>
              <a:t>wget</a:t>
            </a:r>
            <a:endParaRPr lang="en-US" sz="3600" dirty="0" smtClean="0"/>
          </a:p>
          <a:p>
            <a:pPr lvl="7"/>
            <a:r>
              <a:rPr lang="en-US" sz="3600" dirty="0" smtClean="0"/>
              <a:t>curl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3875515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Exercise: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228600" y="1710013"/>
            <a:ext cx="868679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Interacting with HTTP </a:t>
            </a:r>
          </a:p>
          <a:p>
            <a:pPr algn="ctr"/>
            <a:r>
              <a:rPr lang="en-US" sz="3600" dirty="0" smtClean="0"/>
              <a:t>using Fiddler</a:t>
            </a:r>
          </a:p>
          <a:p>
            <a:endParaRPr lang="en-US" sz="12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xmlns="" val="262732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779</Words>
  <Application>Microsoft Office PowerPoint</Application>
  <PresentationFormat>On-screen Show (4:3)</PresentationFormat>
  <Paragraphs>291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Ancestry.com Operations, Inc.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Aaron Evans</dc:creator>
  <cp:lastModifiedBy>Aaron Evans</cp:lastModifiedBy>
  <cp:revision>95</cp:revision>
  <dcterms:created xsi:type="dcterms:W3CDTF">2013-03-12T20:52:24Z</dcterms:created>
  <dcterms:modified xsi:type="dcterms:W3CDTF">2013-03-17T06:45:26Z</dcterms:modified>
</cp:coreProperties>
</file>
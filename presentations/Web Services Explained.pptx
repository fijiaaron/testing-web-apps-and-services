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notesSlides/notesSlide18.xml" ContentType="application/vnd.openxmlformats-officedocument.presentationml.notesSlide+xml"/>
  <Override PartName="/ppt/notesSlides/notesSlide27.xml" ContentType="application/vnd.openxmlformats-officedocument.presentationml.notesSlide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16.xml" ContentType="application/vnd.openxmlformats-officedocument.presentationml.notesSlide+xml"/>
  <Override PartName="/ppt/notesSlides/notesSlide25.xml" ContentType="application/vnd.openxmlformats-officedocument.presentationml.notes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4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notesSlides/notesSlide17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6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notesSlides/notesSlide13.xml" ContentType="application/vnd.openxmlformats-officedocument.presentationml.notesSlide+xml"/>
  <Override PartName="/ppt/notesSlides/notesSlide22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0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9"/>
  </p:notesMasterIdLst>
  <p:sldIdLst>
    <p:sldId id="257" r:id="rId2"/>
    <p:sldId id="259" r:id="rId3"/>
    <p:sldId id="258" r:id="rId4"/>
    <p:sldId id="260" r:id="rId5"/>
    <p:sldId id="261" r:id="rId6"/>
    <p:sldId id="262" r:id="rId7"/>
    <p:sldId id="264" r:id="rId8"/>
    <p:sldId id="263" r:id="rId9"/>
    <p:sldId id="283" r:id="rId10"/>
    <p:sldId id="280" r:id="rId11"/>
    <p:sldId id="268" r:id="rId12"/>
    <p:sldId id="266" r:id="rId13"/>
    <p:sldId id="282" r:id="rId14"/>
    <p:sldId id="269" r:id="rId15"/>
    <p:sldId id="279" r:id="rId16"/>
    <p:sldId id="284" r:id="rId17"/>
    <p:sldId id="281" r:id="rId18"/>
    <p:sldId id="286" r:id="rId19"/>
    <p:sldId id="285" r:id="rId20"/>
    <p:sldId id="271" r:id="rId21"/>
    <p:sldId id="287" r:id="rId22"/>
    <p:sldId id="288" r:id="rId23"/>
    <p:sldId id="270" r:id="rId24"/>
    <p:sldId id="292" r:id="rId25"/>
    <p:sldId id="289" r:id="rId26"/>
    <p:sldId id="290" r:id="rId27"/>
    <p:sldId id="291" r:id="rId2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9818" autoAdjust="0"/>
  </p:normalViewPr>
  <p:slideViewPr>
    <p:cSldViewPr>
      <p:cViewPr varScale="1">
        <p:scale>
          <a:sx n="93" d="100"/>
          <a:sy n="93" d="100"/>
        </p:scale>
        <p:origin x="-960" y="-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07B57D7-B07C-4A9F-B3AB-7E2C72E903D6}" type="datetimeFigureOut">
              <a:rPr lang="en-US" smtClean="0"/>
              <a:t>3/16/2013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12A7DF5-6D3C-424B-AAF8-3BBDFC457D0D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8" Type="http://schemas.openxmlformats.org/officeDocument/2006/relationships/hyperlink" Target="http://en.wikipedia.org/wiki/URI" TargetMode="External"/><Relationship Id="rId3" Type="http://schemas.openxmlformats.org/officeDocument/2006/relationships/hyperlink" Target="http://en.wikipedia.org/wiki/Hypertext_Transfer_Protocol" TargetMode="External"/><Relationship Id="rId7" Type="http://schemas.openxmlformats.org/officeDocument/2006/relationships/hyperlink" Target="http://en.wikipedia.org/wiki/HTTP" TargetMode="External"/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Relationship Id="rId6" Type="http://schemas.openxmlformats.org/officeDocument/2006/relationships/hyperlink" Target="http://en.wikipedia.org/wiki/Representational_state_transfer" TargetMode="External"/><Relationship Id="rId5" Type="http://schemas.openxmlformats.org/officeDocument/2006/relationships/hyperlink" Target="http://en.wikipedia.org/wiki/SOAP" TargetMode="External"/><Relationship Id="rId4" Type="http://schemas.openxmlformats.org/officeDocument/2006/relationships/hyperlink" Target="http://en.wikipedia.org/wiki/Side_effect_(computer_science)" TargetMode="External"/><Relationship Id="rId9" Type="http://schemas.openxmlformats.org/officeDocument/2006/relationships/hyperlink" Target="http://en.wikipedia.org/wiki/XML" TargetMode="Externa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20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From the top down: </a:t>
            </a:r>
            <a:endParaRPr lang="en-US" sz="1200" i="1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Browser, HTML, HTTP protocol, TCP/IP, sockets, DNS, routing. </a:t>
            </a:r>
          </a:p>
          <a:p>
            <a:endParaRPr lang="en-US" sz="1200" i="1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want to go over the building blocks of a web application.  Not just the widgets and HTML &amp; JavaScript source files, but the underlying architecture, from packets on up to pixels, so we can test it from various perspectives.</a:t>
            </a:r>
          </a:p>
          <a:p>
            <a:endParaRPr lang="en-US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While it would be tedious to do all of testing at such a low level, sometimes it is useful in troubleshooting difficult problems.  And thinking of how the bits move will sometimes help you in planning for security or performance optimizations.</a:t>
            </a:r>
          </a:p>
          <a:p>
            <a:endParaRPr lang="en-US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Much of this may already be familiar to you, but bear with me.</a:t>
            </a:r>
          </a:p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468E330-6F11-4EB8-9125-0BEE82D16730}" type="slidenum">
              <a:rPr lang="en-US" smtClean="0"/>
              <a:pPr/>
              <a:t>1</a:t>
            </a:fld>
            <a:endParaRPr 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468E330-6F11-4EB8-9125-0BEE82D16730}" type="slidenum">
              <a:rPr lang="en-US" smtClean="0"/>
              <a:pPr/>
              <a:t>2</a:t>
            </a:fld>
            <a:endParaRPr 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468E330-6F11-4EB8-9125-0BEE82D16730}" type="slidenum">
              <a:rPr lang="en-US" smtClean="0"/>
              <a:pPr/>
              <a:t>3</a:t>
            </a:fld>
            <a:endParaRPr 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468E330-6F11-4EB8-9125-0BEE82D16730}" type="slidenum">
              <a:rPr lang="en-US" smtClean="0"/>
              <a:pPr/>
              <a:t>4</a:t>
            </a:fld>
            <a:endParaRPr 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468E330-6F11-4EB8-9125-0BEE82D16730}" type="slidenum">
              <a:rPr lang="en-US" smtClean="0"/>
              <a:pPr/>
              <a:t>5</a:t>
            </a:fld>
            <a:endParaRPr lang="en-US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XML over HTTP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468E330-6F11-4EB8-9125-0BEE82D16730}" type="slidenum">
              <a:rPr lang="en-US" smtClean="0"/>
              <a:pPr/>
              <a:t>6</a:t>
            </a:fld>
            <a:endParaRPr lang="en-US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468E330-6F11-4EB8-9125-0BEE82D16730}" type="slidenum">
              <a:rPr lang="en-US" smtClean="0"/>
              <a:pPr/>
              <a:t>7</a:t>
            </a:fld>
            <a:endParaRPr lang="en-US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468E330-6F11-4EB8-9125-0BEE82D16730}" type="slidenum">
              <a:rPr lang="en-US" smtClean="0"/>
              <a:pPr/>
              <a:t>8</a:t>
            </a:fld>
            <a:endParaRPr lang="en-US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468E330-6F11-4EB8-9125-0BEE82D16730}" type="slidenum">
              <a:rPr lang="en-US" smtClean="0"/>
              <a:pPr/>
              <a:t>9</a:t>
            </a:fld>
            <a:endParaRPr lang="en-US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468E330-6F11-4EB8-9125-0BEE82D16730}" type="slidenum">
              <a:rPr lang="en-US" smtClean="0"/>
              <a:pPr/>
              <a:t>10</a:t>
            </a:fld>
            <a:endParaRPr lang="en-US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468E330-6F11-4EB8-9125-0BEE82D16730}" type="slidenum">
              <a:rPr lang="en-US" smtClean="0"/>
              <a:pPr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468E330-6F11-4EB8-9125-0BEE82D16730}" type="slidenum">
              <a:rPr lang="en-US" smtClean="0"/>
              <a:pPr/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468E330-6F11-4EB8-9125-0BEE82D16730}" type="slidenum">
              <a:rPr lang="en-US" smtClean="0"/>
              <a:pPr/>
              <a:t>13</a:t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GB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See this image and message</a:t>
            </a:r>
            <a:r>
              <a:rPr lang="en-GB" sz="1200" b="0" i="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at http://www.w3.org/TR/soap12-part0/</a:t>
            </a:r>
          </a:p>
          <a:p>
            <a:endParaRPr lang="en-GB" sz="1200" b="0" i="0" kern="1200" baseline="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GB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</a:t>
            </a:r>
            <a:r>
              <a:rPr lang="en-GB" sz="1200" b="0" i="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SOAP envelope wraps the soap message.  It is the root element.  It is required.  It is what defines them XML document as a SOAP message</a:t>
            </a:r>
          </a:p>
          <a:p>
            <a:endParaRPr lang="en-GB" sz="1200" b="0" i="0" kern="1200" baseline="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GB" sz="1200" b="0" i="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</a:t>
            </a:r>
            <a:r>
              <a:rPr lang="en-GB" sz="1200" b="0" i="0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xmlns:soap</a:t>
            </a:r>
            <a:r>
              <a:rPr lang="en-GB" sz="1200" b="0" i="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namespace defines the soap: prefix in an XML schema.  This namespace defines the elements, attributes and values permitted in a soap message.</a:t>
            </a:r>
          </a:p>
          <a:p>
            <a:r>
              <a:rPr lang="en-GB" sz="1200" b="0" i="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</a:t>
            </a:r>
            <a:r>
              <a:rPr lang="en-GB" sz="1200" b="0" i="0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ecodingStyle</a:t>
            </a:r>
            <a:r>
              <a:rPr lang="en-GB" sz="1200" b="0" i="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attribute defines the data types in the document.  A SOAP message has no default encoding.</a:t>
            </a:r>
          </a:p>
          <a:p>
            <a:endParaRPr lang="en-GB" sz="1200" b="0" i="0" kern="1200" baseline="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GB" sz="1200" b="0" i="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SOAP header is optional.</a:t>
            </a:r>
            <a:endParaRPr lang="en-GB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GB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attributes defined in the SOAP Header define how a recipient should process the SOAP message.</a:t>
            </a:r>
          </a:p>
          <a:p>
            <a:r>
              <a:rPr lang="en-GB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They are defined by a SOAP</a:t>
            </a:r>
            <a:r>
              <a:rPr lang="en-GB" sz="1200" b="0" i="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application type.  In this example, taken from the w3c reference, it defines a reservation and a passenger.</a:t>
            </a:r>
          </a:p>
          <a:p>
            <a:r>
              <a:rPr lang="en-GB" sz="1200" b="0" i="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 SOAP header is a way to pass information that is not part of the application payload.</a:t>
            </a:r>
            <a:endParaRPr lang="en-GB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GB" dirty="0" smtClean="0"/>
              <a:t/>
            </a:r>
            <a:br>
              <a:rPr lang="en-GB" dirty="0" smtClean="0"/>
            </a:b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468E330-6F11-4EB8-9125-0BEE82D16730}" type="slidenum">
              <a:rPr lang="en-US" smtClean="0"/>
              <a:pPr/>
              <a:t>14</a:t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468E330-6F11-4EB8-9125-0BEE82D16730}" type="slidenum">
              <a:rPr lang="en-US" smtClean="0"/>
              <a:pPr/>
              <a:t>15</a:t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http://crunchify.co/web-service-definition-language-sample-helloworld-wsdl/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468E330-6F11-4EB8-9125-0BEE82D16730}" type="slidenum">
              <a:rPr lang="en-US" smtClean="0"/>
              <a:pPr/>
              <a:t>16</a:t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468E330-6F11-4EB8-9125-0BEE82D16730}" type="slidenum">
              <a:rPr lang="en-US" smtClean="0"/>
              <a:pPr/>
              <a:t>17</a:t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468E330-6F11-4EB8-9125-0BEE82D16730}" type="slidenum">
              <a:rPr lang="en-US" smtClean="0"/>
              <a:pPr/>
              <a:t>18</a:t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468E330-6F11-4EB8-9125-0BEE82D16730}" type="slidenum">
              <a:rPr lang="en-US" smtClean="0"/>
              <a:pPr/>
              <a:t>19</a:t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468E330-6F11-4EB8-9125-0BEE82D16730}" type="slidenum">
              <a:rPr lang="en-US" smtClean="0"/>
              <a:pPr/>
              <a:t>20</a:t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468E330-6F11-4EB8-9125-0BEE82D16730}" type="slidenum">
              <a:rPr lang="en-US" smtClean="0"/>
              <a:pPr/>
              <a:t>21</a:t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468E330-6F11-4EB8-9125-0BEE82D16730}" type="slidenum">
              <a:rPr lang="en-US" smtClean="0"/>
              <a:pPr/>
              <a:t>22</a:t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468E330-6F11-4EB8-9125-0BEE82D16730}" type="slidenum">
              <a:rPr lang="en-US" smtClean="0"/>
              <a:pPr/>
              <a:t>23</a:t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468E330-6F11-4EB8-9125-0BEE82D16730}" type="slidenum">
              <a:rPr lang="en-US" smtClean="0"/>
              <a:pPr/>
              <a:t>24</a:t>
            </a:fld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468E330-6F11-4EB8-9125-0BEE82D16730}" type="slidenum">
              <a:rPr lang="en-US" smtClean="0"/>
              <a:pPr/>
              <a:t>25</a:t>
            </a:fld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PUT and DELETE methods are </a:t>
            </a:r>
            <a:r>
              <a:rPr lang="en-GB" sz="1200" b="0" i="0" u="none" strike="noStrike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  <a:hlinkClick r:id="rId3" tooltip="Hypertext Transfer Protocol"/>
              </a:rPr>
              <a:t>idempotent</a:t>
            </a:r>
            <a:r>
              <a:rPr lang="en-GB" sz="1200" b="0" i="0" u="none" strike="noStrike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  <a:hlinkClick r:id="rId3" tooltip="Hypertext Transfer Protocol"/>
              </a:rPr>
              <a:t> methods</a:t>
            </a:r>
            <a:r>
              <a:rPr lang="en-GB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 The GET method is a </a:t>
            </a:r>
            <a:r>
              <a:rPr lang="en-GB" sz="1200" b="0" i="0" u="none" strike="noStrike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  <a:hlinkClick r:id="rId3" tooltip="Hypertext Transfer Protocol"/>
              </a:rPr>
              <a:t>safe method</a:t>
            </a:r>
            <a:r>
              <a:rPr lang="en-GB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(or </a:t>
            </a:r>
            <a:r>
              <a:rPr lang="en-GB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nullipotent</a:t>
            </a:r>
            <a:r>
              <a:rPr lang="en-GB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), meaning that calling it produces no </a:t>
            </a:r>
            <a:r>
              <a:rPr lang="en-GB" sz="1200" b="0" i="0" u="none" strike="noStrike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  <a:hlinkClick r:id="rId4" tooltip="Side effect (computer science)"/>
              </a:rPr>
              <a:t>side-effects</a:t>
            </a:r>
            <a:r>
              <a:rPr lang="en-GB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</a:p>
          <a:p>
            <a:endParaRPr lang="en-GB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Unlike </a:t>
            </a:r>
            <a:r>
              <a:rPr lang="en-GB" sz="1200" b="0" i="0" u="none" strike="noStrike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  <a:hlinkClick r:id="rId5" tooltip="SOAP"/>
              </a:rPr>
              <a:t>SOAP</a:t>
            </a:r>
            <a:r>
              <a:rPr lang="en-GB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-based web services, there is no "official" standard for RESTful web services.</a:t>
            </a:r>
            <a:r>
              <a:rPr lang="en-GB" sz="1200" b="0" i="0" u="none" strike="noStrike" kern="1200" baseline="30000" dirty="0" smtClean="0">
                <a:solidFill>
                  <a:schemeClr val="tx1"/>
                </a:solidFill>
                <a:latin typeface="+mn-lt"/>
                <a:ea typeface="+mn-ea"/>
                <a:cs typeface="+mn-cs"/>
                <a:hlinkClick r:id="rId6"/>
              </a:rPr>
              <a:t>[14]</a:t>
            </a:r>
            <a:r>
              <a:rPr lang="en-GB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This is because REST is an architectural style, unlike SOAP, which is a protocol. Even though REST is not a standard, a RESTful implementation such as the Web can use standards like </a:t>
            </a:r>
            <a:r>
              <a:rPr lang="en-GB" sz="1200" b="0" i="0" u="none" strike="noStrike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  <a:hlinkClick r:id="rId7" tooltip="HTTP"/>
              </a:rPr>
              <a:t>HTTP</a:t>
            </a:r>
            <a:r>
              <a:rPr lang="en-GB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 </a:t>
            </a:r>
            <a:r>
              <a:rPr lang="en-GB" sz="1200" b="0" i="0" u="none" strike="noStrike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  <a:hlinkClick r:id="rId8" tooltip="URI"/>
              </a:rPr>
              <a:t>URI</a:t>
            </a:r>
            <a:r>
              <a:rPr lang="en-GB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 </a:t>
            </a:r>
            <a:r>
              <a:rPr lang="en-GB" sz="1200" b="0" i="0" u="none" strike="noStrike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  <a:hlinkClick r:id="rId9" tooltip="XML"/>
              </a:rPr>
              <a:t>XML</a:t>
            </a:r>
            <a:r>
              <a:rPr lang="en-GB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etc.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468E330-6F11-4EB8-9125-0BEE82D16730}" type="slidenum">
              <a:rPr lang="en-US" smtClean="0"/>
              <a:pPr/>
              <a:t>26</a:t>
            </a:fld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468E330-6F11-4EB8-9125-0BEE82D16730}" type="slidenum">
              <a:rPr lang="en-US" smtClean="0"/>
              <a:pPr/>
              <a:t>27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7541A4-9A71-49C7-9ED4-6228F957F434}" type="datetimeFigureOut">
              <a:rPr lang="en-US" smtClean="0"/>
              <a:t>3/16/2013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96055-C3DA-49C7-AC18-18A0163190F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7541A4-9A71-49C7-9ED4-6228F957F434}" type="datetimeFigureOut">
              <a:rPr lang="en-US" smtClean="0"/>
              <a:t>3/16/2013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96055-C3DA-49C7-AC18-18A0163190F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7541A4-9A71-49C7-9ED4-6228F957F434}" type="datetimeFigureOut">
              <a:rPr lang="en-US" smtClean="0"/>
              <a:t>3/16/2013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96055-C3DA-49C7-AC18-18A0163190F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7541A4-9A71-49C7-9ED4-6228F957F434}" type="datetimeFigureOut">
              <a:rPr lang="en-US" smtClean="0"/>
              <a:t>3/16/2013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96055-C3DA-49C7-AC18-18A0163190F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7541A4-9A71-49C7-9ED4-6228F957F434}" type="datetimeFigureOut">
              <a:rPr lang="en-US" smtClean="0"/>
              <a:t>3/16/2013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96055-C3DA-49C7-AC18-18A0163190F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7541A4-9A71-49C7-9ED4-6228F957F434}" type="datetimeFigureOut">
              <a:rPr lang="en-US" smtClean="0"/>
              <a:t>3/16/2013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96055-C3DA-49C7-AC18-18A0163190F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7541A4-9A71-49C7-9ED4-6228F957F434}" type="datetimeFigureOut">
              <a:rPr lang="en-US" smtClean="0"/>
              <a:t>3/16/2013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96055-C3DA-49C7-AC18-18A0163190F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7541A4-9A71-49C7-9ED4-6228F957F434}" type="datetimeFigureOut">
              <a:rPr lang="en-US" smtClean="0"/>
              <a:t>3/16/2013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96055-C3DA-49C7-AC18-18A0163190F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7541A4-9A71-49C7-9ED4-6228F957F434}" type="datetimeFigureOut">
              <a:rPr lang="en-US" smtClean="0"/>
              <a:t>3/16/2013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96055-C3DA-49C7-AC18-18A0163190F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7541A4-9A71-49C7-9ED4-6228F957F434}" type="datetimeFigureOut">
              <a:rPr lang="en-US" smtClean="0"/>
              <a:t>3/16/2013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96055-C3DA-49C7-AC18-18A0163190F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7541A4-9A71-49C7-9ED4-6228F957F434}" type="datetimeFigureOut">
              <a:rPr lang="en-US" smtClean="0"/>
              <a:t>3/16/2013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96055-C3DA-49C7-AC18-18A0163190F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7541A4-9A71-49C7-9ED4-6228F957F434}" type="datetimeFigureOut">
              <a:rPr lang="en-US" smtClean="0"/>
              <a:t>3/16/2013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796055-C3DA-49C7-AC18-18A0163190F8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hyperlink" Target="http://example.com/xsds/passenger" TargetMode="External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6096000"/>
            <a:ext cx="9144000" cy="762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8600" y="6248400"/>
            <a:ext cx="1371600" cy="4103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TextBox 9"/>
          <p:cNvSpPr txBox="1"/>
          <p:nvPr/>
        </p:nvSpPr>
        <p:spPr>
          <a:xfrm>
            <a:off x="1905000" y="6324600"/>
            <a:ext cx="4648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solidFill>
                  <a:schemeClr val="bg1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Web Services Explained</a:t>
            </a:r>
            <a:endParaRPr lang="en-US" dirty="0">
              <a:solidFill>
                <a:schemeClr val="bg1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pic>
        <p:nvPicPr>
          <p:cNvPr id="1033" name="Picture 9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934202" y="6248400"/>
            <a:ext cx="1981195" cy="4312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8" name="TextBox 17"/>
          <p:cNvSpPr txBox="1"/>
          <p:nvPr/>
        </p:nvSpPr>
        <p:spPr>
          <a:xfrm>
            <a:off x="0" y="20574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 smtClean="0"/>
              <a:t>Web Services Explained</a:t>
            </a:r>
            <a:endParaRPr lang="en-US" sz="48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6096000"/>
            <a:ext cx="9144000" cy="762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8600" y="6248400"/>
            <a:ext cx="1371600" cy="4103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TextBox 9"/>
          <p:cNvSpPr txBox="1"/>
          <p:nvPr/>
        </p:nvSpPr>
        <p:spPr>
          <a:xfrm>
            <a:off x="1905000" y="6324600"/>
            <a:ext cx="4648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solidFill>
                  <a:schemeClr val="bg1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Web Services Explained</a:t>
            </a:r>
            <a:endParaRPr lang="en-US" dirty="0">
              <a:solidFill>
                <a:schemeClr val="bg1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pic>
        <p:nvPicPr>
          <p:cNvPr id="1033" name="Picture 9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934202" y="6248400"/>
            <a:ext cx="1981195" cy="4312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8" name="TextBox 17"/>
          <p:cNvSpPr txBox="1"/>
          <p:nvPr/>
        </p:nvSpPr>
        <p:spPr>
          <a:xfrm>
            <a:off x="0" y="21336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 smtClean="0"/>
              <a:t>What’s a web service? </a:t>
            </a:r>
            <a:endParaRPr lang="en-US" sz="4800" dirty="0" smtClean="0"/>
          </a:p>
        </p:txBody>
      </p:sp>
      <p:sp>
        <p:nvSpPr>
          <p:cNvPr id="8" name="TextBox 7"/>
          <p:cNvSpPr txBox="1"/>
          <p:nvPr/>
        </p:nvSpPr>
        <p:spPr>
          <a:xfrm>
            <a:off x="7239000" y="0"/>
            <a:ext cx="1905000" cy="461665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Web Services</a:t>
            </a:r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1905000" y="6324600"/>
            <a:ext cx="4648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solidFill>
                  <a:schemeClr val="bg1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Tools for testing web services</a:t>
            </a:r>
            <a:endParaRPr lang="en-US" dirty="0">
              <a:solidFill>
                <a:schemeClr val="bg1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pic>
        <p:nvPicPr>
          <p:cNvPr id="7" name="Picture 6" descr="HorseKiting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10251122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6096000"/>
            <a:ext cx="9144000" cy="762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8600" y="6248400"/>
            <a:ext cx="1371600" cy="4103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TextBox 9"/>
          <p:cNvSpPr txBox="1"/>
          <p:nvPr/>
        </p:nvSpPr>
        <p:spPr>
          <a:xfrm>
            <a:off x="1905000" y="6324600"/>
            <a:ext cx="4648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solidFill>
                  <a:schemeClr val="bg1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Web Services Explained</a:t>
            </a:r>
            <a:endParaRPr lang="en-US" dirty="0">
              <a:solidFill>
                <a:schemeClr val="bg1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pic>
        <p:nvPicPr>
          <p:cNvPr id="1033" name="Picture 9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934202" y="6248400"/>
            <a:ext cx="1981195" cy="4312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8" name="TextBox 17"/>
          <p:cNvSpPr txBox="1"/>
          <p:nvPr/>
        </p:nvSpPr>
        <p:spPr>
          <a:xfrm>
            <a:off x="0" y="609600"/>
            <a:ext cx="9144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 smtClean="0"/>
              <a:t>Web Services </a:t>
            </a:r>
          </a:p>
          <a:p>
            <a:pPr algn="ctr"/>
            <a:r>
              <a:rPr lang="en-US" sz="4800" dirty="0" smtClean="0"/>
              <a:t>are applications</a:t>
            </a:r>
            <a:r>
              <a:rPr lang="en-US" sz="4800" dirty="0" smtClean="0"/>
              <a:t> that</a:t>
            </a:r>
            <a:endParaRPr lang="en-US" sz="4800" dirty="0"/>
          </a:p>
        </p:txBody>
      </p:sp>
      <p:sp>
        <p:nvSpPr>
          <p:cNvPr id="7" name="Rectangle 6"/>
          <p:cNvSpPr/>
          <p:nvPr/>
        </p:nvSpPr>
        <p:spPr>
          <a:xfrm>
            <a:off x="685800" y="2590800"/>
            <a:ext cx="77724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914400" lvl="1" indent="-457200">
              <a:buFont typeface="Calibri" pitchFamily="34" charset="0"/>
              <a:buChar char="›"/>
            </a:pPr>
            <a:r>
              <a:rPr lang="en-US" sz="3600" dirty="0" smtClean="0"/>
              <a:t>Are accessible on the web</a:t>
            </a:r>
          </a:p>
          <a:p>
            <a:pPr marL="914400" lvl="1" indent="-457200">
              <a:buFont typeface="Calibri" pitchFamily="34" charset="0"/>
              <a:buChar char="›"/>
            </a:pPr>
            <a:r>
              <a:rPr lang="en-US" sz="3600" dirty="0" smtClean="0"/>
              <a:t>Communicate over open protocols </a:t>
            </a:r>
          </a:p>
          <a:p>
            <a:pPr marL="914400" lvl="1" indent="-457200">
              <a:buFont typeface="Calibri" pitchFamily="34" charset="0"/>
              <a:buChar char="›"/>
            </a:pPr>
            <a:r>
              <a:rPr lang="en-US" sz="3600" dirty="0" smtClean="0"/>
              <a:t>Are self contained</a:t>
            </a:r>
          </a:p>
          <a:p>
            <a:pPr marL="914400" lvl="1" indent="-457200">
              <a:buFont typeface="Calibri" pitchFamily="34" charset="0"/>
              <a:buChar char="›"/>
            </a:pPr>
            <a:r>
              <a:rPr lang="en-US" sz="3600" dirty="0" smtClean="0"/>
              <a:t>Can be used by other applications</a:t>
            </a:r>
            <a:endParaRPr lang="en-US" sz="3600" dirty="0" smtClean="0"/>
          </a:p>
        </p:txBody>
      </p:sp>
      <p:sp>
        <p:nvSpPr>
          <p:cNvPr id="8" name="TextBox 7"/>
          <p:cNvSpPr txBox="1"/>
          <p:nvPr/>
        </p:nvSpPr>
        <p:spPr>
          <a:xfrm>
            <a:off x="7239000" y="0"/>
            <a:ext cx="1905000" cy="461665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Web Services</a:t>
            </a:r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0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6096000"/>
            <a:ext cx="9144000" cy="762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8600" y="6248400"/>
            <a:ext cx="1371600" cy="4103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TextBox 9"/>
          <p:cNvSpPr txBox="1"/>
          <p:nvPr/>
        </p:nvSpPr>
        <p:spPr>
          <a:xfrm>
            <a:off x="1905000" y="6324600"/>
            <a:ext cx="4648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solidFill>
                  <a:schemeClr val="bg1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Web Services Explained</a:t>
            </a:r>
            <a:endParaRPr lang="en-US" dirty="0">
              <a:solidFill>
                <a:schemeClr val="bg1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pic>
        <p:nvPicPr>
          <p:cNvPr id="1033" name="Picture 9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934202" y="6248400"/>
            <a:ext cx="1981195" cy="4312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8" name="TextBox 17"/>
          <p:cNvSpPr txBox="1"/>
          <p:nvPr/>
        </p:nvSpPr>
        <p:spPr>
          <a:xfrm>
            <a:off x="457200" y="1219200"/>
            <a:ext cx="8686800" cy="72943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1200" dirty="0" smtClean="0"/>
          </a:p>
          <a:p>
            <a:pPr marL="457200" indent="-457200"/>
            <a:r>
              <a:rPr lang="en-US" sz="3600" dirty="0" smtClean="0"/>
              <a:t>Provide reusable standalone components</a:t>
            </a:r>
          </a:p>
          <a:p>
            <a:pPr marL="914400" lvl="1" indent="-457200">
              <a:buFont typeface="Calibri" pitchFamily="34" charset="0"/>
              <a:buChar char="›"/>
            </a:pPr>
            <a:r>
              <a:rPr lang="en-US" sz="2400" dirty="0" smtClean="0"/>
              <a:t>scalability</a:t>
            </a:r>
          </a:p>
          <a:p>
            <a:pPr marL="914400" lvl="1" indent="-457200">
              <a:buFont typeface="Calibri" pitchFamily="34" charset="0"/>
              <a:buChar char="›"/>
            </a:pPr>
            <a:r>
              <a:rPr lang="en-US" sz="2400" dirty="0" smtClean="0"/>
              <a:t>isolation</a:t>
            </a:r>
          </a:p>
          <a:p>
            <a:pPr marL="914400" lvl="1" indent="-457200">
              <a:buFont typeface="Calibri" pitchFamily="34" charset="0"/>
              <a:buChar char="›"/>
            </a:pPr>
            <a:r>
              <a:rPr lang="en-US" sz="2400" dirty="0" smtClean="0"/>
              <a:t>separation of concerns</a:t>
            </a:r>
          </a:p>
          <a:p>
            <a:pPr marL="914400" lvl="1" indent="-457200">
              <a:buFont typeface="Calibri" pitchFamily="34" charset="0"/>
              <a:buChar char="›"/>
            </a:pPr>
            <a:r>
              <a:rPr lang="en-US" sz="2400" dirty="0" smtClean="0"/>
              <a:t>can be used by other applications</a:t>
            </a:r>
          </a:p>
          <a:p>
            <a:pPr marL="914400" lvl="1" indent="-457200"/>
            <a:endParaRPr lang="en-US" sz="2400" dirty="0" smtClean="0"/>
          </a:p>
          <a:p>
            <a:pPr marL="457200" indent="-457200"/>
            <a:r>
              <a:rPr lang="en-US" sz="3600" dirty="0" smtClean="0"/>
              <a:t>Provide interoperability between apps</a:t>
            </a:r>
          </a:p>
          <a:p>
            <a:pPr marL="914400" lvl="1" indent="-457200">
              <a:buFont typeface="Calibri" pitchFamily="34" charset="0"/>
              <a:buChar char="›"/>
            </a:pPr>
            <a:r>
              <a:rPr lang="en-US" sz="2400" dirty="0" smtClean="0"/>
              <a:t>share data</a:t>
            </a:r>
          </a:p>
          <a:p>
            <a:pPr marL="914400" lvl="1" indent="-457200">
              <a:buFont typeface="Calibri" pitchFamily="34" charset="0"/>
              <a:buChar char="›"/>
            </a:pPr>
            <a:r>
              <a:rPr lang="en-US" sz="2400" dirty="0" smtClean="0"/>
              <a:t>platform independent</a:t>
            </a:r>
          </a:p>
          <a:p>
            <a:pPr marL="914400" lvl="1" indent="-457200">
              <a:buFont typeface="Calibri" pitchFamily="34" charset="0"/>
              <a:buChar char="›"/>
            </a:pPr>
            <a:r>
              <a:rPr lang="en-US" sz="2400" dirty="0" smtClean="0"/>
              <a:t>internet accessible</a:t>
            </a:r>
          </a:p>
          <a:p>
            <a:pPr marL="914400" lvl="1" indent="-457200">
              <a:buFont typeface="Calibri" pitchFamily="34" charset="0"/>
              <a:buChar char="›"/>
            </a:pPr>
            <a:r>
              <a:rPr lang="en-US" sz="2400" dirty="0" smtClean="0"/>
              <a:t>bypass firewall restrictions</a:t>
            </a:r>
          </a:p>
          <a:p>
            <a:pPr marL="1371600" lvl="2" indent="-457200">
              <a:buFont typeface="Calibri" pitchFamily="34" charset="0"/>
              <a:buChar char="›"/>
            </a:pPr>
            <a:endParaRPr lang="en-US" sz="2400" dirty="0" smtClean="0"/>
          </a:p>
          <a:p>
            <a:pPr marL="914400" lvl="1" indent="-457200">
              <a:buFont typeface="Calibri" pitchFamily="34" charset="0"/>
              <a:buChar char="›"/>
            </a:pPr>
            <a:endParaRPr lang="en-US" sz="3600" dirty="0" smtClean="0"/>
          </a:p>
          <a:p>
            <a:pPr marL="914400" lvl="1" indent="-457200">
              <a:buFont typeface="Calibri" pitchFamily="34" charset="0"/>
              <a:buChar char="›"/>
            </a:pPr>
            <a:endParaRPr lang="en-US" sz="3600" dirty="0" smtClean="0"/>
          </a:p>
          <a:p>
            <a:pPr marL="914400" lvl="1" indent="-457200">
              <a:buFont typeface="Calibri" pitchFamily="34" charset="0"/>
              <a:buChar char="›"/>
            </a:pPr>
            <a:endParaRPr lang="en-US" sz="3600" dirty="0" smtClean="0"/>
          </a:p>
          <a:p>
            <a:pPr marL="914400" lvl="1" indent="-457200">
              <a:buFont typeface="Calibri" pitchFamily="34" charset="0"/>
              <a:buChar char="›"/>
            </a:pPr>
            <a:endParaRPr lang="en-US" sz="3600" dirty="0" smtClean="0"/>
          </a:p>
        </p:txBody>
      </p:sp>
      <p:sp>
        <p:nvSpPr>
          <p:cNvPr id="7" name="Rectangle 6"/>
          <p:cNvSpPr/>
          <p:nvPr/>
        </p:nvSpPr>
        <p:spPr>
          <a:xfrm>
            <a:off x="0" y="609600"/>
            <a:ext cx="91440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4800" dirty="0" smtClean="0"/>
              <a:t>Web Services can</a:t>
            </a:r>
            <a:endParaRPr lang="en-US" sz="4800" dirty="0" smtClean="0"/>
          </a:p>
        </p:txBody>
      </p:sp>
      <p:sp>
        <p:nvSpPr>
          <p:cNvPr id="9" name="TextBox 8"/>
          <p:cNvSpPr txBox="1"/>
          <p:nvPr/>
        </p:nvSpPr>
        <p:spPr>
          <a:xfrm>
            <a:off x="7239000" y="0"/>
            <a:ext cx="1905000" cy="461665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Web Services</a:t>
            </a:r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0"/>
                                        <p:tgtEl>
                                          <p:spTgt spid="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000"/>
                                        <p:tgtEl>
                                          <p:spTgt spid="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0"/>
                                        <p:tgtEl>
                                          <p:spTgt spid="1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000"/>
                                        <p:tgtEl>
                                          <p:spTgt spid="1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1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2000"/>
                                        <p:tgtEl>
                                          <p:spTgt spid="1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2000"/>
                                        <p:tgtEl>
                                          <p:spTgt spid="1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2000"/>
                                        <p:tgtEl>
                                          <p:spTgt spid="1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6096000"/>
            <a:ext cx="9144000" cy="762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8600" y="6248400"/>
            <a:ext cx="1371600" cy="4103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TextBox 9"/>
          <p:cNvSpPr txBox="1"/>
          <p:nvPr/>
        </p:nvSpPr>
        <p:spPr>
          <a:xfrm>
            <a:off x="1905000" y="6324600"/>
            <a:ext cx="4648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solidFill>
                  <a:schemeClr val="bg1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Web Services Explained</a:t>
            </a:r>
            <a:endParaRPr lang="en-US" dirty="0">
              <a:solidFill>
                <a:schemeClr val="bg1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pic>
        <p:nvPicPr>
          <p:cNvPr id="1033" name="Picture 9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934202" y="6248400"/>
            <a:ext cx="1981195" cy="4312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8" name="TextBox 17"/>
          <p:cNvSpPr txBox="1"/>
          <p:nvPr/>
        </p:nvSpPr>
        <p:spPr>
          <a:xfrm>
            <a:off x="0" y="609600"/>
            <a:ext cx="9144000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 smtClean="0"/>
              <a:t>Basically, </a:t>
            </a:r>
          </a:p>
          <a:p>
            <a:pPr algn="ctr"/>
            <a:r>
              <a:rPr lang="en-US" sz="4800" dirty="0" smtClean="0"/>
              <a:t>Web Services are a way </a:t>
            </a:r>
          </a:p>
          <a:p>
            <a:pPr algn="ctr"/>
            <a:r>
              <a:rPr lang="en-US" sz="4800" dirty="0" smtClean="0"/>
              <a:t>of passing data</a:t>
            </a:r>
          </a:p>
          <a:p>
            <a:pPr algn="ctr"/>
            <a:r>
              <a:rPr lang="en-US" sz="4800" dirty="0" smtClean="0"/>
              <a:t>over HTTP</a:t>
            </a:r>
          </a:p>
          <a:p>
            <a:pPr algn="ctr"/>
            <a:r>
              <a:rPr lang="en-US" sz="4800" dirty="0" smtClean="0"/>
              <a:t>in a standardized way.</a:t>
            </a:r>
          </a:p>
          <a:p>
            <a:pPr algn="ctr"/>
            <a:endParaRPr lang="en-US" sz="4800" dirty="0"/>
          </a:p>
          <a:p>
            <a:pPr algn="ctr"/>
            <a:endParaRPr lang="en-US" sz="4800" dirty="0" smtClean="0"/>
          </a:p>
        </p:txBody>
      </p:sp>
      <p:sp>
        <p:nvSpPr>
          <p:cNvPr id="7" name="TextBox 6"/>
          <p:cNvSpPr txBox="1"/>
          <p:nvPr/>
        </p:nvSpPr>
        <p:spPr>
          <a:xfrm>
            <a:off x="7239000" y="0"/>
            <a:ext cx="1905000" cy="461665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Web Services</a:t>
            </a:r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6096000"/>
            <a:ext cx="9144000" cy="762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8600" y="6248400"/>
            <a:ext cx="1371600" cy="4103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TextBox 9"/>
          <p:cNvSpPr txBox="1"/>
          <p:nvPr/>
        </p:nvSpPr>
        <p:spPr>
          <a:xfrm>
            <a:off x="1905000" y="6324600"/>
            <a:ext cx="4648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solidFill>
                  <a:schemeClr val="bg1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Web Services Explained</a:t>
            </a:r>
            <a:endParaRPr lang="en-US" dirty="0">
              <a:solidFill>
                <a:schemeClr val="bg1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pic>
        <p:nvPicPr>
          <p:cNvPr id="1033" name="Picture 9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934202" y="6248400"/>
            <a:ext cx="1981195" cy="4312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8" name="TextBox 17"/>
          <p:cNvSpPr txBox="1"/>
          <p:nvPr/>
        </p:nvSpPr>
        <p:spPr>
          <a:xfrm>
            <a:off x="0" y="457200"/>
            <a:ext cx="9144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 smtClean="0"/>
              <a:t>Separating data from implementation</a:t>
            </a:r>
            <a:endParaRPr lang="en-US" sz="4800" dirty="0" smtClean="0"/>
          </a:p>
        </p:txBody>
      </p:sp>
      <p:sp>
        <p:nvSpPr>
          <p:cNvPr id="7" name="Rectangle 6"/>
          <p:cNvSpPr/>
          <p:nvPr/>
        </p:nvSpPr>
        <p:spPr>
          <a:xfrm>
            <a:off x="381000" y="2590800"/>
            <a:ext cx="792480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914400" lvl="1" indent="-457200">
              <a:buFont typeface="Calibri" pitchFamily="34" charset="0"/>
              <a:buChar char="›"/>
            </a:pPr>
            <a:r>
              <a:rPr lang="en-US" sz="3600" dirty="0" smtClean="0"/>
              <a:t>No user interface</a:t>
            </a:r>
          </a:p>
          <a:p>
            <a:pPr marL="914400" lvl="1" indent="-457200">
              <a:buFont typeface="Calibri" pitchFamily="34" charset="0"/>
              <a:buChar char="›"/>
            </a:pPr>
            <a:r>
              <a:rPr lang="en-US" sz="3600" dirty="0" smtClean="0"/>
              <a:t>No state</a:t>
            </a:r>
          </a:p>
          <a:p>
            <a:pPr marL="914400" lvl="1" indent="-457200">
              <a:buFont typeface="Calibri" pitchFamily="34" charset="0"/>
              <a:buChar char="›"/>
            </a:pPr>
            <a:r>
              <a:rPr lang="en-US" sz="3600" dirty="0" smtClean="0"/>
              <a:t>No proprietary lock-in</a:t>
            </a:r>
            <a:endParaRPr lang="en-US" sz="3600" dirty="0" smtClean="0"/>
          </a:p>
        </p:txBody>
      </p:sp>
      <p:sp>
        <p:nvSpPr>
          <p:cNvPr id="8" name="TextBox 7"/>
          <p:cNvSpPr txBox="1"/>
          <p:nvPr/>
        </p:nvSpPr>
        <p:spPr>
          <a:xfrm>
            <a:off x="7239000" y="0"/>
            <a:ext cx="1905000" cy="461665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Web Services</a:t>
            </a:r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allAtOnce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6096000"/>
            <a:ext cx="9144000" cy="762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8600" y="6248400"/>
            <a:ext cx="1371600" cy="4103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TextBox 9"/>
          <p:cNvSpPr txBox="1"/>
          <p:nvPr/>
        </p:nvSpPr>
        <p:spPr>
          <a:xfrm>
            <a:off x="1905000" y="6324600"/>
            <a:ext cx="4648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solidFill>
                  <a:schemeClr val="bg1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Web Services Explained</a:t>
            </a:r>
            <a:endParaRPr lang="en-US" dirty="0">
              <a:solidFill>
                <a:schemeClr val="bg1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pic>
        <p:nvPicPr>
          <p:cNvPr id="1033" name="Picture 9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934202" y="6248400"/>
            <a:ext cx="1981195" cy="4312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8" name="TextBox 17"/>
          <p:cNvSpPr txBox="1"/>
          <p:nvPr/>
        </p:nvSpPr>
        <p:spPr>
          <a:xfrm>
            <a:off x="0" y="457200"/>
            <a:ext cx="9144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 smtClean="0"/>
              <a:t>Web Services </a:t>
            </a:r>
          </a:p>
          <a:p>
            <a:pPr algn="ctr"/>
            <a:r>
              <a:rPr lang="en-US" sz="4800" dirty="0" smtClean="0"/>
              <a:t>use open protocols</a:t>
            </a:r>
            <a:endParaRPr lang="en-US" sz="4800" dirty="0" smtClean="0"/>
          </a:p>
        </p:txBody>
      </p:sp>
      <p:sp>
        <p:nvSpPr>
          <p:cNvPr id="8" name="Rectangle 7"/>
          <p:cNvSpPr/>
          <p:nvPr/>
        </p:nvSpPr>
        <p:spPr>
          <a:xfrm>
            <a:off x="2895600" y="2590800"/>
            <a:ext cx="243840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914400" lvl="1" indent="-457200">
              <a:buFont typeface="Calibri" pitchFamily="34" charset="0"/>
              <a:buChar char="›"/>
            </a:pPr>
            <a:r>
              <a:rPr lang="en-US" sz="3600" dirty="0" smtClean="0"/>
              <a:t>HTTP</a:t>
            </a:r>
          </a:p>
          <a:p>
            <a:pPr marL="914400" lvl="1" indent="-457200">
              <a:buFont typeface="Calibri" pitchFamily="34" charset="0"/>
              <a:buChar char="›"/>
            </a:pPr>
            <a:r>
              <a:rPr lang="en-US" sz="3600" dirty="0" smtClean="0"/>
              <a:t>XML</a:t>
            </a:r>
          </a:p>
          <a:p>
            <a:pPr marL="914400" lvl="1" indent="-457200">
              <a:buFont typeface="Calibri" pitchFamily="34" charset="0"/>
              <a:buChar char="›"/>
            </a:pPr>
            <a:r>
              <a:rPr lang="en-US" sz="3600" dirty="0" smtClean="0"/>
              <a:t>JSON</a:t>
            </a:r>
            <a:endParaRPr lang="en-US" sz="3600" dirty="0" smtClean="0"/>
          </a:p>
        </p:txBody>
      </p:sp>
      <p:sp>
        <p:nvSpPr>
          <p:cNvPr id="11" name="TextBox 10"/>
          <p:cNvSpPr txBox="1"/>
          <p:nvPr/>
        </p:nvSpPr>
        <p:spPr>
          <a:xfrm>
            <a:off x="7239000" y="0"/>
            <a:ext cx="1905000" cy="461665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Web Services</a:t>
            </a:r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uiExpand="1" build="allAtOnce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6096000"/>
            <a:ext cx="9144000" cy="762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8600" y="6248400"/>
            <a:ext cx="1371600" cy="4103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TextBox 9"/>
          <p:cNvSpPr txBox="1"/>
          <p:nvPr/>
        </p:nvSpPr>
        <p:spPr>
          <a:xfrm>
            <a:off x="1905000" y="6324600"/>
            <a:ext cx="4648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solidFill>
                  <a:schemeClr val="bg1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Web Services Explained</a:t>
            </a:r>
            <a:endParaRPr lang="en-US" dirty="0">
              <a:solidFill>
                <a:schemeClr val="bg1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pic>
        <p:nvPicPr>
          <p:cNvPr id="1033" name="Picture 9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934202" y="6248400"/>
            <a:ext cx="1981195" cy="4312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8" name="TextBox 17"/>
          <p:cNvSpPr txBox="1"/>
          <p:nvPr/>
        </p:nvSpPr>
        <p:spPr>
          <a:xfrm>
            <a:off x="0" y="6096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 smtClean="0"/>
              <a:t>Two main types of web services</a:t>
            </a:r>
            <a:endParaRPr lang="en-US" sz="4800" dirty="0" smtClean="0"/>
          </a:p>
        </p:txBody>
      </p:sp>
      <p:sp>
        <p:nvSpPr>
          <p:cNvPr id="8" name="Rectangle 7"/>
          <p:cNvSpPr/>
          <p:nvPr/>
        </p:nvSpPr>
        <p:spPr>
          <a:xfrm>
            <a:off x="304800" y="2514600"/>
            <a:ext cx="4267200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itchFamily="34" charset="0"/>
              <a:buChar char="•"/>
            </a:pPr>
            <a:r>
              <a:rPr lang="en-US" sz="2400" dirty="0" smtClean="0"/>
              <a:t>Complex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2400" dirty="0" smtClean="0"/>
              <a:t>Maintains session state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2400" dirty="0" smtClean="0"/>
              <a:t>Built in security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2400" dirty="0" smtClean="0"/>
              <a:t>Heavyweight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2400" dirty="0" smtClean="0"/>
              <a:t>Uses HTTP as a wrapper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2400" dirty="0" smtClean="0"/>
              <a:t>XML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2400" dirty="0" smtClean="0"/>
              <a:t>Messages are standardized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2400" dirty="0" smtClean="0"/>
              <a:t>Discoverable and self-documenting	</a:t>
            </a:r>
            <a:endParaRPr lang="en-US" sz="2400" dirty="0" smtClean="0"/>
          </a:p>
        </p:txBody>
      </p:sp>
      <p:sp>
        <p:nvSpPr>
          <p:cNvPr id="9" name="Rectangle 8"/>
          <p:cNvSpPr/>
          <p:nvPr/>
        </p:nvSpPr>
        <p:spPr>
          <a:xfrm>
            <a:off x="4800600" y="2514600"/>
            <a:ext cx="3962400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itchFamily="34" charset="0"/>
              <a:buChar char="•"/>
            </a:pPr>
            <a:r>
              <a:rPr lang="en-US" sz="2400" dirty="0" smtClean="0"/>
              <a:t>Simple</a:t>
            </a:r>
            <a:endParaRPr lang="en-US" sz="2400" dirty="0" smtClean="0"/>
          </a:p>
          <a:p>
            <a:pPr marL="457200" indent="-457200">
              <a:buFont typeface="Arial" pitchFamily="34" charset="0"/>
              <a:buChar char="•"/>
            </a:pPr>
            <a:r>
              <a:rPr lang="en-US" sz="2400" dirty="0" smtClean="0"/>
              <a:t>Stateless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2400" dirty="0" smtClean="0"/>
              <a:t>Relies on external security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2400" dirty="0" smtClean="0"/>
              <a:t>Lightweight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2400" dirty="0" smtClean="0"/>
              <a:t>Works with HTTP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2400" dirty="0" smtClean="0"/>
              <a:t>XML or JSON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2400" dirty="0" smtClean="0"/>
              <a:t>Messages are freeform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2400" dirty="0" smtClean="0"/>
              <a:t>No mechanism for discovery or documenting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81000" y="1676400"/>
            <a:ext cx="22860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ctr"/>
            <a:r>
              <a:rPr lang="en-US" sz="4800" u="sng" dirty="0" smtClean="0"/>
              <a:t>SOAP</a:t>
            </a:r>
            <a:endParaRPr lang="en-US" sz="4800" u="sng" dirty="0" smtClean="0"/>
          </a:p>
        </p:txBody>
      </p:sp>
      <p:sp>
        <p:nvSpPr>
          <p:cNvPr id="13" name="Rectangle 12"/>
          <p:cNvSpPr/>
          <p:nvPr/>
        </p:nvSpPr>
        <p:spPr>
          <a:xfrm>
            <a:off x="4648200" y="1676400"/>
            <a:ext cx="25908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ctr"/>
            <a:r>
              <a:rPr lang="en-US" sz="4800" u="sng" dirty="0" smtClean="0"/>
              <a:t>REST</a:t>
            </a:r>
            <a:endParaRPr lang="en-US" sz="4800" u="sng" dirty="0" smtClean="0"/>
          </a:p>
        </p:txBody>
      </p:sp>
      <p:sp>
        <p:nvSpPr>
          <p:cNvPr id="16" name="TextBox 15"/>
          <p:cNvSpPr txBox="1"/>
          <p:nvPr/>
        </p:nvSpPr>
        <p:spPr>
          <a:xfrm>
            <a:off x="7239000" y="0"/>
            <a:ext cx="1905000" cy="461665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Web Services</a:t>
            </a:r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0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0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0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2000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2000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2000"/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2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20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20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20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20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20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2000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allAtOnce"/>
      <p:bldP spid="9" grpId="0" uiExpand="1" build="allAtOnce"/>
      <p:bldP spid="11" grpId="0" build="allAtOnce"/>
      <p:bldP spid="13" grpId="0" build="allAtOnce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6096000"/>
            <a:ext cx="9144000" cy="762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1905000" y="6324600"/>
            <a:ext cx="4648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solidFill>
                  <a:schemeClr val="bg1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Understanding HTTP</a:t>
            </a:r>
            <a:endParaRPr lang="en-US" dirty="0">
              <a:solidFill>
                <a:schemeClr val="bg1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0" y="4572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 smtClean="0"/>
              <a:t>XML Revisited</a:t>
            </a:r>
            <a:endParaRPr lang="en-US" sz="4800" dirty="0" smtClean="0"/>
          </a:p>
        </p:txBody>
      </p:sp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8600" y="6248400"/>
            <a:ext cx="1371600" cy="4103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" name="Picture 9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934202" y="6248400"/>
            <a:ext cx="1981195" cy="4312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TextBox 2"/>
          <p:cNvSpPr txBox="1"/>
          <p:nvPr/>
        </p:nvSpPr>
        <p:spPr>
          <a:xfrm>
            <a:off x="304800" y="2133600"/>
            <a:ext cx="82296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 smtClean="0"/>
              <a:t>Schemas</a:t>
            </a:r>
          </a:p>
          <a:p>
            <a:pPr algn="ctr"/>
            <a:r>
              <a:rPr lang="en-US" sz="3600" dirty="0" smtClean="0"/>
              <a:t>XSDs</a:t>
            </a:r>
          </a:p>
          <a:p>
            <a:pPr algn="ctr"/>
            <a:r>
              <a:rPr lang="en-US" sz="3600" dirty="0" smtClean="0"/>
              <a:t>Namespaces</a:t>
            </a:r>
          </a:p>
          <a:p>
            <a:pPr algn="ctr"/>
            <a:endParaRPr lang="en-US" sz="3600" dirty="0"/>
          </a:p>
        </p:txBody>
      </p:sp>
      <p:sp>
        <p:nvSpPr>
          <p:cNvPr id="11" name="TextBox 10"/>
          <p:cNvSpPr txBox="1"/>
          <p:nvPr/>
        </p:nvSpPr>
        <p:spPr>
          <a:xfrm>
            <a:off x="8229600" y="0"/>
            <a:ext cx="914399" cy="461665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XML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xmlns="" val="2399316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6096000"/>
            <a:ext cx="9144000" cy="762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8600" y="6248400"/>
            <a:ext cx="1371600" cy="4103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TextBox 9"/>
          <p:cNvSpPr txBox="1"/>
          <p:nvPr/>
        </p:nvSpPr>
        <p:spPr>
          <a:xfrm>
            <a:off x="1905000" y="6324600"/>
            <a:ext cx="4648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solidFill>
                  <a:schemeClr val="bg1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Web Services Explained</a:t>
            </a:r>
            <a:endParaRPr lang="en-US" dirty="0">
              <a:solidFill>
                <a:schemeClr val="bg1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pic>
        <p:nvPicPr>
          <p:cNvPr id="1033" name="Picture 9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934202" y="6248400"/>
            <a:ext cx="1981195" cy="4312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8" name="TextBox 17"/>
          <p:cNvSpPr txBox="1"/>
          <p:nvPr/>
        </p:nvSpPr>
        <p:spPr>
          <a:xfrm>
            <a:off x="0" y="457200"/>
            <a:ext cx="914400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 smtClean="0"/>
              <a:t>XSD</a:t>
            </a:r>
          </a:p>
          <a:p>
            <a:pPr algn="ctr"/>
            <a:r>
              <a:rPr lang="en-US" sz="3600" dirty="0" smtClean="0"/>
              <a:t>XML Schema Definition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1905000"/>
            <a:ext cx="11277600" cy="40626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400" dirty="0">
                <a:latin typeface="Consolas" pitchFamily="49" charset="0"/>
                <a:cs typeface="Consolas" pitchFamily="49" charset="0"/>
              </a:rPr>
              <a:t>&lt;?</a:t>
            </a:r>
            <a:r>
              <a:rPr lang="en-GB" sz="1400" dirty="0" err="1">
                <a:latin typeface="Consolas" pitchFamily="49" charset="0"/>
                <a:cs typeface="Consolas" pitchFamily="49" charset="0"/>
              </a:rPr>
              <a:t>xml</a:t>
            </a:r>
            <a:r>
              <a:rPr lang="en-GB" sz="1400" dirty="0">
                <a:latin typeface="Consolas" pitchFamily="49" charset="0"/>
                <a:cs typeface="Consolas" pitchFamily="49" charset="0"/>
              </a:rPr>
              <a:t> version=</a:t>
            </a:r>
            <a:r>
              <a:rPr lang="en-GB" sz="1400" i="1" dirty="0">
                <a:latin typeface="Consolas" pitchFamily="49" charset="0"/>
                <a:cs typeface="Consolas" pitchFamily="49" charset="0"/>
              </a:rPr>
              <a:t>"1.0" encoding="UTF-8" standalone="yes"?&gt;</a:t>
            </a:r>
          </a:p>
          <a:p>
            <a:r>
              <a:rPr lang="de-DE" sz="1400" dirty="0">
                <a:latin typeface="Consolas" pitchFamily="49" charset="0"/>
                <a:cs typeface="Consolas" pitchFamily="49" charset="0"/>
              </a:rPr>
              <a:t>&lt;xs:schema version=</a:t>
            </a:r>
            <a:r>
              <a:rPr lang="de-DE" sz="1400" i="1" dirty="0">
                <a:latin typeface="Consolas" pitchFamily="49" charset="0"/>
                <a:cs typeface="Consolas" pitchFamily="49" charset="0"/>
              </a:rPr>
              <a:t>"1.0" xmlns:xs="http://www.w3.org/2001/XMLSchema</a:t>
            </a:r>
            <a:r>
              <a:rPr lang="de-DE" sz="1400" i="1" dirty="0" smtClean="0">
                <a:latin typeface="Consolas" pitchFamily="49" charset="0"/>
                <a:cs typeface="Consolas" pitchFamily="49" charset="0"/>
              </a:rPr>
              <a:t>"&gt;</a:t>
            </a:r>
          </a:p>
          <a:p>
            <a:r>
              <a:rPr lang="en-US" sz="1400" dirty="0">
                <a:latin typeface="Consolas" pitchFamily="49" charset="0"/>
                <a:cs typeface="Consolas" pitchFamily="49" charset="0"/>
              </a:rPr>
              <a:t> &lt;</a:t>
            </a:r>
            <a:r>
              <a:rPr lang="en-US" sz="1400" dirty="0" err="1">
                <a:latin typeface="Consolas" pitchFamily="49" charset="0"/>
                <a:cs typeface="Consolas" pitchFamily="49" charset="0"/>
              </a:rPr>
              <a:t>xs:complexType</a:t>
            </a:r>
            <a:r>
              <a:rPr lang="en-US" sz="1400" dirty="0">
                <a:latin typeface="Consolas" pitchFamily="49" charset="0"/>
                <a:cs typeface="Consolas" pitchFamily="49" charset="0"/>
              </a:rPr>
              <a:t> name=</a:t>
            </a:r>
            <a:r>
              <a:rPr lang="en-US" sz="1400" i="1" dirty="0">
                <a:latin typeface="Consolas" pitchFamily="49" charset="0"/>
                <a:cs typeface="Consolas" pitchFamily="49" charset="0"/>
              </a:rPr>
              <a:t>"</a:t>
            </a:r>
            <a:r>
              <a:rPr lang="en-US" b="1" i="1" dirty="0">
                <a:latin typeface="Consolas" pitchFamily="49" charset="0"/>
                <a:cs typeface="Consolas" pitchFamily="49" charset="0"/>
              </a:rPr>
              <a:t>greeting</a:t>
            </a:r>
            <a:r>
              <a:rPr lang="en-US" sz="1400" i="1" dirty="0">
                <a:latin typeface="Consolas" pitchFamily="49" charset="0"/>
                <a:cs typeface="Consolas" pitchFamily="49" charset="0"/>
              </a:rPr>
              <a:t>"&gt;</a:t>
            </a:r>
          </a:p>
          <a:p>
            <a:r>
              <a:rPr lang="en-US" sz="1400" dirty="0">
                <a:latin typeface="Consolas" pitchFamily="49" charset="0"/>
                <a:cs typeface="Consolas" pitchFamily="49" charset="0"/>
              </a:rPr>
              <a:t>    &lt;</a:t>
            </a:r>
            <a:r>
              <a:rPr lang="en-US" sz="1400" dirty="0" err="1">
                <a:latin typeface="Consolas" pitchFamily="49" charset="0"/>
                <a:cs typeface="Consolas" pitchFamily="49" charset="0"/>
              </a:rPr>
              <a:t>xs:sequence</a:t>
            </a:r>
            <a:r>
              <a:rPr lang="en-US" sz="1400" dirty="0">
                <a:latin typeface="Consolas" pitchFamily="49" charset="0"/>
                <a:cs typeface="Consolas" pitchFamily="49" charset="0"/>
              </a:rPr>
              <a:t>&gt;</a:t>
            </a:r>
          </a:p>
          <a:p>
            <a:r>
              <a:rPr lang="en-US" sz="1400" dirty="0" smtClean="0">
                <a:latin typeface="Consolas" pitchFamily="49" charset="0"/>
                <a:cs typeface="Consolas" pitchFamily="49" charset="0"/>
              </a:rPr>
              <a:t>      &lt;</a:t>
            </a:r>
            <a:r>
              <a:rPr lang="en-US" sz="1400" dirty="0" err="1" smtClean="0">
                <a:latin typeface="Consolas" pitchFamily="49" charset="0"/>
                <a:cs typeface="Consolas" pitchFamily="49" charset="0"/>
              </a:rPr>
              <a:t>xs:element</a:t>
            </a:r>
            <a:r>
              <a:rPr lang="en-US" sz="1400" dirty="0" smtClean="0">
                <a:latin typeface="Consolas" pitchFamily="49" charset="0"/>
                <a:cs typeface="Consolas" pitchFamily="49" charset="0"/>
              </a:rPr>
              <a:t> name=</a:t>
            </a:r>
            <a:r>
              <a:rPr lang="en-US" sz="1400" i="1" dirty="0" smtClean="0">
                <a:latin typeface="Consolas" pitchFamily="49" charset="0"/>
                <a:cs typeface="Consolas" pitchFamily="49" charset="0"/>
              </a:rPr>
              <a:t>"</a:t>
            </a:r>
            <a:r>
              <a:rPr lang="en-US" b="1" i="1" dirty="0" smtClean="0">
                <a:latin typeface="Consolas" pitchFamily="49" charset="0"/>
                <a:cs typeface="Consolas" pitchFamily="49" charset="0"/>
              </a:rPr>
              <a:t>modifiers</a:t>
            </a:r>
            <a:r>
              <a:rPr lang="en-US" sz="1400" i="1" dirty="0" smtClean="0">
                <a:latin typeface="Consolas" pitchFamily="49" charset="0"/>
                <a:cs typeface="Consolas" pitchFamily="49" charset="0"/>
              </a:rPr>
              <a:t>" type="</a:t>
            </a:r>
            <a:r>
              <a:rPr lang="en-US" sz="1400" i="1" dirty="0" err="1" smtClean="0">
                <a:latin typeface="Consolas" pitchFamily="49" charset="0"/>
                <a:cs typeface="Consolas" pitchFamily="49" charset="0"/>
              </a:rPr>
              <a:t>xs:string</a:t>
            </a:r>
            <a:r>
              <a:rPr lang="en-US" sz="1400" i="1" dirty="0" smtClean="0">
                <a:latin typeface="Consolas" pitchFamily="49" charset="0"/>
                <a:cs typeface="Consolas" pitchFamily="49" charset="0"/>
              </a:rPr>
              <a:t>" </a:t>
            </a:r>
            <a:r>
              <a:rPr lang="en-US" sz="1400" i="1" dirty="0" err="1" smtClean="0">
                <a:latin typeface="Consolas" pitchFamily="49" charset="0"/>
                <a:cs typeface="Consolas" pitchFamily="49" charset="0"/>
              </a:rPr>
              <a:t>nillable</a:t>
            </a:r>
            <a:r>
              <a:rPr lang="en-US" sz="1400" i="1" dirty="0" smtClean="0">
                <a:latin typeface="Consolas" pitchFamily="49" charset="0"/>
                <a:cs typeface="Consolas" pitchFamily="49" charset="0"/>
              </a:rPr>
              <a:t>="true" </a:t>
            </a:r>
            <a:r>
              <a:rPr lang="en-US" sz="1400" i="1" dirty="0" err="1" smtClean="0">
                <a:latin typeface="Consolas" pitchFamily="49" charset="0"/>
                <a:cs typeface="Consolas" pitchFamily="49" charset="0"/>
              </a:rPr>
              <a:t>minOccurs</a:t>
            </a:r>
            <a:r>
              <a:rPr lang="en-US" sz="1400" i="1" dirty="0" smtClean="0">
                <a:latin typeface="Consolas" pitchFamily="49" charset="0"/>
                <a:cs typeface="Consolas" pitchFamily="49" charset="0"/>
              </a:rPr>
              <a:t>="0" </a:t>
            </a:r>
            <a:r>
              <a:rPr lang="en-US" sz="1400" i="1" dirty="0" err="1" smtClean="0">
                <a:latin typeface="Consolas" pitchFamily="49" charset="0"/>
                <a:cs typeface="Consolas" pitchFamily="49" charset="0"/>
              </a:rPr>
              <a:t>maxOccurs</a:t>
            </a:r>
            <a:r>
              <a:rPr lang="en-US" sz="1400" i="1" dirty="0" smtClean="0">
                <a:latin typeface="Consolas" pitchFamily="49" charset="0"/>
                <a:cs typeface="Consolas" pitchFamily="49" charset="0"/>
              </a:rPr>
              <a:t>="unbounded"/&gt;</a:t>
            </a:r>
          </a:p>
          <a:p>
            <a:r>
              <a:rPr lang="en-US" sz="1400" dirty="0" smtClean="0">
                <a:latin typeface="Consolas" pitchFamily="49" charset="0"/>
                <a:cs typeface="Consolas" pitchFamily="49" charset="0"/>
              </a:rPr>
              <a:t>      &lt;</a:t>
            </a:r>
            <a:r>
              <a:rPr lang="en-US" sz="1400" dirty="0" err="1" smtClean="0">
                <a:latin typeface="Consolas" pitchFamily="49" charset="0"/>
                <a:cs typeface="Consolas" pitchFamily="49" charset="0"/>
              </a:rPr>
              <a:t>xs:element</a:t>
            </a:r>
            <a:r>
              <a:rPr lang="en-US" sz="1400" dirty="0" smtClean="0">
                <a:latin typeface="Consolas" pitchFamily="49" charset="0"/>
                <a:cs typeface="Consolas" pitchFamily="49" charset="0"/>
              </a:rPr>
              <a:t> name=</a:t>
            </a:r>
            <a:r>
              <a:rPr lang="en-US" sz="1400" i="1" dirty="0" smtClean="0">
                <a:latin typeface="Consolas" pitchFamily="49" charset="0"/>
                <a:cs typeface="Consolas" pitchFamily="49" charset="0"/>
              </a:rPr>
              <a:t>"</a:t>
            </a:r>
            <a:r>
              <a:rPr lang="en-US" b="1" i="1" dirty="0" smtClean="0">
                <a:latin typeface="Consolas" pitchFamily="49" charset="0"/>
                <a:cs typeface="Consolas" pitchFamily="49" charset="0"/>
              </a:rPr>
              <a:t>name</a:t>
            </a:r>
            <a:r>
              <a:rPr lang="en-US" sz="1400" i="1" dirty="0" smtClean="0">
                <a:latin typeface="Consolas" pitchFamily="49" charset="0"/>
                <a:cs typeface="Consolas" pitchFamily="49" charset="0"/>
              </a:rPr>
              <a:t>" type="</a:t>
            </a:r>
            <a:r>
              <a:rPr lang="en-US" sz="1400" i="1" dirty="0" err="1" smtClean="0">
                <a:latin typeface="Consolas" pitchFamily="49" charset="0"/>
                <a:cs typeface="Consolas" pitchFamily="49" charset="0"/>
              </a:rPr>
              <a:t>xs:string</a:t>
            </a:r>
            <a:r>
              <a:rPr lang="en-US" sz="1400" i="1" dirty="0" smtClean="0">
                <a:latin typeface="Consolas" pitchFamily="49" charset="0"/>
                <a:cs typeface="Consolas" pitchFamily="49" charset="0"/>
              </a:rPr>
              <a:t>" </a:t>
            </a:r>
            <a:r>
              <a:rPr lang="en-US" sz="1400" i="1" dirty="0" err="1" smtClean="0">
                <a:latin typeface="Consolas" pitchFamily="49" charset="0"/>
                <a:cs typeface="Consolas" pitchFamily="49" charset="0"/>
              </a:rPr>
              <a:t>minOccurs</a:t>
            </a:r>
            <a:r>
              <a:rPr lang="en-US" sz="1400" i="1" dirty="0" smtClean="0">
                <a:latin typeface="Consolas" pitchFamily="49" charset="0"/>
                <a:cs typeface="Consolas" pitchFamily="49" charset="0"/>
              </a:rPr>
              <a:t>="0"/&gt;</a:t>
            </a:r>
          </a:p>
          <a:p>
            <a:r>
              <a:rPr lang="en-US" sz="1400" dirty="0" smtClean="0">
                <a:latin typeface="Consolas" pitchFamily="49" charset="0"/>
                <a:cs typeface="Consolas" pitchFamily="49" charset="0"/>
              </a:rPr>
              <a:t>      &lt;</a:t>
            </a:r>
            <a:r>
              <a:rPr lang="en-US" sz="1400" dirty="0" err="1" smtClean="0">
                <a:latin typeface="Consolas" pitchFamily="49" charset="0"/>
                <a:cs typeface="Consolas" pitchFamily="49" charset="0"/>
              </a:rPr>
              <a:t>xs:element</a:t>
            </a:r>
            <a:r>
              <a:rPr lang="en-US" sz="1400" dirty="0" smtClean="0">
                <a:latin typeface="Consolas" pitchFamily="49" charset="0"/>
                <a:cs typeface="Consolas" pitchFamily="49" charset="0"/>
              </a:rPr>
              <a:t> name=</a:t>
            </a:r>
            <a:r>
              <a:rPr lang="en-US" sz="1400" i="1" dirty="0" smtClean="0">
                <a:latin typeface="Consolas" pitchFamily="49" charset="0"/>
                <a:cs typeface="Consolas" pitchFamily="49" charset="0"/>
              </a:rPr>
              <a:t>"</a:t>
            </a:r>
            <a:r>
              <a:rPr lang="en-US" b="1" i="1" dirty="0" smtClean="0">
                <a:latin typeface="Consolas" pitchFamily="49" charset="0"/>
                <a:cs typeface="Consolas" pitchFamily="49" charset="0"/>
              </a:rPr>
              <a:t>salutation</a:t>
            </a:r>
            <a:r>
              <a:rPr lang="en-US" sz="1400" i="1" dirty="0" smtClean="0">
                <a:latin typeface="Consolas" pitchFamily="49" charset="0"/>
                <a:cs typeface="Consolas" pitchFamily="49" charset="0"/>
              </a:rPr>
              <a:t>" type="</a:t>
            </a:r>
            <a:r>
              <a:rPr lang="en-US" sz="1400" i="1" dirty="0" err="1" smtClean="0">
                <a:latin typeface="Consolas" pitchFamily="49" charset="0"/>
                <a:cs typeface="Consolas" pitchFamily="49" charset="0"/>
              </a:rPr>
              <a:t>xs:string</a:t>
            </a:r>
            <a:r>
              <a:rPr lang="en-US" sz="1400" i="1" dirty="0" smtClean="0">
                <a:latin typeface="Consolas" pitchFamily="49" charset="0"/>
                <a:cs typeface="Consolas" pitchFamily="49" charset="0"/>
              </a:rPr>
              <a:t>" </a:t>
            </a:r>
            <a:r>
              <a:rPr lang="en-US" sz="1400" i="1" dirty="0" err="1" smtClean="0">
                <a:latin typeface="Consolas" pitchFamily="49" charset="0"/>
                <a:cs typeface="Consolas" pitchFamily="49" charset="0"/>
              </a:rPr>
              <a:t>minOccurs</a:t>
            </a:r>
            <a:r>
              <a:rPr lang="en-US" sz="1400" i="1" dirty="0" smtClean="0">
                <a:latin typeface="Consolas" pitchFamily="49" charset="0"/>
                <a:cs typeface="Consolas" pitchFamily="49" charset="0"/>
              </a:rPr>
              <a:t>="0"/&gt;</a:t>
            </a:r>
          </a:p>
          <a:p>
            <a:r>
              <a:rPr lang="en-US" sz="1400" dirty="0" smtClean="0">
                <a:latin typeface="Consolas" pitchFamily="49" charset="0"/>
                <a:cs typeface="Consolas" pitchFamily="49" charset="0"/>
              </a:rPr>
              <a:t>    </a:t>
            </a:r>
            <a:r>
              <a:rPr lang="en-US" sz="1400" dirty="0">
                <a:latin typeface="Consolas" pitchFamily="49" charset="0"/>
                <a:cs typeface="Consolas" pitchFamily="49" charset="0"/>
              </a:rPr>
              <a:t>&lt;/</a:t>
            </a:r>
            <a:r>
              <a:rPr lang="en-US" sz="1400" dirty="0" err="1">
                <a:latin typeface="Consolas" pitchFamily="49" charset="0"/>
                <a:cs typeface="Consolas" pitchFamily="49" charset="0"/>
              </a:rPr>
              <a:t>xs:sequence</a:t>
            </a:r>
            <a:r>
              <a:rPr lang="en-US" sz="1400" dirty="0">
                <a:latin typeface="Consolas" pitchFamily="49" charset="0"/>
                <a:cs typeface="Consolas" pitchFamily="49" charset="0"/>
              </a:rPr>
              <a:t>&gt;</a:t>
            </a:r>
          </a:p>
          <a:p>
            <a:r>
              <a:rPr lang="en-US" sz="1400" dirty="0">
                <a:latin typeface="Consolas" pitchFamily="49" charset="0"/>
                <a:cs typeface="Consolas" pitchFamily="49" charset="0"/>
              </a:rPr>
              <a:t>  &lt;/</a:t>
            </a:r>
            <a:r>
              <a:rPr lang="en-US" sz="1400" dirty="0" err="1">
                <a:latin typeface="Consolas" pitchFamily="49" charset="0"/>
                <a:cs typeface="Consolas" pitchFamily="49" charset="0"/>
              </a:rPr>
              <a:t>xs:complexType</a:t>
            </a:r>
            <a:r>
              <a:rPr lang="en-US" sz="1400" dirty="0" smtClean="0">
                <a:latin typeface="Consolas" pitchFamily="49" charset="0"/>
                <a:cs typeface="Consolas" pitchFamily="49" charset="0"/>
              </a:rPr>
              <a:t>&gt;</a:t>
            </a:r>
          </a:p>
          <a:p>
            <a:r>
              <a:rPr lang="en-US" sz="1400" dirty="0" smtClean="0">
                <a:latin typeface="Consolas" pitchFamily="49" charset="0"/>
                <a:cs typeface="Consolas" pitchFamily="49" charset="0"/>
              </a:rPr>
              <a:t> </a:t>
            </a:r>
            <a:r>
              <a:rPr lang="en-US" sz="1400" dirty="0">
                <a:latin typeface="Consolas" pitchFamily="49" charset="0"/>
                <a:cs typeface="Consolas" pitchFamily="49" charset="0"/>
              </a:rPr>
              <a:t>&lt;</a:t>
            </a:r>
            <a:r>
              <a:rPr lang="en-US" sz="1400" dirty="0" err="1">
                <a:latin typeface="Consolas" pitchFamily="49" charset="0"/>
                <a:cs typeface="Consolas" pitchFamily="49" charset="0"/>
              </a:rPr>
              <a:t>xs:simpleType</a:t>
            </a:r>
            <a:r>
              <a:rPr lang="en-US" sz="1400" dirty="0">
                <a:latin typeface="Consolas" pitchFamily="49" charset="0"/>
                <a:cs typeface="Consolas" pitchFamily="49" charset="0"/>
              </a:rPr>
              <a:t> name=</a:t>
            </a:r>
            <a:r>
              <a:rPr lang="en-US" sz="1400" i="1" dirty="0">
                <a:latin typeface="Consolas" pitchFamily="49" charset="0"/>
                <a:cs typeface="Consolas" pitchFamily="49" charset="0"/>
              </a:rPr>
              <a:t>"</a:t>
            </a:r>
            <a:r>
              <a:rPr lang="en-US" b="1" i="1" dirty="0">
                <a:latin typeface="Consolas" pitchFamily="49" charset="0"/>
                <a:cs typeface="Consolas" pitchFamily="49" charset="0"/>
              </a:rPr>
              <a:t>locale</a:t>
            </a:r>
            <a:r>
              <a:rPr lang="en-US" sz="1400" i="1" dirty="0">
                <a:latin typeface="Consolas" pitchFamily="49" charset="0"/>
                <a:cs typeface="Consolas" pitchFamily="49" charset="0"/>
              </a:rPr>
              <a:t>"&gt;</a:t>
            </a:r>
          </a:p>
          <a:p>
            <a:r>
              <a:rPr lang="en-US" sz="1400" dirty="0">
                <a:latin typeface="Consolas" pitchFamily="49" charset="0"/>
                <a:cs typeface="Consolas" pitchFamily="49" charset="0"/>
              </a:rPr>
              <a:t>    &lt;</a:t>
            </a:r>
            <a:r>
              <a:rPr lang="en-US" sz="1400" dirty="0" err="1">
                <a:latin typeface="Consolas" pitchFamily="49" charset="0"/>
                <a:cs typeface="Consolas" pitchFamily="49" charset="0"/>
              </a:rPr>
              <a:t>xs:restriction</a:t>
            </a:r>
            <a:r>
              <a:rPr lang="en-US" sz="1400" dirty="0">
                <a:latin typeface="Consolas" pitchFamily="49" charset="0"/>
                <a:cs typeface="Consolas" pitchFamily="49" charset="0"/>
              </a:rPr>
              <a:t> base=</a:t>
            </a:r>
            <a:r>
              <a:rPr lang="en-US" sz="1400" i="1" dirty="0">
                <a:latin typeface="Consolas" pitchFamily="49" charset="0"/>
                <a:cs typeface="Consolas" pitchFamily="49" charset="0"/>
              </a:rPr>
              <a:t>"</a:t>
            </a:r>
            <a:r>
              <a:rPr lang="en-US" sz="1400" i="1" dirty="0" err="1">
                <a:latin typeface="Consolas" pitchFamily="49" charset="0"/>
                <a:cs typeface="Consolas" pitchFamily="49" charset="0"/>
              </a:rPr>
              <a:t>xs:string</a:t>
            </a:r>
            <a:r>
              <a:rPr lang="en-US" sz="1400" i="1" dirty="0">
                <a:latin typeface="Consolas" pitchFamily="49" charset="0"/>
                <a:cs typeface="Consolas" pitchFamily="49" charset="0"/>
              </a:rPr>
              <a:t>"&gt;</a:t>
            </a:r>
          </a:p>
          <a:p>
            <a:r>
              <a:rPr lang="en-US" sz="1400" dirty="0">
                <a:latin typeface="Consolas" pitchFamily="49" charset="0"/>
                <a:cs typeface="Consolas" pitchFamily="49" charset="0"/>
              </a:rPr>
              <a:t>      &lt;</a:t>
            </a:r>
            <a:r>
              <a:rPr lang="en-US" sz="1400" dirty="0" err="1">
                <a:latin typeface="Consolas" pitchFamily="49" charset="0"/>
                <a:cs typeface="Consolas" pitchFamily="49" charset="0"/>
              </a:rPr>
              <a:t>xs:enumeration</a:t>
            </a:r>
            <a:r>
              <a:rPr lang="en-US" sz="1400" dirty="0">
                <a:latin typeface="Consolas" pitchFamily="49" charset="0"/>
                <a:cs typeface="Consolas" pitchFamily="49" charset="0"/>
              </a:rPr>
              <a:t> value=</a:t>
            </a:r>
            <a:r>
              <a:rPr lang="en-US" sz="1400" i="1" dirty="0">
                <a:latin typeface="Consolas" pitchFamily="49" charset="0"/>
                <a:cs typeface="Consolas" pitchFamily="49" charset="0"/>
              </a:rPr>
              <a:t>"US"/&gt;</a:t>
            </a:r>
          </a:p>
          <a:p>
            <a:r>
              <a:rPr lang="en-US" sz="1400" dirty="0">
                <a:latin typeface="Consolas" pitchFamily="49" charset="0"/>
                <a:cs typeface="Consolas" pitchFamily="49" charset="0"/>
              </a:rPr>
              <a:t>      &lt;</a:t>
            </a:r>
            <a:r>
              <a:rPr lang="en-US" sz="1400" dirty="0" err="1">
                <a:latin typeface="Consolas" pitchFamily="49" charset="0"/>
                <a:cs typeface="Consolas" pitchFamily="49" charset="0"/>
              </a:rPr>
              <a:t>xs:enumeration</a:t>
            </a:r>
            <a:r>
              <a:rPr lang="en-US" sz="1400" dirty="0">
                <a:latin typeface="Consolas" pitchFamily="49" charset="0"/>
                <a:cs typeface="Consolas" pitchFamily="49" charset="0"/>
              </a:rPr>
              <a:t> value=</a:t>
            </a:r>
            <a:r>
              <a:rPr lang="en-US" sz="1400" i="1" dirty="0">
                <a:latin typeface="Consolas" pitchFamily="49" charset="0"/>
                <a:cs typeface="Consolas" pitchFamily="49" charset="0"/>
              </a:rPr>
              <a:t>"AU"/&gt;</a:t>
            </a:r>
          </a:p>
          <a:p>
            <a:r>
              <a:rPr lang="en-US" sz="1400" dirty="0">
                <a:latin typeface="Consolas" pitchFamily="49" charset="0"/>
                <a:cs typeface="Consolas" pitchFamily="49" charset="0"/>
              </a:rPr>
              <a:t>      &lt;</a:t>
            </a:r>
            <a:r>
              <a:rPr lang="en-US" sz="1400" dirty="0" err="1">
                <a:latin typeface="Consolas" pitchFamily="49" charset="0"/>
                <a:cs typeface="Consolas" pitchFamily="49" charset="0"/>
              </a:rPr>
              <a:t>xs:enumeration</a:t>
            </a:r>
            <a:r>
              <a:rPr lang="en-US" sz="1400" dirty="0">
                <a:latin typeface="Consolas" pitchFamily="49" charset="0"/>
                <a:cs typeface="Consolas" pitchFamily="49" charset="0"/>
              </a:rPr>
              <a:t> value=</a:t>
            </a:r>
            <a:r>
              <a:rPr lang="en-US" sz="1400" i="1" dirty="0">
                <a:latin typeface="Consolas" pitchFamily="49" charset="0"/>
                <a:cs typeface="Consolas" pitchFamily="49" charset="0"/>
              </a:rPr>
              <a:t>"ES"/&gt;</a:t>
            </a:r>
          </a:p>
          <a:p>
            <a:r>
              <a:rPr lang="en-US" sz="1400" dirty="0">
                <a:latin typeface="Consolas" pitchFamily="49" charset="0"/>
                <a:cs typeface="Consolas" pitchFamily="49" charset="0"/>
              </a:rPr>
              <a:t>    &lt;/</a:t>
            </a:r>
            <a:r>
              <a:rPr lang="en-US" sz="1400" dirty="0" err="1">
                <a:latin typeface="Consolas" pitchFamily="49" charset="0"/>
                <a:cs typeface="Consolas" pitchFamily="49" charset="0"/>
              </a:rPr>
              <a:t>xs:restriction</a:t>
            </a:r>
            <a:r>
              <a:rPr lang="en-US" sz="1400" dirty="0">
                <a:latin typeface="Consolas" pitchFamily="49" charset="0"/>
                <a:cs typeface="Consolas" pitchFamily="49" charset="0"/>
              </a:rPr>
              <a:t>&gt;</a:t>
            </a:r>
          </a:p>
          <a:p>
            <a:r>
              <a:rPr lang="en-US" sz="1400" dirty="0">
                <a:latin typeface="Consolas" pitchFamily="49" charset="0"/>
                <a:cs typeface="Consolas" pitchFamily="49" charset="0"/>
              </a:rPr>
              <a:t>  &lt;/</a:t>
            </a:r>
            <a:r>
              <a:rPr lang="en-US" sz="1400" dirty="0" err="1">
                <a:latin typeface="Consolas" pitchFamily="49" charset="0"/>
                <a:cs typeface="Consolas" pitchFamily="49" charset="0"/>
              </a:rPr>
              <a:t>xs:simpleType</a:t>
            </a:r>
            <a:r>
              <a:rPr lang="en-US" sz="1400" dirty="0">
                <a:latin typeface="Consolas" pitchFamily="49" charset="0"/>
                <a:cs typeface="Consolas" pitchFamily="49" charset="0"/>
              </a:rPr>
              <a:t>&gt;</a:t>
            </a:r>
          </a:p>
          <a:p>
            <a:r>
              <a:rPr lang="en-US" sz="1400" dirty="0">
                <a:latin typeface="Consolas" pitchFamily="49" charset="0"/>
                <a:cs typeface="Consolas" pitchFamily="49" charset="0"/>
              </a:rPr>
              <a:t>&lt;/</a:t>
            </a:r>
            <a:r>
              <a:rPr lang="en-US" sz="1400" dirty="0" err="1">
                <a:latin typeface="Consolas" pitchFamily="49" charset="0"/>
                <a:cs typeface="Consolas" pitchFamily="49" charset="0"/>
              </a:rPr>
              <a:t>xs:schema</a:t>
            </a:r>
            <a:r>
              <a:rPr lang="en-US" sz="1400" dirty="0">
                <a:latin typeface="Consolas" pitchFamily="49" charset="0"/>
                <a:cs typeface="Consolas" pitchFamily="49" charset="0"/>
              </a:rPr>
              <a:t>&gt;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0"/>
            <a:ext cx="914399" cy="461665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XML</a:t>
            </a:r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6096000"/>
            <a:ext cx="9144000" cy="762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8600" y="6248400"/>
            <a:ext cx="1371600" cy="4103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TextBox 9"/>
          <p:cNvSpPr txBox="1"/>
          <p:nvPr/>
        </p:nvSpPr>
        <p:spPr>
          <a:xfrm>
            <a:off x="1905000" y="6324600"/>
            <a:ext cx="4648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solidFill>
                  <a:schemeClr val="bg1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Web Services Explained</a:t>
            </a:r>
            <a:endParaRPr lang="en-US" dirty="0">
              <a:solidFill>
                <a:schemeClr val="bg1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pic>
        <p:nvPicPr>
          <p:cNvPr id="1033" name="Picture 9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934202" y="6248400"/>
            <a:ext cx="1981195" cy="4312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8" name="TextBox 17"/>
          <p:cNvSpPr txBox="1"/>
          <p:nvPr/>
        </p:nvSpPr>
        <p:spPr>
          <a:xfrm>
            <a:off x="0" y="6096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 smtClean="0"/>
              <a:t>Reasons to use SOAP</a:t>
            </a:r>
          </a:p>
        </p:txBody>
      </p:sp>
      <p:sp>
        <p:nvSpPr>
          <p:cNvPr id="8" name="Rectangle 7"/>
          <p:cNvSpPr/>
          <p:nvPr/>
        </p:nvSpPr>
        <p:spPr>
          <a:xfrm>
            <a:off x="381000" y="1219200"/>
            <a:ext cx="8458200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Calibri" pitchFamily="34" charset="0"/>
              <a:buChar char="›"/>
            </a:pPr>
            <a:r>
              <a:rPr lang="en-US" sz="2400" dirty="0" smtClean="0"/>
              <a:t>Communication between apps</a:t>
            </a:r>
          </a:p>
          <a:p>
            <a:pPr marL="457200" indent="-457200">
              <a:buFont typeface="Calibri" pitchFamily="34" charset="0"/>
              <a:buChar char="›"/>
            </a:pPr>
            <a:r>
              <a:rPr lang="en-US" sz="2400" dirty="0" smtClean="0"/>
              <a:t>Based on XML</a:t>
            </a:r>
          </a:p>
          <a:p>
            <a:pPr marL="457200" indent="-457200">
              <a:buFont typeface="Calibri" pitchFamily="34" charset="0"/>
              <a:buChar char="›"/>
            </a:pPr>
            <a:r>
              <a:rPr lang="en-US" sz="2400" dirty="0" smtClean="0"/>
              <a:t>Standard format for sending messages</a:t>
            </a:r>
            <a:endParaRPr lang="en-US" sz="2400" dirty="0"/>
          </a:p>
          <a:p>
            <a:pPr marL="914400" lvl="1" indent="-457200">
              <a:buFont typeface="Calibri" pitchFamily="34" charset="0"/>
              <a:buChar char="›"/>
            </a:pPr>
            <a:r>
              <a:rPr lang="en-US" sz="2400" dirty="0" smtClean="0"/>
              <a:t>W3C standard</a:t>
            </a:r>
          </a:p>
          <a:p>
            <a:pPr marL="457200" indent="-457200">
              <a:buFont typeface="Calibri" pitchFamily="34" charset="0"/>
              <a:buChar char="›"/>
            </a:pPr>
            <a:r>
              <a:rPr lang="en-US" sz="2400" dirty="0" smtClean="0"/>
              <a:t>Supported by major vendors</a:t>
            </a:r>
          </a:p>
          <a:p>
            <a:pPr marL="914400" lvl="1" indent="-457200"/>
            <a:r>
              <a:rPr lang="en-US" sz="2400" dirty="0" smtClean="0"/>
              <a:t>	IBM, Microsoft, Oracle, etc.</a:t>
            </a:r>
          </a:p>
          <a:p>
            <a:pPr marL="457200" indent="-457200">
              <a:buFont typeface="Calibri" pitchFamily="34" charset="0"/>
              <a:buChar char="›"/>
            </a:pPr>
            <a:r>
              <a:rPr lang="en-US" sz="2400" dirty="0" smtClean="0"/>
              <a:t>Platform independent</a:t>
            </a:r>
          </a:p>
          <a:p>
            <a:pPr marL="457200" indent="-457200">
              <a:buFont typeface="Calibri" pitchFamily="34" charset="0"/>
              <a:buChar char="›"/>
            </a:pPr>
            <a:r>
              <a:rPr lang="en-US" sz="2400" dirty="0" smtClean="0"/>
              <a:t>Language neutral</a:t>
            </a:r>
          </a:p>
          <a:p>
            <a:pPr marL="457200" indent="-457200">
              <a:buFont typeface="Calibri" pitchFamily="34" charset="0"/>
              <a:buChar char="›"/>
            </a:pPr>
            <a:r>
              <a:rPr lang="en-US" sz="2400" dirty="0" smtClean="0"/>
              <a:t>Can piggyback on HTTP </a:t>
            </a:r>
          </a:p>
          <a:p>
            <a:pPr marL="914400" lvl="1" indent="-457200">
              <a:buFont typeface="Calibri" pitchFamily="34" charset="0"/>
              <a:buChar char="›"/>
            </a:pPr>
            <a:r>
              <a:rPr lang="en-US" sz="2400" dirty="0" smtClean="0"/>
              <a:t>use existing web infrastructure</a:t>
            </a:r>
          </a:p>
          <a:p>
            <a:pPr marL="914400" lvl="1" indent="-457200">
              <a:buFont typeface="Calibri" pitchFamily="34" charset="0"/>
              <a:buChar char="›"/>
            </a:pPr>
            <a:r>
              <a:rPr lang="en-US" sz="2400" dirty="0" smtClean="0"/>
              <a:t>to get through firewalls</a:t>
            </a:r>
          </a:p>
          <a:p>
            <a:pPr marL="457200" indent="-457200">
              <a:buFont typeface="Calibri" pitchFamily="34" charset="0"/>
              <a:buChar char="›"/>
            </a:pPr>
            <a:r>
              <a:rPr lang="en-US" sz="2400" dirty="0" smtClean="0"/>
              <a:t>Can also use other protocols </a:t>
            </a:r>
          </a:p>
          <a:p>
            <a:pPr marL="914400" lvl="1" indent="-457200">
              <a:buFont typeface="Calibri" pitchFamily="34" charset="0"/>
              <a:buChar char="›"/>
            </a:pPr>
            <a:r>
              <a:rPr lang="en-US" sz="2400" dirty="0" smtClean="0"/>
              <a:t>SMTP</a:t>
            </a:r>
            <a:endParaRPr lang="en-US" sz="2400" dirty="0" smtClean="0"/>
          </a:p>
        </p:txBody>
      </p:sp>
      <p:sp>
        <p:nvSpPr>
          <p:cNvPr id="11" name="TextBox 10"/>
          <p:cNvSpPr txBox="1"/>
          <p:nvPr/>
        </p:nvSpPr>
        <p:spPr>
          <a:xfrm>
            <a:off x="8229600" y="0"/>
            <a:ext cx="914400" cy="461665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SOAP</a:t>
            </a:r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0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0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2000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000"/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2000"/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2000"/>
                                        <p:tgtEl>
                                          <p:spTgt spid="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2000"/>
                                        <p:tgtEl>
                                          <p:spTgt spid="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allAtOnce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6096000"/>
            <a:ext cx="9144000" cy="762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8600" y="6248400"/>
            <a:ext cx="1371600" cy="4103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TextBox 9"/>
          <p:cNvSpPr txBox="1"/>
          <p:nvPr/>
        </p:nvSpPr>
        <p:spPr>
          <a:xfrm>
            <a:off x="1905000" y="6324600"/>
            <a:ext cx="4648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solidFill>
                  <a:schemeClr val="bg1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Web Services Explained</a:t>
            </a:r>
            <a:endParaRPr lang="en-US" dirty="0">
              <a:solidFill>
                <a:schemeClr val="bg1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pic>
        <p:nvPicPr>
          <p:cNvPr id="1033" name="Picture 9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934202" y="6248400"/>
            <a:ext cx="1981195" cy="4312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8" name="TextBox 17"/>
          <p:cNvSpPr txBox="1"/>
          <p:nvPr/>
        </p:nvSpPr>
        <p:spPr>
          <a:xfrm>
            <a:off x="0" y="457200"/>
            <a:ext cx="914400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 smtClean="0"/>
              <a:t>SOAP</a:t>
            </a:r>
          </a:p>
          <a:p>
            <a:pPr algn="ctr"/>
            <a:r>
              <a:rPr lang="en-US" sz="3600" dirty="0" smtClean="0"/>
              <a:t>Simple Object Access Protocol</a:t>
            </a:r>
          </a:p>
        </p:txBody>
      </p:sp>
      <p:sp>
        <p:nvSpPr>
          <p:cNvPr id="8" name="Rectangle 7"/>
          <p:cNvSpPr/>
          <p:nvPr/>
        </p:nvSpPr>
        <p:spPr>
          <a:xfrm>
            <a:off x="381000" y="2133600"/>
            <a:ext cx="8534400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Calibri" pitchFamily="34" charset="0"/>
              <a:buChar char="›"/>
            </a:pPr>
            <a:r>
              <a:rPr lang="en-US" sz="2400" dirty="0" smtClean="0"/>
              <a:t>Standard way of communicating between apps</a:t>
            </a:r>
            <a:endParaRPr lang="en-US" sz="2400" dirty="0" smtClean="0"/>
          </a:p>
          <a:p>
            <a:pPr marL="457200" indent="-457200">
              <a:buFont typeface="Calibri" pitchFamily="34" charset="0"/>
              <a:buChar char="›"/>
            </a:pPr>
            <a:r>
              <a:rPr lang="en-US" sz="2400" dirty="0" smtClean="0"/>
              <a:t>Uses XML over HTTP</a:t>
            </a:r>
          </a:p>
          <a:p>
            <a:pPr marL="457200" indent="-457200">
              <a:buFont typeface="Calibri" pitchFamily="34" charset="0"/>
              <a:buChar char="›"/>
            </a:pPr>
            <a:r>
              <a:rPr lang="en-US" sz="2400" dirty="0" smtClean="0"/>
              <a:t>An XML Schema defines what SOAP message should look like</a:t>
            </a:r>
          </a:p>
          <a:p>
            <a:pPr marL="914400" lvl="1" indent="-457200">
              <a:buFont typeface="Calibri" pitchFamily="34" charset="0"/>
              <a:buChar char="›"/>
            </a:pPr>
            <a:r>
              <a:rPr lang="en-US" sz="2400" dirty="0" smtClean="0"/>
              <a:t>SOAP Envelope – wrapper </a:t>
            </a:r>
          </a:p>
          <a:p>
            <a:pPr marL="914400" lvl="1" indent="-457200">
              <a:buFont typeface="Calibri" pitchFamily="34" charset="0"/>
              <a:buChar char="›"/>
            </a:pPr>
            <a:r>
              <a:rPr lang="en-US" sz="2400" dirty="0" smtClean="0"/>
              <a:t>SOAP Headers – optional</a:t>
            </a:r>
          </a:p>
          <a:p>
            <a:pPr marL="914400" lvl="1" indent="-457200">
              <a:buFont typeface="Calibri" pitchFamily="34" charset="0"/>
              <a:buChar char="›"/>
            </a:pPr>
            <a:r>
              <a:rPr lang="en-US" sz="2400" dirty="0" smtClean="0"/>
              <a:t>SOAP Body – the main payload (your document)</a:t>
            </a:r>
          </a:p>
          <a:p>
            <a:pPr marL="914400" lvl="1" indent="-457200">
              <a:buFont typeface="Calibri" pitchFamily="34" charset="0"/>
              <a:buChar char="›"/>
            </a:pPr>
            <a:r>
              <a:rPr lang="en-US" sz="2400" dirty="0" smtClean="0"/>
              <a:t>SOAP Fault – used for reporting errors in the SOAP Body</a:t>
            </a:r>
          </a:p>
          <a:p>
            <a:pPr marL="457200" indent="-457200">
              <a:buFont typeface="Calibri" pitchFamily="34" charset="0"/>
              <a:buChar char="›"/>
            </a:pPr>
            <a:r>
              <a:rPr lang="en-US" sz="2400" dirty="0" smtClean="0"/>
              <a:t>Extensions	(WS-*)</a:t>
            </a:r>
          </a:p>
          <a:p>
            <a:pPr marL="914400" lvl="1" indent="-457200">
              <a:buFont typeface="Calibri" pitchFamily="34" charset="0"/>
              <a:buChar char="›"/>
            </a:pPr>
            <a:r>
              <a:rPr lang="en-US" sz="2400" dirty="0" smtClean="0"/>
              <a:t>WS-Security</a:t>
            </a:r>
          </a:p>
          <a:p>
            <a:pPr marL="914400" lvl="1" indent="-457200">
              <a:buFont typeface="Calibri" pitchFamily="34" charset="0"/>
              <a:buChar char="›"/>
            </a:pPr>
            <a:r>
              <a:rPr lang="en-US" sz="2400" dirty="0" smtClean="0"/>
              <a:t>WS-Resource</a:t>
            </a:r>
            <a:endParaRPr lang="en-US" sz="2400" dirty="0" smtClean="0"/>
          </a:p>
        </p:txBody>
      </p:sp>
      <p:sp>
        <p:nvSpPr>
          <p:cNvPr id="11" name="TextBox 10"/>
          <p:cNvSpPr txBox="1"/>
          <p:nvPr/>
        </p:nvSpPr>
        <p:spPr>
          <a:xfrm>
            <a:off x="8229600" y="0"/>
            <a:ext cx="914400" cy="461665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SOAP</a:t>
            </a:r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20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0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20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20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2000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2000"/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6096000"/>
            <a:ext cx="9144000" cy="762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8600" y="6248400"/>
            <a:ext cx="1371600" cy="4103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TextBox 9"/>
          <p:cNvSpPr txBox="1"/>
          <p:nvPr/>
        </p:nvSpPr>
        <p:spPr>
          <a:xfrm>
            <a:off x="1905000" y="6324600"/>
            <a:ext cx="4648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solidFill>
                  <a:schemeClr val="bg1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Web Services Explained</a:t>
            </a:r>
            <a:endParaRPr lang="en-US" dirty="0">
              <a:solidFill>
                <a:schemeClr val="bg1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pic>
        <p:nvPicPr>
          <p:cNvPr id="1033" name="Picture 9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934202" y="6248400"/>
            <a:ext cx="1981195" cy="4312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8" name="TextBox 17"/>
          <p:cNvSpPr txBox="1"/>
          <p:nvPr/>
        </p:nvSpPr>
        <p:spPr>
          <a:xfrm>
            <a:off x="0" y="609600"/>
            <a:ext cx="9144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 smtClean="0"/>
              <a:t>What does a SOAP message look like?</a:t>
            </a:r>
          </a:p>
        </p:txBody>
      </p:sp>
      <p:sp>
        <p:nvSpPr>
          <p:cNvPr id="8" name="Rectangle 7"/>
          <p:cNvSpPr/>
          <p:nvPr/>
        </p:nvSpPr>
        <p:spPr>
          <a:xfrm>
            <a:off x="3886200" y="1295400"/>
            <a:ext cx="6781800" cy="48013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/>
            <a:r>
              <a:rPr lang="en-GB" sz="1400" dirty="0" smtClean="0"/>
              <a:t>&lt;?</a:t>
            </a:r>
            <a:r>
              <a:rPr lang="en-GB" sz="1400" dirty="0" err="1" smtClean="0"/>
              <a:t>xml</a:t>
            </a:r>
            <a:r>
              <a:rPr lang="en-GB" sz="1400" dirty="0" smtClean="0"/>
              <a:t> version="1.0"?&gt;</a:t>
            </a:r>
          </a:p>
          <a:p>
            <a:pPr marL="457200" indent="-457200"/>
            <a:r>
              <a:rPr lang="en-GB" sz="1400" dirty="0" smtClean="0"/>
              <a:t>&lt;</a:t>
            </a:r>
            <a:r>
              <a:rPr lang="en-GB" b="1" dirty="0" err="1" smtClean="0"/>
              <a:t>soap:Envelope</a:t>
            </a:r>
            <a:r>
              <a:rPr lang="en-GB" b="1" dirty="0" smtClean="0"/>
              <a:t> </a:t>
            </a:r>
            <a:r>
              <a:rPr lang="en-GB" sz="1400" dirty="0" smtClean="0"/>
              <a:t> </a:t>
            </a:r>
          </a:p>
          <a:p>
            <a:pPr marL="457200" indent="-457200"/>
            <a:r>
              <a:rPr lang="en-GB" sz="1400" dirty="0"/>
              <a:t>	</a:t>
            </a:r>
            <a:r>
              <a:rPr lang="en-GB" sz="1400" dirty="0" err="1" smtClean="0"/>
              <a:t>xmlns:soap</a:t>
            </a:r>
            <a:r>
              <a:rPr lang="en-GB" sz="1400" dirty="0" smtClean="0"/>
              <a:t>=</a:t>
            </a:r>
            <a:r>
              <a:rPr lang="en-US" sz="1400" dirty="0" smtClean="0"/>
              <a:t>"http://www.w3.org/2003/05/soap-envelope"</a:t>
            </a:r>
            <a:endParaRPr lang="en-GB" sz="1400" dirty="0" smtClean="0"/>
          </a:p>
          <a:p>
            <a:pPr marL="457200" indent="-457200"/>
            <a:r>
              <a:rPr lang="en-GB" sz="1400" dirty="0" smtClean="0"/>
              <a:t>	</a:t>
            </a:r>
            <a:r>
              <a:rPr lang="en-GB" sz="1400" dirty="0" err="1" smtClean="0"/>
              <a:t>soap:encodingStyle</a:t>
            </a:r>
            <a:r>
              <a:rPr lang="en-GB" sz="1400" dirty="0" smtClean="0"/>
              <a:t>="http://www.w3.org/2001/12/soap-encoding"&gt;</a:t>
            </a:r>
            <a:br>
              <a:rPr lang="en-GB" sz="1400" dirty="0" smtClean="0"/>
            </a:br>
            <a:endParaRPr lang="en-GB" sz="1400" dirty="0" smtClean="0"/>
          </a:p>
          <a:p>
            <a:pPr marL="457200" indent="-457200"/>
            <a:r>
              <a:rPr lang="en-US" sz="1400" dirty="0" smtClean="0"/>
              <a:t>	&lt;</a:t>
            </a:r>
            <a:r>
              <a:rPr lang="en-US" b="1" dirty="0" err="1" smtClean="0"/>
              <a:t>soap:Header</a:t>
            </a:r>
            <a:r>
              <a:rPr lang="en-US" sz="1400" dirty="0" smtClean="0"/>
              <a:t>&gt;</a:t>
            </a:r>
          </a:p>
          <a:p>
            <a:pPr marL="457200" indent="-457200"/>
            <a:r>
              <a:rPr lang="en-US" sz="1400" dirty="0" smtClean="0"/>
              <a:t>	&lt;m:</a:t>
            </a:r>
            <a:r>
              <a:rPr lang="en-US" sz="1400" b="1" dirty="0" smtClean="0"/>
              <a:t>reservation</a:t>
            </a:r>
            <a:r>
              <a:rPr lang="en-US" sz="1400" dirty="0" smtClean="0"/>
              <a:t> </a:t>
            </a:r>
            <a:r>
              <a:rPr lang="en-US" sz="1400" dirty="0" err="1" smtClean="0"/>
              <a:t>xmlns:r</a:t>
            </a:r>
            <a:r>
              <a:rPr lang="en-US" sz="1400" dirty="0" smtClean="0"/>
              <a:t>="http://example.com/xsds/reservation" </a:t>
            </a:r>
            <a:r>
              <a:rPr lang="en-US" sz="1400" dirty="0" err="1" smtClean="0"/>
              <a:t>env:mustUnderstand</a:t>
            </a:r>
            <a:r>
              <a:rPr lang="en-US" sz="1400" dirty="0" smtClean="0"/>
              <a:t>="true"&gt;2013-03-19&lt;/m:reservation&gt;</a:t>
            </a:r>
            <a:br>
              <a:rPr lang="en-US" sz="1400" dirty="0" smtClean="0"/>
            </a:br>
            <a:r>
              <a:rPr lang="en-US" sz="1400" dirty="0" smtClean="0"/>
              <a:t>&lt;n:</a:t>
            </a:r>
            <a:r>
              <a:rPr lang="en-US" sz="1400" b="1" dirty="0" smtClean="0"/>
              <a:t>passenger</a:t>
            </a:r>
            <a:r>
              <a:rPr lang="en-US" sz="1400" dirty="0" smtClean="0"/>
              <a:t> </a:t>
            </a:r>
            <a:r>
              <a:rPr lang="en-US" sz="1400" dirty="0" err="1" smtClean="0"/>
              <a:t>xmlns:n</a:t>
            </a:r>
            <a:r>
              <a:rPr lang="en-US" sz="1400" dirty="0" smtClean="0"/>
              <a:t>=</a:t>
            </a:r>
            <a:r>
              <a:rPr lang="en-US" sz="1400" dirty="0" smtClean="0">
                <a:hlinkClick r:id="rId5"/>
              </a:rPr>
              <a:t>http://example.com/xsds/passenger</a:t>
            </a:r>
            <a:endParaRPr lang="en-US" sz="1400" dirty="0" smtClean="0"/>
          </a:p>
          <a:p>
            <a:pPr marL="457200" indent="-457200"/>
            <a:r>
              <a:rPr lang="en-US" sz="1400" dirty="0" smtClean="0"/>
              <a:t>	</a:t>
            </a:r>
            <a:r>
              <a:rPr lang="en-US" sz="1400" dirty="0" err="1" smtClean="0"/>
              <a:t>env:mustUnderstand</a:t>
            </a:r>
            <a:r>
              <a:rPr lang="en-US" sz="1400" dirty="0" smtClean="0"/>
              <a:t>="true"&gt; Aaron Evans&lt;/n:passenger&gt; </a:t>
            </a:r>
            <a:r>
              <a:rPr lang="en-US" sz="1400" dirty="0" smtClean="0"/>
              <a:t/>
            </a:r>
            <a:br>
              <a:rPr lang="en-US" sz="1400" dirty="0" smtClean="0"/>
            </a:br>
            <a:r>
              <a:rPr lang="en-US" sz="1400" dirty="0" smtClean="0"/>
              <a:t>&lt;/</a:t>
            </a:r>
            <a:r>
              <a:rPr lang="en-US" sz="1400" dirty="0" err="1" smtClean="0"/>
              <a:t>soap:Header</a:t>
            </a:r>
            <a:r>
              <a:rPr lang="en-US" sz="1400" dirty="0" smtClean="0"/>
              <a:t>&gt;</a:t>
            </a:r>
            <a:endParaRPr lang="en-GB" sz="1400" dirty="0" smtClean="0"/>
          </a:p>
          <a:p>
            <a:pPr marL="457200" indent="-457200"/>
            <a:endParaRPr lang="en-GB" sz="1400" dirty="0" smtClean="0"/>
          </a:p>
          <a:p>
            <a:pPr marL="457200" indent="-457200"/>
            <a:r>
              <a:rPr lang="en-GB" sz="1400" dirty="0" smtClean="0"/>
              <a:t>	&lt;</a:t>
            </a:r>
            <a:r>
              <a:rPr lang="en-GB" b="1" dirty="0" err="1" smtClean="0"/>
              <a:t>soap:Body</a:t>
            </a:r>
            <a:r>
              <a:rPr lang="en-GB" sz="1400" dirty="0"/>
              <a:t>&gt;</a:t>
            </a:r>
            <a:r>
              <a:rPr lang="en-GB" sz="1400" dirty="0" smtClean="0"/>
              <a:t/>
            </a:r>
            <a:br>
              <a:rPr lang="en-GB" sz="1400" dirty="0" smtClean="0"/>
            </a:br>
            <a:r>
              <a:rPr lang="en-GB" sz="1400" dirty="0" smtClean="0"/>
              <a:t>	&lt;</a:t>
            </a:r>
            <a:r>
              <a:rPr lang="en-GB" sz="1400" dirty="0" err="1" smtClean="0"/>
              <a:t>o:</a:t>
            </a:r>
            <a:r>
              <a:rPr lang="en-GB" sz="1400" b="1" dirty="0" err="1" smtClean="0"/>
              <a:t>itinerary</a:t>
            </a:r>
            <a:r>
              <a:rPr lang="en-GB" sz="1400" dirty="0" smtClean="0"/>
              <a:t> </a:t>
            </a:r>
            <a:r>
              <a:rPr lang="en-GB" sz="1400" dirty="0" err="1" smtClean="0"/>
              <a:t>xmlns:o</a:t>
            </a:r>
            <a:r>
              <a:rPr lang="en-GB" sz="1400" dirty="0" smtClean="0"/>
              <a:t>="http://www.example.org/itinerary"&gt; </a:t>
            </a:r>
            <a:r>
              <a:rPr lang="en-GB" sz="1400" dirty="0" smtClean="0"/>
              <a:t/>
            </a:r>
            <a:br>
              <a:rPr lang="en-GB" sz="1400" dirty="0" smtClean="0"/>
            </a:br>
            <a:r>
              <a:rPr lang="en-GB" sz="1400" dirty="0" smtClean="0"/>
              <a:t>    		&lt;</a:t>
            </a:r>
            <a:r>
              <a:rPr lang="en-GB" sz="1400" dirty="0" err="1" smtClean="0"/>
              <a:t>o:airline</a:t>
            </a:r>
            <a:r>
              <a:rPr lang="en-GB" sz="1400" dirty="0" smtClean="0"/>
              <a:t>&gt;DELTA&lt;/</a:t>
            </a:r>
            <a:r>
              <a:rPr lang="en-GB" sz="1400" dirty="0" err="1" smtClean="0"/>
              <a:t>o:airline</a:t>
            </a:r>
            <a:r>
              <a:rPr lang="en-GB" sz="1400" dirty="0" smtClean="0"/>
              <a:t>&gt;</a:t>
            </a:r>
            <a:br>
              <a:rPr lang="en-GB" sz="1400" dirty="0" smtClean="0"/>
            </a:br>
            <a:r>
              <a:rPr lang="en-GB" sz="1400" dirty="0" smtClean="0"/>
              <a:t>  		</a:t>
            </a:r>
            <a:r>
              <a:rPr lang="en-GB" sz="1400" dirty="0" smtClean="0"/>
              <a:t> &lt;</a:t>
            </a:r>
            <a:r>
              <a:rPr lang="en-GB" sz="1400" dirty="0" err="1" smtClean="0"/>
              <a:t>o:departureTime</a:t>
            </a:r>
            <a:r>
              <a:rPr lang="en-GB" sz="1400" dirty="0" smtClean="0"/>
              <a:t>&gt; 6:08pm CDT</a:t>
            </a:r>
            <a:r>
              <a:rPr lang="en-GB" sz="1400" dirty="0" smtClean="0"/>
              <a:t>&lt;/</a:t>
            </a:r>
            <a:r>
              <a:rPr lang="en-GB" sz="1400" dirty="0" err="1" smtClean="0"/>
              <a:t>o:departureTime</a:t>
            </a:r>
            <a:r>
              <a:rPr lang="en-GB" sz="1400" dirty="0" smtClean="0"/>
              <a:t>&gt;</a:t>
            </a:r>
          </a:p>
          <a:p>
            <a:pPr marL="457200" indent="-457200"/>
            <a:r>
              <a:rPr lang="en-GB" sz="1400" dirty="0" smtClean="0"/>
              <a:t>			&lt;</a:t>
            </a:r>
            <a:r>
              <a:rPr lang="en-GB" sz="1400" dirty="0" err="1" smtClean="0"/>
              <a:t>o:departureAirport</a:t>
            </a:r>
            <a:r>
              <a:rPr lang="en-GB" sz="1400" dirty="0" smtClean="0"/>
              <a:t>&gt; 6:08pm CDT&lt;/</a:t>
            </a:r>
            <a:r>
              <a:rPr lang="en-GB" sz="1400" dirty="0" err="1" smtClean="0"/>
              <a:t>o:departureAirport</a:t>
            </a:r>
            <a:r>
              <a:rPr lang="en-GB" sz="1400" dirty="0" smtClean="0"/>
              <a:t>&gt; </a:t>
            </a:r>
            <a:r>
              <a:rPr lang="en-GB" sz="1400" dirty="0" smtClean="0"/>
              <a:t/>
            </a:r>
            <a:br>
              <a:rPr lang="en-GB" sz="1400" dirty="0" smtClean="0"/>
            </a:br>
            <a:r>
              <a:rPr lang="en-GB" sz="1400" dirty="0" smtClean="0"/>
              <a:t>		&lt;</a:t>
            </a:r>
            <a:r>
              <a:rPr lang="en-GB" sz="1400" dirty="0" err="1" smtClean="0"/>
              <a:t>o:departureGate</a:t>
            </a:r>
            <a:r>
              <a:rPr lang="en-GB" sz="1400" dirty="0" smtClean="0"/>
              <a:t>&gt;C13&lt;/</a:t>
            </a:r>
            <a:r>
              <a:rPr lang="en-GB" sz="1400" dirty="0" err="1" smtClean="0"/>
              <a:t>o:departureGate</a:t>
            </a:r>
            <a:r>
              <a:rPr lang="en-GB" sz="1400" dirty="0" smtClean="0"/>
              <a:t>&gt;</a:t>
            </a:r>
          </a:p>
          <a:p>
            <a:pPr marL="457200" indent="-457200"/>
            <a:r>
              <a:rPr lang="en-GB" sz="1400" dirty="0"/>
              <a:t>	</a:t>
            </a:r>
            <a:r>
              <a:rPr lang="en-GB" sz="1400" dirty="0" smtClean="0"/>
              <a:t>	…etc…</a:t>
            </a:r>
          </a:p>
          <a:p>
            <a:pPr marL="457200" indent="-457200"/>
            <a:r>
              <a:rPr lang="en-US" sz="1400" dirty="0" smtClean="0"/>
              <a:t>	&lt;/</a:t>
            </a:r>
            <a:r>
              <a:rPr lang="en-US" sz="1400" dirty="0" err="1" smtClean="0"/>
              <a:t>soap:Body</a:t>
            </a:r>
            <a:r>
              <a:rPr lang="en-US" sz="1400" dirty="0" smtClean="0"/>
              <a:t>&gt;</a:t>
            </a:r>
            <a:endParaRPr lang="en-GB" sz="1400" dirty="0" smtClean="0"/>
          </a:p>
          <a:p>
            <a:pPr marL="457200" indent="-457200"/>
            <a:r>
              <a:rPr lang="en-GB" sz="1400" dirty="0" smtClean="0"/>
              <a:t>&lt;/</a:t>
            </a:r>
            <a:r>
              <a:rPr lang="en-GB" sz="1400" dirty="0" err="1" smtClean="0"/>
              <a:t>soap:Envelope</a:t>
            </a:r>
            <a:r>
              <a:rPr lang="en-GB" sz="1400" dirty="0" smtClean="0"/>
              <a:t>&gt;</a:t>
            </a:r>
            <a:endParaRPr lang="en-US" sz="1400" dirty="0" smtClean="0">
              <a:latin typeface="Consolas" pitchFamily="49" charset="0"/>
              <a:cs typeface="Consolas" pitchFamily="49" charset="0"/>
            </a:endParaRPr>
          </a:p>
        </p:txBody>
      </p:sp>
      <p:pic>
        <p:nvPicPr>
          <p:cNvPr id="9" name="Picture 8" descr="soap-message.png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168276" y="1295401"/>
            <a:ext cx="3651249" cy="461210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229600" y="0"/>
            <a:ext cx="914400" cy="461665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SOAP</a:t>
            </a:r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0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0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0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20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2000"/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2000"/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2000"/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2000"/>
                                        <p:tgtEl>
                                          <p:spTgt spid="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allAtOnce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6096000"/>
            <a:ext cx="9144000" cy="762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1905000" y="6324600"/>
            <a:ext cx="4648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solidFill>
                  <a:schemeClr val="bg1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Understanding HTTP</a:t>
            </a:r>
            <a:endParaRPr lang="en-US" dirty="0">
              <a:solidFill>
                <a:schemeClr val="bg1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0" y="4572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 smtClean="0"/>
              <a:t>Defining Web Services</a:t>
            </a:r>
            <a:endParaRPr lang="en-US" sz="4800" dirty="0" smtClean="0"/>
          </a:p>
        </p:txBody>
      </p:sp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8600" y="6248400"/>
            <a:ext cx="1371600" cy="4103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" name="Picture 9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934202" y="6248400"/>
            <a:ext cx="1981195" cy="4312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TextBox 2"/>
          <p:cNvSpPr txBox="1"/>
          <p:nvPr/>
        </p:nvSpPr>
        <p:spPr>
          <a:xfrm>
            <a:off x="381000" y="1371600"/>
            <a:ext cx="845820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 smtClean="0"/>
              <a:t>WSDL </a:t>
            </a:r>
          </a:p>
          <a:p>
            <a:pPr algn="ctr"/>
            <a:r>
              <a:rPr lang="en-US" sz="2400" dirty="0" smtClean="0"/>
              <a:t>Web Service Description Language</a:t>
            </a:r>
          </a:p>
          <a:p>
            <a:pPr algn="ctr"/>
            <a:r>
              <a:rPr lang="en-US" sz="3600" dirty="0" smtClean="0"/>
              <a:t>“whiz-dull”</a:t>
            </a:r>
          </a:p>
          <a:p>
            <a:pPr algn="ctr"/>
            <a:endParaRPr lang="en-US" sz="2400" dirty="0" smtClean="0"/>
          </a:p>
          <a:p>
            <a:pPr marL="457200" indent="-457200"/>
            <a:r>
              <a:rPr lang="en-US" sz="3600" dirty="0" smtClean="0"/>
              <a:t>An XML document describing a web service</a:t>
            </a:r>
          </a:p>
          <a:p>
            <a:pPr marL="914400" lvl="1" indent="-457200">
              <a:buFont typeface="Calibri" pitchFamily="34" charset="0"/>
              <a:buChar char="›"/>
            </a:pPr>
            <a:r>
              <a:rPr lang="en-US" sz="2400" dirty="0" smtClean="0"/>
              <a:t>How it can be called (location)</a:t>
            </a:r>
          </a:p>
          <a:p>
            <a:pPr marL="914400" lvl="1" indent="-457200">
              <a:buFont typeface="Calibri" pitchFamily="34" charset="0"/>
              <a:buChar char="›"/>
            </a:pPr>
            <a:r>
              <a:rPr lang="en-US" sz="2400" dirty="0" smtClean="0"/>
              <a:t>What parameters it expects </a:t>
            </a:r>
          </a:p>
          <a:p>
            <a:pPr marL="914400" lvl="1" indent="-457200">
              <a:buFont typeface="Calibri" pitchFamily="34" charset="0"/>
              <a:buChar char="›"/>
            </a:pPr>
            <a:r>
              <a:rPr lang="en-US" sz="2400" dirty="0" smtClean="0"/>
              <a:t>What data structures it returns</a:t>
            </a:r>
          </a:p>
          <a:p>
            <a:pPr marL="914400" lvl="1" indent="-457200">
              <a:buFont typeface="Calibri" pitchFamily="34" charset="0"/>
              <a:buChar char="›"/>
            </a:pPr>
            <a:endParaRPr lang="en-US" sz="2400" dirty="0"/>
          </a:p>
        </p:txBody>
      </p:sp>
      <p:sp>
        <p:nvSpPr>
          <p:cNvPr id="11" name="TextBox 10"/>
          <p:cNvSpPr txBox="1"/>
          <p:nvPr/>
        </p:nvSpPr>
        <p:spPr>
          <a:xfrm>
            <a:off x="8077200" y="0"/>
            <a:ext cx="1066799" cy="461665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SOAP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xmlns="" val="2399316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6096000"/>
            <a:ext cx="9144000" cy="762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1905000" y="6324600"/>
            <a:ext cx="4648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solidFill>
                  <a:schemeClr val="bg1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Understanding HTTP</a:t>
            </a:r>
            <a:endParaRPr lang="en-US" dirty="0">
              <a:solidFill>
                <a:schemeClr val="bg1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0" y="4572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 smtClean="0"/>
              <a:t>WSDL</a:t>
            </a:r>
            <a:endParaRPr lang="en-US" sz="4800" dirty="0" smtClean="0"/>
          </a:p>
        </p:txBody>
      </p:sp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8600" y="6248400"/>
            <a:ext cx="1371600" cy="4103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" name="Picture 9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934202" y="6248400"/>
            <a:ext cx="1981195" cy="4312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TextBox 2"/>
          <p:cNvSpPr txBox="1"/>
          <p:nvPr/>
        </p:nvSpPr>
        <p:spPr>
          <a:xfrm>
            <a:off x="228600" y="1371600"/>
            <a:ext cx="12573000" cy="51090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Consolas" pitchFamily="49" charset="0"/>
                <a:cs typeface="Consolas" pitchFamily="49" charset="0"/>
              </a:rPr>
              <a:t>&lt;</a:t>
            </a:r>
            <a:r>
              <a:rPr lang="en-US" b="1" dirty="0" smtClean="0">
                <a:latin typeface="Consolas" pitchFamily="49" charset="0"/>
                <a:cs typeface="Consolas" pitchFamily="49" charset="0"/>
              </a:rPr>
              <a:t>definitions</a:t>
            </a:r>
            <a:r>
              <a:rPr lang="en-US" sz="1400" dirty="0" smtClean="0">
                <a:latin typeface="Consolas" pitchFamily="49" charset="0"/>
                <a:cs typeface="Consolas" pitchFamily="49" charset="0"/>
              </a:rPr>
              <a:t> name=“</a:t>
            </a:r>
            <a:r>
              <a:rPr lang="en-US" sz="1400" dirty="0" err="1" smtClean="0">
                <a:latin typeface="Consolas" pitchFamily="49" charset="0"/>
                <a:cs typeface="Consolas" pitchFamily="49" charset="0"/>
              </a:rPr>
              <a:t>GreeterService</a:t>
            </a:r>
            <a:r>
              <a:rPr lang="en-US" sz="1400" dirty="0" smtClean="0">
                <a:latin typeface="Consolas" pitchFamily="49" charset="0"/>
                <a:cs typeface="Consolas" pitchFamily="49" charset="0"/>
              </a:rPr>
              <a:t> </a:t>
            </a:r>
          </a:p>
          <a:p>
            <a:r>
              <a:rPr lang="en-US" sz="1400" dirty="0">
                <a:latin typeface="Consolas" pitchFamily="49" charset="0"/>
                <a:cs typeface="Consolas" pitchFamily="49" charset="0"/>
              </a:rPr>
              <a:t>	</a:t>
            </a:r>
            <a:r>
              <a:rPr lang="en-US" sz="1400" dirty="0" err="1" smtClean="0">
                <a:latin typeface="Consolas" pitchFamily="49" charset="0"/>
                <a:cs typeface="Consolas" pitchFamily="49" charset="0"/>
              </a:rPr>
              <a:t>targetNamespace</a:t>
            </a:r>
            <a:r>
              <a:rPr lang="en-US" sz="1400" dirty="0" smtClean="0">
                <a:latin typeface="Consolas" pitchFamily="49" charset="0"/>
                <a:cs typeface="Consolas" pitchFamily="49" charset="0"/>
              </a:rPr>
              <a:t>="http://greeter.one-shore.com/wsdl/GreeterService.wsdl" </a:t>
            </a:r>
          </a:p>
          <a:p>
            <a:r>
              <a:rPr lang="en-US" sz="1400" dirty="0">
                <a:latin typeface="Consolas" pitchFamily="49" charset="0"/>
                <a:cs typeface="Consolas" pitchFamily="49" charset="0"/>
              </a:rPr>
              <a:t>	</a:t>
            </a:r>
            <a:r>
              <a:rPr lang="en-US" sz="1400" dirty="0" err="1" smtClean="0">
                <a:latin typeface="Consolas" pitchFamily="49" charset="0"/>
                <a:cs typeface="Consolas" pitchFamily="49" charset="0"/>
              </a:rPr>
              <a:t>xmlns</a:t>
            </a:r>
            <a:r>
              <a:rPr lang="en-US" sz="1400" dirty="0" smtClean="0">
                <a:latin typeface="Consolas" pitchFamily="49" charset="0"/>
                <a:cs typeface="Consolas" pitchFamily="49" charset="0"/>
              </a:rPr>
              <a:t>="http://schemas.xmlsoap.org/wsdl/" </a:t>
            </a:r>
            <a:r>
              <a:rPr lang="en-US" sz="1400" dirty="0" err="1" smtClean="0">
                <a:latin typeface="Consolas" pitchFamily="49" charset="0"/>
                <a:cs typeface="Consolas" pitchFamily="49" charset="0"/>
              </a:rPr>
              <a:t>xmlns:soap</a:t>
            </a:r>
            <a:r>
              <a:rPr lang="en-US" sz="1400" dirty="0" smtClean="0">
                <a:latin typeface="Consolas" pitchFamily="49" charset="0"/>
                <a:cs typeface="Consolas" pitchFamily="49" charset="0"/>
              </a:rPr>
              <a:t>="http://schemas.xmlsoap.org/wsdl/soap/" 	</a:t>
            </a:r>
            <a:r>
              <a:rPr lang="en-US" sz="1400" dirty="0" err="1" smtClean="0">
                <a:latin typeface="Consolas" pitchFamily="49" charset="0"/>
                <a:cs typeface="Consolas" pitchFamily="49" charset="0"/>
              </a:rPr>
              <a:t>xmlns:xsd</a:t>
            </a:r>
            <a:r>
              <a:rPr lang="en-US" sz="1400" dirty="0" smtClean="0">
                <a:latin typeface="Consolas" pitchFamily="49" charset="0"/>
                <a:cs typeface="Consolas" pitchFamily="49" charset="0"/>
              </a:rPr>
              <a:t>="http://www.w3.org/2001/XMLSchema" </a:t>
            </a:r>
            <a:r>
              <a:rPr lang="en-US" sz="1400" dirty="0" err="1" smtClean="0">
                <a:latin typeface="Consolas" pitchFamily="49" charset="0"/>
                <a:cs typeface="Consolas" pitchFamily="49" charset="0"/>
              </a:rPr>
              <a:t>xmlns:tns</a:t>
            </a:r>
            <a:r>
              <a:rPr lang="en-US" sz="1400" dirty="0" smtClean="0">
                <a:latin typeface="Consolas" pitchFamily="49" charset="0"/>
                <a:cs typeface="Consolas" pitchFamily="49" charset="0"/>
              </a:rPr>
              <a:t>=" http://greeter.one-shore.com/wsdl/GreeterService.wsdl"&gt;</a:t>
            </a:r>
          </a:p>
          <a:p>
            <a:endParaRPr lang="en-US" sz="1400" dirty="0">
              <a:latin typeface="Consolas" pitchFamily="49" charset="0"/>
              <a:cs typeface="Consolas" pitchFamily="49" charset="0"/>
            </a:endParaRPr>
          </a:p>
          <a:p>
            <a:r>
              <a:rPr lang="en-US" sz="1400" dirty="0" smtClean="0">
                <a:latin typeface="Consolas" pitchFamily="49" charset="0"/>
                <a:cs typeface="Consolas" pitchFamily="49" charset="0"/>
              </a:rPr>
              <a:t>	&lt;</a:t>
            </a:r>
            <a:r>
              <a:rPr lang="en-US" b="1" dirty="0" smtClean="0">
                <a:latin typeface="Consolas" pitchFamily="49" charset="0"/>
                <a:cs typeface="Consolas" pitchFamily="49" charset="0"/>
              </a:rPr>
              <a:t>message</a:t>
            </a:r>
            <a:r>
              <a:rPr lang="en-US" sz="1400" dirty="0" smtClean="0">
                <a:latin typeface="Consolas" pitchFamily="49" charset="0"/>
                <a:cs typeface="Consolas" pitchFamily="49" charset="0"/>
              </a:rPr>
              <a:t> name=“</a:t>
            </a:r>
            <a:r>
              <a:rPr lang="en-US" sz="1400" dirty="0" err="1" smtClean="0">
                <a:latin typeface="Consolas" pitchFamily="49" charset="0"/>
                <a:cs typeface="Consolas" pitchFamily="49" charset="0"/>
              </a:rPr>
              <a:t>GreetingRequest</a:t>
            </a:r>
            <a:r>
              <a:rPr lang="en-US" sz="1400" dirty="0" smtClean="0">
                <a:latin typeface="Consolas" pitchFamily="49" charset="0"/>
                <a:cs typeface="Consolas" pitchFamily="49" charset="0"/>
              </a:rPr>
              <a:t>”&gt;</a:t>
            </a:r>
          </a:p>
          <a:p>
            <a:r>
              <a:rPr lang="en-US" sz="1400" dirty="0">
                <a:latin typeface="Consolas" pitchFamily="49" charset="0"/>
                <a:cs typeface="Consolas" pitchFamily="49" charset="0"/>
              </a:rPr>
              <a:t>	</a:t>
            </a:r>
            <a:r>
              <a:rPr lang="en-US" sz="1400" dirty="0" smtClean="0">
                <a:latin typeface="Consolas" pitchFamily="49" charset="0"/>
                <a:cs typeface="Consolas" pitchFamily="49" charset="0"/>
              </a:rPr>
              <a:t>	&lt;part name=“name” type=“</a:t>
            </a:r>
            <a:r>
              <a:rPr lang="en-US" sz="1400" dirty="0" err="1" smtClean="0">
                <a:latin typeface="Consolas" pitchFamily="49" charset="0"/>
                <a:cs typeface="Consolas" pitchFamily="49" charset="0"/>
              </a:rPr>
              <a:t>xsd:string</a:t>
            </a:r>
            <a:r>
              <a:rPr lang="en-US" sz="1400" dirty="0" smtClean="0">
                <a:latin typeface="Consolas" pitchFamily="49" charset="0"/>
                <a:cs typeface="Consolas" pitchFamily="49" charset="0"/>
              </a:rPr>
              <a:t>”/&gt;</a:t>
            </a:r>
          </a:p>
          <a:p>
            <a:r>
              <a:rPr lang="en-US" sz="1400" dirty="0">
                <a:latin typeface="Consolas" pitchFamily="49" charset="0"/>
                <a:cs typeface="Consolas" pitchFamily="49" charset="0"/>
              </a:rPr>
              <a:t>	</a:t>
            </a:r>
            <a:r>
              <a:rPr lang="en-US" sz="1400" dirty="0" smtClean="0">
                <a:latin typeface="Consolas" pitchFamily="49" charset="0"/>
                <a:cs typeface="Consolas" pitchFamily="49" charset="0"/>
              </a:rPr>
              <a:t>&lt;/message&gt;</a:t>
            </a:r>
          </a:p>
          <a:p>
            <a:r>
              <a:rPr lang="en-US" sz="1400" dirty="0" smtClean="0">
                <a:latin typeface="Consolas" pitchFamily="49" charset="0"/>
                <a:cs typeface="Consolas" pitchFamily="49" charset="0"/>
              </a:rPr>
              <a:t>	&lt;message name=“</a:t>
            </a:r>
            <a:r>
              <a:rPr lang="en-US" sz="1400" dirty="0" err="1" smtClean="0">
                <a:latin typeface="Consolas" pitchFamily="49" charset="0"/>
                <a:cs typeface="Consolas" pitchFamily="49" charset="0"/>
              </a:rPr>
              <a:t>GreetingResponse</a:t>
            </a:r>
            <a:r>
              <a:rPr lang="en-US" sz="1400" dirty="0" smtClean="0">
                <a:latin typeface="Consolas" pitchFamily="49" charset="0"/>
                <a:cs typeface="Consolas" pitchFamily="49" charset="0"/>
              </a:rPr>
              <a:t>”&gt;</a:t>
            </a:r>
          </a:p>
          <a:p>
            <a:r>
              <a:rPr lang="en-US" sz="1400" dirty="0" smtClean="0">
                <a:latin typeface="Consolas" pitchFamily="49" charset="0"/>
                <a:cs typeface="Consolas" pitchFamily="49" charset="0"/>
              </a:rPr>
              <a:t>		&lt;part name=“greeting” type=“</a:t>
            </a:r>
            <a:r>
              <a:rPr lang="en-US" sz="1400" dirty="0" err="1" smtClean="0">
                <a:latin typeface="Consolas" pitchFamily="49" charset="0"/>
                <a:cs typeface="Consolas" pitchFamily="49" charset="0"/>
              </a:rPr>
              <a:t>xsd:string</a:t>
            </a:r>
            <a:r>
              <a:rPr lang="en-US" sz="1400" dirty="0" smtClean="0">
                <a:latin typeface="Consolas" pitchFamily="49" charset="0"/>
                <a:cs typeface="Consolas" pitchFamily="49" charset="0"/>
              </a:rPr>
              <a:t>”/&gt;</a:t>
            </a:r>
          </a:p>
          <a:p>
            <a:r>
              <a:rPr lang="en-US" sz="1400" dirty="0" smtClean="0">
                <a:latin typeface="Consolas" pitchFamily="49" charset="0"/>
                <a:cs typeface="Consolas" pitchFamily="49" charset="0"/>
              </a:rPr>
              <a:t>	&lt;/message&gt;</a:t>
            </a:r>
          </a:p>
          <a:p>
            <a:endParaRPr lang="en-US" sz="1400" dirty="0">
              <a:latin typeface="Consolas" pitchFamily="49" charset="0"/>
              <a:cs typeface="Consolas" pitchFamily="49" charset="0"/>
            </a:endParaRPr>
          </a:p>
          <a:p>
            <a:r>
              <a:rPr lang="en-US" sz="1400" dirty="0">
                <a:latin typeface="Consolas" pitchFamily="49" charset="0"/>
                <a:cs typeface="Consolas" pitchFamily="49" charset="0"/>
              </a:rPr>
              <a:t>	</a:t>
            </a:r>
            <a:r>
              <a:rPr lang="en-US" sz="1400" dirty="0" smtClean="0">
                <a:latin typeface="Consolas" pitchFamily="49" charset="0"/>
                <a:cs typeface="Consolas" pitchFamily="49" charset="0"/>
              </a:rPr>
              <a:t>&lt;</a:t>
            </a:r>
            <a:r>
              <a:rPr lang="en-US" sz="1400" dirty="0" err="1" smtClean="0">
                <a:latin typeface="Consolas" pitchFamily="49" charset="0"/>
                <a:cs typeface="Consolas" pitchFamily="49" charset="0"/>
              </a:rPr>
              <a:t>portType</a:t>
            </a:r>
            <a:r>
              <a:rPr lang="en-US" sz="1400" dirty="0" smtClean="0">
                <a:latin typeface="Consolas" pitchFamily="49" charset="0"/>
                <a:cs typeface="Consolas" pitchFamily="49" charset="0"/>
              </a:rPr>
              <a:t> name=“</a:t>
            </a:r>
            <a:r>
              <a:rPr lang="en-US" sz="1400" dirty="0" err="1" smtClean="0">
                <a:latin typeface="Consolas" pitchFamily="49" charset="0"/>
                <a:cs typeface="Consolas" pitchFamily="49" charset="0"/>
              </a:rPr>
              <a:t>GreetingPortType</a:t>
            </a:r>
            <a:r>
              <a:rPr lang="en-US" sz="1400" dirty="0" smtClean="0">
                <a:latin typeface="Consolas" pitchFamily="49" charset="0"/>
                <a:cs typeface="Consolas" pitchFamily="49" charset="0"/>
              </a:rPr>
              <a:t>”&gt;</a:t>
            </a:r>
          </a:p>
          <a:p>
            <a:r>
              <a:rPr lang="en-US" sz="1400" dirty="0">
                <a:latin typeface="Consolas" pitchFamily="49" charset="0"/>
                <a:cs typeface="Consolas" pitchFamily="49" charset="0"/>
              </a:rPr>
              <a:t>	</a:t>
            </a:r>
            <a:r>
              <a:rPr lang="en-US" sz="1400" dirty="0" smtClean="0">
                <a:latin typeface="Consolas" pitchFamily="49" charset="0"/>
                <a:cs typeface="Consolas" pitchFamily="49" charset="0"/>
              </a:rPr>
              <a:t>	&lt;operation name=“</a:t>
            </a:r>
            <a:r>
              <a:rPr lang="en-US" sz="1400" dirty="0" err="1" smtClean="0">
                <a:latin typeface="Consolas" pitchFamily="49" charset="0"/>
                <a:cs typeface="Consolas" pitchFamily="49" charset="0"/>
              </a:rPr>
              <a:t>sendGreeting</a:t>
            </a:r>
            <a:r>
              <a:rPr lang="en-US" sz="1400" dirty="0" smtClean="0">
                <a:latin typeface="Consolas" pitchFamily="49" charset="0"/>
                <a:cs typeface="Consolas" pitchFamily="49" charset="0"/>
              </a:rPr>
              <a:t>”&gt;</a:t>
            </a:r>
          </a:p>
          <a:p>
            <a:r>
              <a:rPr lang="en-US" sz="1400" dirty="0">
                <a:latin typeface="Consolas" pitchFamily="49" charset="0"/>
                <a:cs typeface="Consolas" pitchFamily="49" charset="0"/>
              </a:rPr>
              <a:t>	</a:t>
            </a:r>
            <a:r>
              <a:rPr lang="en-US" sz="1400" dirty="0" smtClean="0">
                <a:latin typeface="Consolas" pitchFamily="49" charset="0"/>
                <a:cs typeface="Consolas" pitchFamily="49" charset="0"/>
              </a:rPr>
              <a:t>		&lt;input message=“</a:t>
            </a:r>
            <a:r>
              <a:rPr lang="en-US" sz="1400" dirty="0" err="1" smtClean="0">
                <a:latin typeface="Consolas" pitchFamily="49" charset="0"/>
                <a:cs typeface="Consolas" pitchFamily="49" charset="0"/>
              </a:rPr>
              <a:t>tns:GreetingRequest</a:t>
            </a:r>
            <a:r>
              <a:rPr lang="en-US" sz="1400" dirty="0" smtClean="0">
                <a:latin typeface="Consolas" pitchFamily="49" charset="0"/>
                <a:cs typeface="Consolas" pitchFamily="49" charset="0"/>
              </a:rPr>
              <a:t>”/&gt;</a:t>
            </a:r>
          </a:p>
          <a:p>
            <a:r>
              <a:rPr lang="en-US" sz="1400" dirty="0">
                <a:latin typeface="Consolas" pitchFamily="49" charset="0"/>
                <a:cs typeface="Consolas" pitchFamily="49" charset="0"/>
              </a:rPr>
              <a:t>	</a:t>
            </a:r>
            <a:r>
              <a:rPr lang="en-US" sz="1400" dirty="0" smtClean="0">
                <a:latin typeface="Consolas" pitchFamily="49" charset="0"/>
                <a:cs typeface="Consolas" pitchFamily="49" charset="0"/>
              </a:rPr>
              <a:t>		&lt;output message=“</a:t>
            </a:r>
            <a:r>
              <a:rPr lang="en-US" sz="1400" dirty="0" err="1" smtClean="0">
                <a:latin typeface="Consolas" pitchFamily="49" charset="0"/>
                <a:cs typeface="Consolas" pitchFamily="49" charset="0"/>
              </a:rPr>
              <a:t>tns:GreetingResponse</a:t>
            </a:r>
            <a:r>
              <a:rPr lang="en-US" sz="1400" dirty="0" smtClean="0">
                <a:latin typeface="Consolas" pitchFamily="49" charset="0"/>
                <a:cs typeface="Consolas" pitchFamily="49" charset="0"/>
              </a:rPr>
              <a:t>”/&gt;</a:t>
            </a:r>
          </a:p>
          <a:p>
            <a:r>
              <a:rPr lang="en-US" sz="1400" dirty="0">
                <a:latin typeface="Consolas" pitchFamily="49" charset="0"/>
                <a:cs typeface="Consolas" pitchFamily="49" charset="0"/>
              </a:rPr>
              <a:t>	</a:t>
            </a:r>
            <a:r>
              <a:rPr lang="en-US" sz="1400" dirty="0" smtClean="0">
                <a:latin typeface="Consolas" pitchFamily="49" charset="0"/>
                <a:cs typeface="Consolas" pitchFamily="49" charset="0"/>
              </a:rPr>
              <a:t>	&lt;/operation&gt;</a:t>
            </a:r>
            <a:endParaRPr lang="en-US" sz="1400" dirty="0" smtClean="0">
              <a:latin typeface="Consolas" pitchFamily="49" charset="0"/>
              <a:cs typeface="Consolas" pitchFamily="49" charset="0"/>
            </a:endParaRPr>
          </a:p>
          <a:p>
            <a:r>
              <a:rPr lang="en-US" sz="1400" dirty="0" smtClean="0">
                <a:latin typeface="Consolas" pitchFamily="49" charset="0"/>
                <a:cs typeface="Consolas" pitchFamily="49" charset="0"/>
              </a:rPr>
              <a:t>	&lt;binding name=“</a:t>
            </a:r>
            <a:r>
              <a:rPr lang="en-US" sz="1400" dirty="0" err="1" smtClean="0">
                <a:latin typeface="Consolas" pitchFamily="49" charset="0"/>
                <a:cs typeface="Consolas" pitchFamily="49" charset="0"/>
              </a:rPr>
              <a:t>GreetingBinding</a:t>
            </a:r>
            <a:r>
              <a:rPr lang="en-US" sz="1400" dirty="0" smtClean="0">
                <a:latin typeface="Consolas" pitchFamily="49" charset="0"/>
                <a:cs typeface="Consolas" pitchFamily="49" charset="0"/>
              </a:rPr>
              <a:t>” type=“</a:t>
            </a:r>
            <a:r>
              <a:rPr lang="en-US" sz="1400" dirty="0" err="1" smtClean="0">
                <a:latin typeface="Consolas" pitchFamily="49" charset="0"/>
                <a:cs typeface="Consolas" pitchFamily="49" charset="0"/>
              </a:rPr>
              <a:t>tns</a:t>
            </a:r>
            <a:r>
              <a:rPr lang="en-US" sz="1400" dirty="0" err="1" smtClean="0">
                <a:latin typeface="Consolas" pitchFamily="49" charset="0"/>
                <a:cs typeface="Consolas" pitchFamily="49" charset="0"/>
              </a:rPr>
              <a:t>:GreetingRequest</a:t>
            </a:r>
            <a:r>
              <a:rPr lang="en-US" sz="1400" dirty="0" smtClean="0">
                <a:latin typeface="Consolas" pitchFamily="49" charset="0"/>
                <a:cs typeface="Consolas" pitchFamily="49" charset="0"/>
              </a:rPr>
              <a:t>”/&gt;</a:t>
            </a:r>
            <a:endParaRPr lang="en-US" sz="1400" dirty="0" smtClean="0">
              <a:latin typeface="Consolas" pitchFamily="49" charset="0"/>
              <a:cs typeface="Consolas" pitchFamily="49" charset="0"/>
            </a:endParaRPr>
          </a:p>
          <a:p>
            <a:endParaRPr lang="en-US" sz="1400" dirty="0" smtClean="0">
              <a:latin typeface="Consolas" pitchFamily="49" charset="0"/>
              <a:cs typeface="Consolas" pitchFamily="49" charset="0"/>
            </a:endParaRPr>
          </a:p>
          <a:p>
            <a:pPr lvl="1"/>
            <a:endParaRPr lang="en-US" sz="1400" dirty="0">
              <a:latin typeface="Consolas" pitchFamily="49" charset="0"/>
              <a:cs typeface="Consolas" pitchFamily="49" charset="0"/>
            </a:endParaRPr>
          </a:p>
          <a:p>
            <a:pPr lvl="1"/>
            <a:endParaRPr lang="en-US" sz="1400" dirty="0" smtClean="0">
              <a:latin typeface="Consolas" pitchFamily="49" charset="0"/>
              <a:cs typeface="Consolas" pitchFamily="49" charset="0"/>
            </a:endParaRPr>
          </a:p>
          <a:p>
            <a:pPr marL="914400" lvl="1" indent="-457200">
              <a:buFont typeface="Calibri" pitchFamily="34" charset="0"/>
              <a:buChar char="›"/>
            </a:pPr>
            <a:endParaRPr lang="en-US" sz="2400" dirty="0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077200" y="0"/>
            <a:ext cx="1066799" cy="461665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SOAP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xmlns="" val="2399316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2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20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20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20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2000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2000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allAtOnce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6096000"/>
            <a:ext cx="9144000" cy="762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1905000" y="6324600"/>
            <a:ext cx="4648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solidFill>
                  <a:schemeClr val="bg1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Understanding HTTP</a:t>
            </a:r>
            <a:endParaRPr lang="en-US" dirty="0">
              <a:solidFill>
                <a:schemeClr val="bg1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0" y="4572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 smtClean="0"/>
              <a:t>Discovering Web Services</a:t>
            </a:r>
            <a:endParaRPr lang="en-US" sz="4800" dirty="0" smtClean="0"/>
          </a:p>
        </p:txBody>
      </p:sp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8600" y="6248400"/>
            <a:ext cx="1371600" cy="4103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" name="Picture 9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934202" y="6248400"/>
            <a:ext cx="1981195" cy="4312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TextBox 2"/>
          <p:cNvSpPr txBox="1"/>
          <p:nvPr/>
        </p:nvSpPr>
        <p:spPr>
          <a:xfrm>
            <a:off x="0" y="1524000"/>
            <a:ext cx="914400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 smtClean="0"/>
              <a:t>UDDI </a:t>
            </a:r>
          </a:p>
          <a:p>
            <a:pPr algn="ctr"/>
            <a:r>
              <a:rPr lang="en-US" sz="2400" dirty="0" smtClean="0"/>
              <a:t>Uniform Description Discovery Integration</a:t>
            </a:r>
          </a:p>
          <a:p>
            <a:pPr algn="ctr"/>
            <a:endParaRPr lang="en-US" sz="2400" dirty="0" smtClean="0"/>
          </a:p>
          <a:p>
            <a:pPr algn="ctr"/>
            <a:r>
              <a:rPr lang="en-US" sz="3600" dirty="0" smtClean="0"/>
              <a:t>OASIS</a:t>
            </a:r>
          </a:p>
          <a:p>
            <a:pPr algn="ctr"/>
            <a:r>
              <a:rPr lang="en-GB" sz="3600" dirty="0"/>
              <a:t> </a:t>
            </a:r>
            <a:r>
              <a:rPr lang="en-GB" sz="2400" dirty="0"/>
              <a:t>Organization for the Advancement of Structured Information </a:t>
            </a:r>
            <a:r>
              <a:rPr lang="en-GB" sz="2400" dirty="0" smtClean="0"/>
              <a:t>Standards</a:t>
            </a:r>
          </a:p>
          <a:p>
            <a:pPr algn="ctr"/>
            <a:endParaRPr lang="en-GB" sz="3600" dirty="0" smtClean="0"/>
          </a:p>
          <a:p>
            <a:pPr algn="ctr"/>
            <a:endParaRPr lang="en-GB" sz="2400" dirty="0" smtClean="0"/>
          </a:p>
          <a:p>
            <a:pPr algn="ctr"/>
            <a:r>
              <a:rPr lang="en-GB" sz="3600" dirty="0" smtClean="0"/>
              <a:t/>
            </a:r>
            <a:br>
              <a:rPr lang="en-GB" sz="3600" dirty="0" smtClean="0"/>
            </a:br>
            <a:r>
              <a:rPr lang="en-GB" sz="3600" dirty="0" smtClean="0"/>
              <a:t>Basically a directory of </a:t>
            </a:r>
            <a:r>
              <a:rPr lang="en-GB" sz="3600" dirty="0" err="1" smtClean="0"/>
              <a:t>WSDLs</a:t>
            </a:r>
            <a:r>
              <a:rPr lang="en-GB" sz="3600" dirty="0" smtClean="0"/>
              <a:t> and descriptions</a:t>
            </a:r>
            <a:endParaRPr lang="en-US" sz="3600" dirty="0"/>
          </a:p>
        </p:txBody>
      </p:sp>
      <p:sp>
        <p:nvSpPr>
          <p:cNvPr id="11" name="TextBox 10"/>
          <p:cNvSpPr txBox="1"/>
          <p:nvPr/>
        </p:nvSpPr>
        <p:spPr>
          <a:xfrm>
            <a:off x="8077200" y="0"/>
            <a:ext cx="1066799" cy="461665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SOAP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xmlns="" val="2399316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6096000"/>
            <a:ext cx="9144000" cy="762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1905000" y="6324600"/>
            <a:ext cx="4648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solidFill>
                  <a:schemeClr val="bg1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Understanding HTTP</a:t>
            </a:r>
            <a:endParaRPr lang="en-US" dirty="0">
              <a:solidFill>
                <a:schemeClr val="bg1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0" y="685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 smtClean="0"/>
              <a:t>Publishing Web Services</a:t>
            </a:r>
            <a:endParaRPr lang="en-US" sz="4800" dirty="0" smtClean="0"/>
          </a:p>
        </p:txBody>
      </p:sp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8600" y="6248400"/>
            <a:ext cx="1371600" cy="4103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" name="Picture 9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934202" y="6248400"/>
            <a:ext cx="1981195" cy="4312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TextBox 2"/>
          <p:cNvSpPr txBox="1"/>
          <p:nvPr/>
        </p:nvSpPr>
        <p:spPr>
          <a:xfrm>
            <a:off x="0" y="1752600"/>
            <a:ext cx="9144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 smtClean="0"/>
              <a:t>It’s supposed to just work.</a:t>
            </a:r>
            <a:endParaRPr lang="en-US" sz="3600" dirty="0"/>
          </a:p>
        </p:txBody>
      </p:sp>
      <p:sp>
        <p:nvSpPr>
          <p:cNvPr id="11" name="TextBox 10"/>
          <p:cNvSpPr txBox="1"/>
          <p:nvPr/>
        </p:nvSpPr>
        <p:spPr>
          <a:xfrm>
            <a:off x="8077200" y="0"/>
            <a:ext cx="1066799" cy="461665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SOAP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xmlns="" val="2399316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6096000"/>
            <a:ext cx="9144000" cy="762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8600" y="6248400"/>
            <a:ext cx="1371600" cy="4103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TextBox 9"/>
          <p:cNvSpPr txBox="1"/>
          <p:nvPr/>
        </p:nvSpPr>
        <p:spPr>
          <a:xfrm>
            <a:off x="1905000" y="6324600"/>
            <a:ext cx="4648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solidFill>
                  <a:schemeClr val="bg1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Web Services Explained</a:t>
            </a:r>
            <a:endParaRPr lang="en-US" dirty="0">
              <a:solidFill>
                <a:schemeClr val="bg1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pic>
        <p:nvPicPr>
          <p:cNvPr id="1033" name="Picture 9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934202" y="6248400"/>
            <a:ext cx="1981195" cy="4312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8" name="TextBox 17"/>
          <p:cNvSpPr txBox="1"/>
          <p:nvPr/>
        </p:nvSpPr>
        <p:spPr>
          <a:xfrm>
            <a:off x="0" y="609600"/>
            <a:ext cx="9144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 smtClean="0"/>
              <a:t>But why would you want </a:t>
            </a:r>
          </a:p>
          <a:p>
            <a:pPr algn="ctr"/>
            <a:r>
              <a:rPr lang="en-US" sz="4800" dirty="0" smtClean="0"/>
              <a:t>to do all that?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2514600"/>
            <a:ext cx="9144000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ctr"/>
            <a:r>
              <a:rPr lang="en-US" sz="3600" dirty="0" smtClean="0"/>
              <a:t>SOAP seemed like a good idea at the time…</a:t>
            </a:r>
          </a:p>
          <a:p>
            <a:pPr marL="457200" indent="-457200"/>
            <a:endParaRPr lang="en-US" sz="3600" dirty="0"/>
          </a:p>
          <a:p>
            <a:pPr marL="457200" indent="-457200" algn="ctr"/>
            <a:r>
              <a:rPr lang="en-US" sz="3600" dirty="0" smtClean="0"/>
              <a:t>But it turned out to be more complex than most developers could handle.</a:t>
            </a:r>
          </a:p>
          <a:p>
            <a:pPr marL="457200" indent="-457200" algn="ctr"/>
            <a:endParaRPr lang="en-US" sz="3600" dirty="0"/>
          </a:p>
          <a:p>
            <a:pPr marL="457200" indent="-457200" algn="ctr"/>
            <a:r>
              <a:rPr lang="en-US" sz="3600" dirty="0" smtClean="0"/>
              <a:t>Tools didn’t deliver the promised simplicity.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77200" y="0"/>
            <a:ext cx="1066799" cy="461665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SOAP</a:t>
            </a:r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6096000"/>
            <a:ext cx="9144000" cy="762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8600" y="6248400"/>
            <a:ext cx="1371600" cy="4103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TextBox 9"/>
          <p:cNvSpPr txBox="1"/>
          <p:nvPr/>
        </p:nvSpPr>
        <p:spPr>
          <a:xfrm>
            <a:off x="1905000" y="6324600"/>
            <a:ext cx="4648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solidFill>
                  <a:schemeClr val="bg1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Web Services Explained</a:t>
            </a:r>
            <a:endParaRPr lang="en-US" dirty="0">
              <a:solidFill>
                <a:schemeClr val="bg1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pic>
        <p:nvPicPr>
          <p:cNvPr id="1033" name="Picture 9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934202" y="6248400"/>
            <a:ext cx="1981195" cy="4312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8" name="TextBox 17"/>
          <p:cNvSpPr txBox="1"/>
          <p:nvPr/>
        </p:nvSpPr>
        <p:spPr>
          <a:xfrm>
            <a:off x="0" y="609600"/>
            <a:ext cx="9144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 smtClean="0"/>
              <a:t>What about REST?</a:t>
            </a:r>
          </a:p>
        </p:txBody>
      </p:sp>
      <p:sp>
        <p:nvSpPr>
          <p:cNvPr id="8" name="Rectangle 7"/>
          <p:cNvSpPr/>
          <p:nvPr/>
        </p:nvSpPr>
        <p:spPr>
          <a:xfrm>
            <a:off x="533400" y="1600200"/>
            <a:ext cx="8305800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914400" lvl="1" indent="-457200"/>
            <a:r>
              <a:rPr lang="en-US" sz="2400" dirty="0" smtClean="0"/>
              <a:t>REST was created about the same time as SOAP.</a:t>
            </a:r>
          </a:p>
          <a:p>
            <a:pPr marL="914400" lvl="1" indent="-457200"/>
            <a:endParaRPr lang="en-US" sz="2400" dirty="0"/>
          </a:p>
          <a:p>
            <a:pPr marL="914400" lvl="1" indent="-457200"/>
            <a:r>
              <a:rPr lang="en-US" sz="2400" dirty="0" smtClean="0"/>
              <a:t>It was written by one of the HTTP spec authors (Roy Fielding)</a:t>
            </a:r>
          </a:p>
          <a:p>
            <a:pPr marL="914400" lvl="1" indent="-457200"/>
            <a:endParaRPr lang="en-US" sz="2400" dirty="0"/>
          </a:p>
          <a:p>
            <a:pPr marL="914400" lvl="1" indent="-457200"/>
            <a:r>
              <a:rPr lang="en-US" sz="2400" dirty="0" smtClean="0"/>
              <a:t>REST is simple</a:t>
            </a:r>
          </a:p>
          <a:p>
            <a:pPr marL="914400" lvl="1" indent="-457200"/>
            <a:endParaRPr lang="en-US" sz="2400" dirty="0"/>
          </a:p>
          <a:p>
            <a:pPr marL="914400" lvl="1" indent="-457200"/>
            <a:r>
              <a:rPr lang="en-US" sz="2400" dirty="0" smtClean="0"/>
              <a:t>REST doesn’t impose hardly any more complexity than HTTP</a:t>
            </a:r>
          </a:p>
          <a:p>
            <a:pPr marL="914400" lvl="1" indent="-457200"/>
            <a:endParaRPr lang="en-US" sz="2400" dirty="0"/>
          </a:p>
          <a:p>
            <a:pPr marL="914400" lvl="1" indent="-457200"/>
            <a:r>
              <a:rPr lang="en-US" sz="2400" dirty="0" smtClean="0"/>
              <a:t>But it took a while for REST to catch on</a:t>
            </a:r>
          </a:p>
          <a:p>
            <a:pPr marL="914400" lvl="1" indent="-457200"/>
            <a:endParaRPr lang="en-US" sz="2400" dirty="0"/>
          </a:p>
          <a:p>
            <a:pPr marL="914400" lvl="1" indent="-457200"/>
            <a:r>
              <a:rPr lang="en-US" sz="2400" dirty="0" smtClean="0"/>
              <a:t>Most modern web services are base on “REST”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77200" y="0"/>
            <a:ext cx="1066799" cy="461665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REST</a:t>
            </a:r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6096000"/>
            <a:ext cx="9144000" cy="762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8600" y="6248400"/>
            <a:ext cx="1371600" cy="4103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TextBox 9"/>
          <p:cNvSpPr txBox="1"/>
          <p:nvPr/>
        </p:nvSpPr>
        <p:spPr>
          <a:xfrm>
            <a:off x="1905000" y="6324600"/>
            <a:ext cx="4648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solidFill>
                  <a:schemeClr val="bg1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Web Services Explained</a:t>
            </a:r>
            <a:endParaRPr lang="en-US" dirty="0">
              <a:solidFill>
                <a:schemeClr val="bg1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pic>
        <p:nvPicPr>
          <p:cNvPr id="1033" name="Picture 9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934202" y="6248400"/>
            <a:ext cx="1981195" cy="4312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8" name="TextBox 17"/>
          <p:cNvSpPr txBox="1"/>
          <p:nvPr/>
        </p:nvSpPr>
        <p:spPr>
          <a:xfrm>
            <a:off x="0" y="457200"/>
            <a:ext cx="9144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 smtClean="0"/>
              <a:t>REST</a:t>
            </a:r>
          </a:p>
          <a:p>
            <a:pPr algn="ctr"/>
            <a:r>
              <a:rPr lang="en-US" sz="3600" dirty="0" smtClean="0"/>
              <a:t>Guiding principles</a:t>
            </a:r>
            <a:endParaRPr lang="en-US" sz="3600" dirty="0"/>
          </a:p>
        </p:txBody>
      </p:sp>
      <p:sp>
        <p:nvSpPr>
          <p:cNvPr id="9" name="TextBox 8"/>
          <p:cNvSpPr txBox="1"/>
          <p:nvPr/>
        </p:nvSpPr>
        <p:spPr>
          <a:xfrm>
            <a:off x="8077200" y="0"/>
            <a:ext cx="1066799" cy="461665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REST</a:t>
            </a:r>
            <a:endParaRPr lang="en-US" sz="2400" dirty="0"/>
          </a:p>
        </p:txBody>
      </p:sp>
      <p:sp>
        <p:nvSpPr>
          <p:cNvPr id="12" name="Rectangle 11"/>
          <p:cNvSpPr/>
          <p:nvPr/>
        </p:nvSpPr>
        <p:spPr>
          <a:xfrm>
            <a:off x="381000" y="1524000"/>
            <a:ext cx="8458200" cy="36625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742950" indent="-742950">
              <a:buFont typeface="+mj-lt"/>
              <a:buAutoNum type="arabicPeriod"/>
            </a:pPr>
            <a:r>
              <a:rPr lang="en-US" sz="2800" dirty="0" smtClean="0"/>
              <a:t>Resources are identified in Requests</a:t>
            </a:r>
          </a:p>
          <a:p>
            <a:pPr marL="1200150" lvl="1" indent="-742950">
              <a:buFont typeface="Calibri" pitchFamily="34" charset="0"/>
              <a:buChar char="›"/>
            </a:pPr>
            <a:r>
              <a:rPr lang="en-US" sz="2000" dirty="0" smtClean="0"/>
              <a:t>URIs</a:t>
            </a:r>
          </a:p>
          <a:p>
            <a:pPr marL="1200150" lvl="1" indent="-742950">
              <a:buFont typeface="Calibri" pitchFamily="34" charset="0"/>
              <a:buChar char="›"/>
            </a:pPr>
            <a:r>
              <a:rPr lang="en-US" sz="2000" dirty="0" smtClean="0"/>
              <a:t>MIME type</a:t>
            </a:r>
          </a:p>
          <a:p>
            <a:pPr marL="1200150" lvl="1" indent="-742950">
              <a:buFont typeface="Calibri" pitchFamily="34" charset="0"/>
              <a:buChar char="›"/>
            </a:pPr>
            <a:r>
              <a:rPr lang="en-US" sz="2000" dirty="0" smtClean="0"/>
              <a:t>encoding</a:t>
            </a:r>
          </a:p>
          <a:p>
            <a:pPr marL="742950" indent="-742950">
              <a:buFont typeface="+mj-lt"/>
              <a:buAutoNum type="arabicPeriod"/>
            </a:pPr>
            <a:r>
              <a:rPr lang="en-US" sz="2800" dirty="0" smtClean="0"/>
              <a:t>Resources are manipulated through representations</a:t>
            </a:r>
          </a:p>
          <a:p>
            <a:pPr marL="1200150" lvl="1" indent="-742950">
              <a:buFont typeface="Calibri" pitchFamily="34" charset="0"/>
              <a:buChar char="›"/>
            </a:pPr>
            <a:r>
              <a:rPr lang="en-US" sz="2000" dirty="0" smtClean="0"/>
              <a:t>Enough information to modify </a:t>
            </a:r>
            <a:r>
              <a:rPr lang="en-US" sz="2000" dirty="0" smtClean="0"/>
              <a:t>it is provided</a:t>
            </a:r>
            <a:endParaRPr lang="en-US" sz="2000" dirty="0" smtClean="0"/>
          </a:p>
          <a:p>
            <a:pPr marL="742950" indent="-742950">
              <a:buFont typeface="+mj-lt"/>
              <a:buAutoNum type="arabicPeriod"/>
            </a:pPr>
            <a:r>
              <a:rPr lang="en-US" sz="2800" dirty="0" smtClean="0"/>
              <a:t>Messages are self-descriptive</a:t>
            </a:r>
          </a:p>
          <a:p>
            <a:pPr marL="1200150" lvl="1" indent="-742950">
              <a:buFont typeface="Calibri" pitchFamily="34" charset="0"/>
              <a:buChar char="›"/>
            </a:pPr>
            <a:r>
              <a:rPr lang="en-US" sz="2000" dirty="0" smtClean="0"/>
              <a:t>x</a:t>
            </a:r>
          </a:p>
          <a:p>
            <a:pPr marL="742950" indent="-742950">
              <a:buFont typeface="+mj-lt"/>
              <a:buAutoNum type="arabicPeriod"/>
            </a:pPr>
            <a:r>
              <a:rPr lang="en-US" sz="2800" dirty="0" smtClean="0"/>
              <a:t>Hypermedia as the engine of application state</a:t>
            </a:r>
          </a:p>
          <a:p>
            <a:pPr marL="1200150" lvl="1" indent="-742950">
              <a:buFont typeface="Calibri" pitchFamily="34" charset="0"/>
              <a:buChar char="›"/>
            </a:pPr>
            <a:r>
              <a:rPr lang="en-US" sz="2000" dirty="0" smtClean="0"/>
              <a:t>(HATEOAS)</a:t>
            </a:r>
            <a:endParaRPr lang="en-US" sz="28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6096000"/>
            <a:ext cx="9144000" cy="762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8600" y="6248400"/>
            <a:ext cx="1371600" cy="4103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TextBox 9"/>
          <p:cNvSpPr txBox="1"/>
          <p:nvPr/>
        </p:nvSpPr>
        <p:spPr>
          <a:xfrm>
            <a:off x="1905000" y="6324600"/>
            <a:ext cx="4648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solidFill>
                  <a:schemeClr val="bg1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Web Services Explained</a:t>
            </a:r>
            <a:endParaRPr lang="en-US" dirty="0">
              <a:solidFill>
                <a:schemeClr val="bg1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pic>
        <p:nvPicPr>
          <p:cNvPr id="1033" name="Picture 9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934202" y="6248400"/>
            <a:ext cx="1981195" cy="4312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8" name="TextBox 17"/>
          <p:cNvSpPr txBox="1"/>
          <p:nvPr/>
        </p:nvSpPr>
        <p:spPr>
          <a:xfrm>
            <a:off x="0" y="457200"/>
            <a:ext cx="9144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 smtClean="0"/>
              <a:t>REST constraints</a:t>
            </a:r>
          </a:p>
        </p:txBody>
      </p:sp>
      <p:sp>
        <p:nvSpPr>
          <p:cNvPr id="8" name="Rectangle 7"/>
          <p:cNvSpPr/>
          <p:nvPr/>
        </p:nvSpPr>
        <p:spPr>
          <a:xfrm>
            <a:off x="381000" y="1219200"/>
            <a:ext cx="8305800" cy="48320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742950" indent="-742950">
              <a:buFont typeface="+mj-lt"/>
              <a:buAutoNum type="arabicPeriod"/>
            </a:pPr>
            <a:r>
              <a:rPr lang="en-US" sz="2800" dirty="0" smtClean="0"/>
              <a:t>Client-server</a:t>
            </a:r>
          </a:p>
          <a:p>
            <a:pPr marL="1200150" lvl="1" indent="-742950">
              <a:buFont typeface="Calibri" pitchFamily="34" charset="0"/>
              <a:buChar char="›"/>
            </a:pPr>
            <a:r>
              <a:rPr lang="en-US" sz="2000" dirty="0" smtClean="0"/>
              <a:t>Separation of Concerns</a:t>
            </a:r>
          </a:p>
          <a:p>
            <a:pPr marL="1200150" lvl="1" indent="-742950">
              <a:buFont typeface="Calibri" pitchFamily="34" charset="0"/>
              <a:buChar char="›"/>
            </a:pPr>
            <a:r>
              <a:rPr lang="en-US" sz="2000" dirty="0" smtClean="0"/>
              <a:t>Portability </a:t>
            </a:r>
          </a:p>
          <a:p>
            <a:pPr marL="1200150" lvl="1" indent="-742950">
              <a:buFont typeface="Calibri" pitchFamily="34" charset="0"/>
              <a:buChar char="›"/>
            </a:pPr>
            <a:r>
              <a:rPr lang="en-US" sz="2000" dirty="0" smtClean="0"/>
              <a:t>Scalability</a:t>
            </a:r>
          </a:p>
          <a:p>
            <a:pPr marL="742950" indent="-742950">
              <a:buFont typeface="+mj-lt"/>
              <a:buAutoNum type="arabicPeriod"/>
            </a:pPr>
            <a:r>
              <a:rPr lang="en-US" sz="2800" dirty="0" smtClean="0"/>
              <a:t>Stateless</a:t>
            </a:r>
          </a:p>
          <a:p>
            <a:pPr marL="1200150" lvl="1" indent="-742950">
              <a:buFont typeface="Calibri" pitchFamily="34" charset="0"/>
              <a:buChar char="›"/>
            </a:pPr>
            <a:r>
              <a:rPr lang="en-US" sz="2000" dirty="0" smtClean="0"/>
              <a:t>No stored context / session state</a:t>
            </a:r>
          </a:p>
          <a:p>
            <a:pPr marL="742950" indent="-742950">
              <a:buFont typeface="+mj-lt"/>
              <a:buAutoNum type="arabicPeriod"/>
            </a:pPr>
            <a:r>
              <a:rPr lang="en-US" sz="2800" dirty="0" smtClean="0"/>
              <a:t>Cacheable</a:t>
            </a:r>
          </a:p>
          <a:p>
            <a:pPr marL="1200150" lvl="1" indent="-742950">
              <a:buFont typeface="Calibri" pitchFamily="34" charset="0"/>
              <a:buChar char="›"/>
            </a:pPr>
            <a:r>
              <a:rPr lang="en-US" sz="2000" dirty="0" smtClean="0"/>
              <a:t>Responses tell clients how to cache</a:t>
            </a:r>
          </a:p>
          <a:p>
            <a:pPr marL="742950" indent="-742950">
              <a:buFont typeface="+mj-lt"/>
              <a:buAutoNum type="arabicPeriod"/>
            </a:pPr>
            <a:r>
              <a:rPr lang="en-US" sz="2800" dirty="0" smtClean="0"/>
              <a:t>Layered System</a:t>
            </a:r>
          </a:p>
          <a:p>
            <a:pPr marL="1200150" lvl="1" indent="-742950">
              <a:buFont typeface="Calibri" pitchFamily="34" charset="0"/>
              <a:buChar char="›"/>
            </a:pPr>
            <a:r>
              <a:rPr lang="en-US" sz="2000" dirty="0" smtClean="0"/>
              <a:t>Clients don’t know if they’re connected to the end server</a:t>
            </a:r>
            <a:endParaRPr lang="en-US" sz="2800" dirty="0" smtClean="0"/>
          </a:p>
          <a:p>
            <a:pPr marL="742950" indent="-742950">
              <a:buFont typeface="+mj-lt"/>
              <a:buAutoNum type="arabicPeriod"/>
            </a:pPr>
            <a:r>
              <a:rPr lang="en-US" sz="2800" dirty="0" smtClean="0"/>
              <a:t>Code on demand</a:t>
            </a:r>
          </a:p>
          <a:p>
            <a:pPr marL="1200150" lvl="1" indent="-742950">
              <a:buFont typeface="Calibri" pitchFamily="34" charset="0"/>
              <a:buChar char="›"/>
            </a:pPr>
            <a:r>
              <a:rPr lang="en-US" sz="2000" dirty="0" smtClean="0"/>
              <a:t>JavaScript, Applets, Flash</a:t>
            </a:r>
            <a:endParaRPr lang="en-US" sz="2800" dirty="0" smtClean="0"/>
          </a:p>
          <a:p>
            <a:pPr marL="742950" indent="-742950">
              <a:buFont typeface="+mj-lt"/>
              <a:buAutoNum type="arabicPeriod"/>
            </a:pPr>
            <a:r>
              <a:rPr lang="en-US" sz="2800" dirty="0" smtClean="0"/>
              <a:t>Uniform interface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77200" y="0"/>
            <a:ext cx="1066799" cy="461665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REST</a:t>
            </a:r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6096000"/>
            <a:ext cx="9144000" cy="762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8600" y="6248400"/>
            <a:ext cx="1371600" cy="4103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TextBox 9"/>
          <p:cNvSpPr txBox="1"/>
          <p:nvPr/>
        </p:nvSpPr>
        <p:spPr>
          <a:xfrm>
            <a:off x="1905000" y="6324600"/>
            <a:ext cx="4648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solidFill>
                  <a:schemeClr val="bg1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Web Services Explained</a:t>
            </a:r>
            <a:endParaRPr lang="en-US" dirty="0">
              <a:solidFill>
                <a:schemeClr val="bg1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pic>
        <p:nvPicPr>
          <p:cNvPr id="1033" name="Picture 9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934202" y="6248400"/>
            <a:ext cx="1981195" cy="4312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8" name="TextBox 17"/>
          <p:cNvSpPr txBox="1"/>
          <p:nvPr/>
        </p:nvSpPr>
        <p:spPr>
          <a:xfrm>
            <a:off x="0" y="1828800"/>
            <a:ext cx="9144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200" dirty="0" smtClean="0"/>
              <a:t>What?</a:t>
            </a:r>
          </a:p>
        </p:txBody>
      </p:sp>
      <p:sp>
        <p:nvSpPr>
          <p:cNvPr id="8" name="Rectangle 7"/>
          <p:cNvSpPr/>
          <p:nvPr/>
        </p:nvSpPr>
        <p:spPr>
          <a:xfrm>
            <a:off x="304800" y="3886200"/>
            <a:ext cx="84582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ctr"/>
            <a:r>
              <a:rPr lang="en-US" sz="2400" dirty="0" smtClean="0"/>
              <a:t>Is this some sort of doctoral dissertation?</a:t>
            </a:r>
          </a:p>
          <a:p>
            <a:pPr marL="457200" indent="-457200" algn="ctr"/>
            <a:endParaRPr lang="en-US" sz="2400" dirty="0"/>
          </a:p>
          <a:p>
            <a:pPr marL="457200" indent="-457200" algn="ctr"/>
            <a:r>
              <a:rPr lang="en-US" sz="2400" dirty="0" smtClean="0"/>
              <a:t>(yes)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77200" y="0"/>
            <a:ext cx="1066799" cy="461665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REST</a:t>
            </a:r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6096000"/>
            <a:ext cx="9144000" cy="762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8600" y="6248400"/>
            <a:ext cx="1371600" cy="4103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TextBox 9"/>
          <p:cNvSpPr txBox="1"/>
          <p:nvPr/>
        </p:nvSpPr>
        <p:spPr>
          <a:xfrm>
            <a:off x="1905000" y="6324600"/>
            <a:ext cx="4648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solidFill>
                  <a:schemeClr val="bg1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Web Services Explained</a:t>
            </a:r>
            <a:endParaRPr lang="en-US" dirty="0">
              <a:solidFill>
                <a:schemeClr val="bg1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pic>
        <p:nvPicPr>
          <p:cNvPr id="1033" name="Picture 9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934202" y="6248400"/>
            <a:ext cx="1981195" cy="4312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" name="Rectangle 7"/>
          <p:cNvSpPr/>
          <p:nvPr/>
        </p:nvSpPr>
        <p:spPr>
          <a:xfrm>
            <a:off x="381000" y="1219200"/>
            <a:ext cx="4191000" cy="47089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/>
            <a:r>
              <a:rPr lang="en-US" sz="3600" dirty="0" smtClean="0"/>
              <a:t>Resources</a:t>
            </a:r>
          </a:p>
          <a:p>
            <a:pPr marL="914400" lvl="1" indent="-457200">
              <a:buFont typeface="Calibri" pitchFamily="34" charset="0"/>
              <a:buChar char="›"/>
            </a:pPr>
            <a:r>
              <a:rPr lang="en-US" sz="2400" dirty="0" smtClean="0"/>
              <a:t>identified by URLS</a:t>
            </a:r>
          </a:p>
          <a:p>
            <a:pPr marL="914400" lvl="1" indent="-457200"/>
            <a:endParaRPr lang="en-US" sz="1200" dirty="0"/>
          </a:p>
          <a:p>
            <a:pPr marL="457200" indent="-457200"/>
            <a:r>
              <a:rPr lang="en-US" sz="3600" dirty="0" smtClean="0"/>
              <a:t>Actions</a:t>
            </a:r>
          </a:p>
          <a:p>
            <a:pPr marL="914400" lvl="1" indent="-457200">
              <a:buFont typeface="Calibri" pitchFamily="34" charset="0"/>
              <a:buChar char="›"/>
            </a:pPr>
            <a:r>
              <a:rPr lang="en-US" sz="2400" dirty="0" smtClean="0"/>
              <a:t>HTTP methods</a:t>
            </a:r>
          </a:p>
          <a:p>
            <a:pPr marL="914400" lvl="1" indent="-457200"/>
            <a:endParaRPr lang="en-US" sz="1200" dirty="0" smtClean="0"/>
          </a:p>
          <a:p>
            <a:pPr marL="457200" indent="-457200"/>
            <a:r>
              <a:rPr lang="en-US" sz="3600" dirty="0" smtClean="0"/>
              <a:t>MIME Types</a:t>
            </a:r>
          </a:p>
          <a:p>
            <a:pPr marL="914400" lvl="1" indent="-457200">
              <a:buFont typeface="Calibri" pitchFamily="34" charset="0"/>
              <a:buChar char="›"/>
            </a:pPr>
            <a:r>
              <a:rPr lang="en-US" sz="2400" dirty="0" smtClean="0"/>
              <a:t>Accept: header</a:t>
            </a:r>
          </a:p>
          <a:p>
            <a:pPr marL="914400" lvl="1" indent="-457200">
              <a:buFont typeface="Calibri" pitchFamily="34" charset="0"/>
              <a:buChar char="›"/>
            </a:pPr>
            <a:r>
              <a:rPr lang="en-US" sz="2400" dirty="0" smtClean="0"/>
              <a:t>Extension</a:t>
            </a:r>
          </a:p>
          <a:p>
            <a:pPr marL="457200" indent="-457200"/>
            <a:endParaRPr lang="en-US" sz="1200" dirty="0" smtClean="0"/>
          </a:p>
          <a:p>
            <a:pPr marL="457200" indent="-457200"/>
            <a:r>
              <a:rPr lang="en-US" sz="3600" dirty="0" smtClean="0"/>
              <a:t>Links</a:t>
            </a:r>
          </a:p>
          <a:p>
            <a:pPr marL="914400" lvl="1" indent="-457200">
              <a:buFont typeface="Calibri" pitchFamily="34" charset="0"/>
              <a:buChar char="›"/>
            </a:pPr>
            <a:r>
              <a:rPr lang="en-US" sz="2400" dirty="0" smtClean="0"/>
              <a:t>Discoverable API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77200" y="1"/>
            <a:ext cx="1066799" cy="461665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REST</a:t>
            </a:r>
            <a:endParaRPr lang="en-US" sz="2400" dirty="0"/>
          </a:p>
        </p:txBody>
      </p:sp>
      <p:sp>
        <p:nvSpPr>
          <p:cNvPr id="9" name="TextBox 8"/>
          <p:cNvSpPr txBox="1"/>
          <p:nvPr/>
        </p:nvSpPr>
        <p:spPr>
          <a:xfrm>
            <a:off x="0" y="4572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 smtClean="0"/>
              <a:t>What is REST?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0" y="2362200"/>
            <a:ext cx="312420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914400" lvl="1" indent="-457200">
              <a:buFont typeface="Calibri" pitchFamily="34" charset="0"/>
              <a:buChar char="›"/>
            </a:pPr>
            <a:r>
              <a:rPr lang="en-US" sz="1600" dirty="0" smtClean="0"/>
              <a:t>GET</a:t>
            </a:r>
          </a:p>
          <a:p>
            <a:pPr marL="914400" lvl="1" indent="-457200">
              <a:buFont typeface="Calibri" pitchFamily="34" charset="0"/>
              <a:buChar char="›"/>
            </a:pPr>
            <a:r>
              <a:rPr lang="en-US" sz="1600" dirty="0" smtClean="0"/>
              <a:t>POST</a:t>
            </a:r>
          </a:p>
          <a:p>
            <a:pPr marL="914400" lvl="1" indent="-457200">
              <a:buFont typeface="Calibri" pitchFamily="34" charset="0"/>
              <a:buChar char="›"/>
            </a:pPr>
            <a:r>
              <a:rPr lang="en-US" sz="1600" dirty="0" smtClean="0"/>
              <a:t>PUT</a:t>
            </a:r>
          </a:p>
          <a:p>
            <a:pPr marL="914400" lvl="1" indent="-457200">
              <a:buFont typeface="Calibri" pitchFamily="34" charset="0"/>
              <a:buChar char="›"/>
            </a:pPr>
            <a:r>
              <a:rPr lang="en-US" sz="1600" dirty="0" smtClean="0"/>
              <a:t>DELETE</a:t>
            </a:r>
            <a:endParaRPr lang="en-US" sz="1600" dirty="0" smtClean="0"/>
          </a:p>
        </p:txBody>
      </p:sp>
      <p:sp>
        <p:nvSpPr>
          <p:cNvPr id="17" name="Rectangle 16"/>
          <p:cNvSpPr/>
          <p:nvPr/>
        </p:nvSpPr>
        <p:spPr>
          <a:xfrm>
            <a:off x="4572000" y="3962400"/>
            <a:ext cx="411480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914400" lvl="1" indent="-457200">
              <a:buFont typeface="Calibri" pitchFamily="34" charset="0"/>
              <a:buChar char="›"/>
            </a:pPr>
            <a:r>
              <a:rPr lang="en-US" sz="1600" dirty="0" smtClean="0"/>
              <a:t>text/html</a:t>
            </a:r>
          </a:p>
          <a:p>
            <a:pPr marL="914400" lvl="1" indent="-457200">
              <a:buFont typeface="Calibri" pitchFamily="34" charset="0"/>
              <a:buChar char="›"/>
            </a:pPr>
            <a:r>
              <a:rPr lang="en-US" sz="1600" dirty="0" smtClean="0"/>
              <a:t>application/xml</a:t>
            </a:r>
          </a:p>
          <a:p>
            <a:pPr marL="914400" lvl="1" indent="-457200">
              <a:buFont typeface="Calibri" pitchFamily="34" charset="0"/>
              <a:buChar char="›"/>
            </a:pPr>
            <a:r>
              <a:rPr lang="en-US" sz="1600" dirty="0" smtClean="0"/>
              <a:t>application/</a:t>
            </a:r>
            <a:r>
              <a:rPr lang="en-US" sz="1600" dirty="0" err="1" smtClean="0"/>
              <a:t>json</a:t>
            </a:r>
            <a:endParaRPr lang="en-US" sz="1600" dirty="0" smtClean="0"/>
          </a:p>
          <a:p>
            <a:pPr marL="914400" lvl="1" indent="-457200">
              <a:buFont typeface="Calibri" pitchFamily="34" charset="0"/>
              <a:buChar char="›"/>
            </a:pPr>
            <a:r>
              <a:rPr lang="en-US" sz="1600" dirty="0" smtClean="0"/>
              <a:t>Image/</a:t>
            </a:r>
            <a:r>
              <a:rPr lang="en-US" sz="1600" dirty="0" err="1" smtClean="0"/>
              <a:t>png</a:t>
            </a:r>
            <a:endParaRPr lang="en-US" sz="16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6096000"/>
            <a:ext cx="9144000" cy="762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8600" y="6248400"/>
            <a:ext cx="1371600" cy="4103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TextBox 9"/>
          <p:cNvSpPr txBox="1"/>
          <p:nvPr/>
        </p:nvSpPr>
        <p:spPr>
          <a:xfrm>
            <a:off x="1905000" y="6324600"/>
            <a:ext cx="4648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solidFill>
                  <a:schemeClr val="bg1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Web Services Explained</a:t>
            </a:r>
            <a:endParaRPr lang="en-US" dirty="0">
              <a:solidFill>
                <a:schemeClr val="bg1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pic>
        <p:nvPicPr>
          <p:cNvPr id="1033" name="Picture 9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934202" y="6248400"/>
            <a:ext cx="1981195" cy="4312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8" name="TextBox 17"/>
          <p:cNvSpPr txBox="1"/>
          <p:nvPr/>
        </p:nvSpPr>
        <p:spPr>
          <a:xfrm>
            <a:off x="0" y="609600"/>
            <a:ext cx="9144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 smtClean="0"/>
              <a:t>Not everything </a:t>
            </a:r>
          </a:p>
          <a:p>
            <a:pPr algn="ctr"/>
            <a:r>
              <a:rPr lang="en-US" sz="4800" dirty="0" smtClean="0"/>
              <a:t>called RESTful is really REST</a:t>
            </a:r>
          </a:p>
        </p:txBody>
      </p:sp>
      <p:sp>
        <p:nvSpPr>
          <p:cNvPr id="8" name="Rectangle 7"/>
          <p:cNvSpPr/>
          <p:nvPr/>
        </p:nvSpPr>
        <p:spPr>
          <a:xfrm>
            <a:off x="381000" y="3048000"/>
            <a:ext cx="8305800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ctr"/>
            <a:r>
              <a:rPr lang="en-US" sz="2400" dirty="0" smtClean="0"/>
              <a:t>But that’s okay.</a:t>
            </a:r>
          </a:p>
          <a:p>
            <a:pPr marL="457200" indent="-457200" algn="ctr"/>
            <a:endParaRPr lang="en-US" sz="2400" dirty="0"/>
          </a:p>
          <a:p>
            <a:pPr marL="457200" indent="-457200" algn="ctr"/>
            <a:endParaRPr lang="en-US" sz="2400" dirty="0" smtClean="0"/>
          </a:p>
          <a:p>
            <a:pPr marL="457200" indent="-457200" algn="ctr"/>
            <a:endParaRPr lang="en-US" sz="2400" dirty="0" smtClean="0"/>
          </a:p>
          <a:p>
            <a:pPr marL="457200" indent="-457200" algn="ctr"/>
            <a:endParaRPr lang="en-US" sz="2400" dirty="0"/>
          </a:p>
          <a:p>
            <a:pPr marL="457200" indent="-457200" algn="ctr"/>
            <a:endParaRPr lang="en-US" sz="2400" dirty="0" smtClean="0"/>
          </a:p>
          <a:p>
            <a:pPr marL="457200" indent="-457200" algn="ctr"/>
            <a:endParaRPr lang="en-US" sz="2400" dirty="0"/>
          </a:p>
          <a:p>
            <a:pPr marL="457200" indent="-457200" algn="ctr"/>
            <a:r>
              <a:rPr lang="en-US" sz="2400" dirty="0" smtClean="0"/>
              <a:t>(unless Roy Fielding finds out)</a:t>
            </a:r>
            <a:endParaRPr lang="en-US" sz="2400" dirty="0" smtClean="0"/>
          </a:p>
        </p:txBody>
      </p:sp>
      <p:sp>
        <p:nvSpPr>
          <p:cNvPr id="13" name="TextBox 12"/>
          <p:cNvSpPr txBox="1"/>
          <p:nvPr/>
        </p:nvSpPr>
        <p:spPr>
          <a:xfrm>
            <a:off x="8077200" y="1"/>
            <a:ext cx="1066799" cy="461665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REST</a:t>
            </a:r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6096000"/>
            <a:ext cx="9144000" cy="762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8600" y="6248400"/>
            <a:ext cx="1371600" cy="4103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TextBox 9"/>
          <p:cNvSpPr txBox="1"/>
          <p:nvPr/>
        </p:nvSpPr>
        <p:spPr>
          <a:xfrm>
            <a:off x="1905000" y="6324600"/>
            <a:ext cx="4648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solidFill>
                  <a:schemeClr val="bg1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Web Services Explained</a:t>
            </a:r>
            <a:endParaRPr lang="en-US" dirty="0">
              <a:solidFill>
                <a:schemeClr val="bg1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pic>
        <p:nvPicPr>
          <p:cNvPr id="1033" name="Picture 9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934202" y="6248400"/>
            <a:ext cx="1981195" cy="4312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8" name="TextBox 17"/>
          <p:cNvSpPr txBox="1"/>
          <p:nvPr/>
        </p:nvSpPr>
        <p:spPr>
          <a:xfrm>
            <a:off x="0" y="6096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 smtClean="0"/>
              <a:t>REST-</a:t>
            </a:r>
            <a:r>
              <a:rPr lang="en-US" sz="4800" dirty="0" err="1" smtClean="0"/>
              <a:t>ish</a:t>
            </a:r>
            <a:endParaRPr lang="en-US" sz="4800" dirty="0" smtClean="0"/>
          </a:p>
        </p:txBody>
      </p:sp>
      <p:sp>
        <p:nvSpPr>
          <p:cNvPr id="8" name="Rectangle 7"/>
          <p:cNvSpPr/>
          <p:nvPr/>
        </p:nvSpPr>
        <p:spPr>
          <a:xfrm>
            <a:off x="381000" y="1447800"/>
            <a:ext cx="8382000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ctr"/>
            <a:r>
              <a:rPr lang="en-US" sz="4800" dirty="0" smtClean="0"/>
              <a:t>It’s about </a:t>
            </a:r>
            <a:r>
              <a:rPr lang="en-US" sz="4800" dirty="0" smtClean="0"/>
              <a:t>simplicity</a:t>
            </a:r>
          </a:p>
          <a:p>
            <a:pPr marL="457200" indent="-457200"/>
            <a:endParaRPr lang="en-US" sz="3600" dirty="0" smtClean="0"/>
          </a:p>
          <a:p>
            <a:pPr marL="457200" indent="-457200">
              <a:buFont typeface="Calibri" pitchFamily="34" charset="0"/>
              <a:buChar char="›"/>
            </a:pPr>
            <a:r>
              <a:rPr lang="en-US" sz="3600" dirty="0" smtClean="0"/>
              <a:t>Using HTTP and URLs</a:t>
            </a:r>
          </a:p>
          <a:p>
            <a:pPr marL="457200" indent="-457200">
              <a:buFont typeface="Calibri" pitchFamily="34" charset="0"/>
              <a:buChar char="›"/>
            </a:pPr>
            <a:r>
              <a:rPr lang="en-US" sz="3600" dirty="0" smtClean="0"/>
              <a:t>Statelessness</a:t>
            </a:r>
          </a:p>
          <a:p>
            <a:pPr marL="457200" indent="-457200">
              <a:buFont typeface="Calibri" pitchFamily="34" charset="0"/>
              <a:buChar char="›"/>
            </a:pPr>
            <a:r>
              <a:rPr lang="en-US" sz="3600" dirty="0" err="1" smtClean="0"/>
              <a:t>Cacheability</a:t>
            </a:r>
            <a:r>
              <a:rPr lang="en-US" sz="3600" dirty="0" smtClean="0"/>
              <a:t> </a:t>
            </a:r>
          </a:p>
          <a:p>
            <a:pPr marL="457200" indent="-457200">
              <a:buFont typeface="Calibri" pitchFamily="34" charset="0"/>
              <a:buChar char="›"/>
            </a:pPr>
            <a:r>
              <a:rPr lang="en-US" sz="3600" dirty="0" smtClean="0"/>
              <a:t>Simple verbs for CRUD</a:t>
            </a:r>
          </a:p>
          <a:p>
            <a:pPr marL="457200" indent="-457200">
              <a:buFont typeface="Calibri" pitchFamily="34" charset="0"/>
              <a:buChar char="›"/>
            </a:pPr>
            <a:r>
              <a:rPr lang="en-US" sz="3600" dirty="0" smtClean="0"/>
              <a:t>Using XML or JSON</a:t>
            </a:r>
            <a:endParaRPr lang="en-US" sz="3600" dirty="0" smtClean="0"/>
          </a:p>
          <a:p>
            <a:pPr marL="914400" lvl="1" indent="-457200">
              <a:buFont typeface="Calibri" pitchFamily="34" charset="0"/>
              <a:buChar char="›"/>
            </a:pPr>
            <a:endParaRPr lang="en-US" sz="2400" dirty="0" smtClean="0"/>
          </a:p>
        </p:txBody>
      </p:sp>
      <p:sp>
        <p:nvSpPr>
          <p:cNvPr id="9" name="TextBox 8"/>
          <p:cNvSpPr txBox="1"/>
          <p:nvPr/>
        </p:nvSpPr>
        <p:spPr>
          <a:xfrm>
            <a:off x="8077200" y="1"/>
            <a:ext cx="1066799" cy="461665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REST</a:t>
            </a:r>
            <a:endParaRPr lang="en-US" sz="2400" dirty="0"/>
          </a:p>
        </p:txBody>
      </p:sp>
      <p:sp>
        <p:nvSpPr>
          <p:cNvPr id="12" name="Rectangle 11"/>
          <p:cNvSpPr/>
          <p:nvPr/>
        </p:nvSpPr>
        <p:spPr>
          <a:xfrm>
            <a:off x="6096000" y="4038600"/>
            <a:ext cx="266700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/>
            <a:r>
              <a:rPr lang="en-US" sz="2400" dirty="0" smtClean="0">
                <a:latin typeface="Consolas" pitchFamily="49" charset="0"/>
                <a:cs typeface="Consolas" pitchFamily="49" charset="0"/>
              </a:rPr>
              <a:t>CREATE  = PUT</a:t>
            </a:r>
          </a:p>
          <a:p>
            <a:pPr marL="457200" indent="-457200"/>
            <a:r>
              <a:rPr lang="en-US" sz="2400" dirty="0" smtClean="0">
                <a:latin typeface="Consolas" pitchFamily="49" charset="0"/>
                <a:cs typeface="Consolas" pitchFamily="49" charset="0"/>
              </a:rPr>
              <a:t>READ    = GET</a:t>
            </a:r>
          </a:p>
          <a:p>
            <a:pPr marL="457200" indent="-457200"/>
            <a:r>
              <a:rPr lang="en-US" sz="2400" dirty="0" smtClean="0">
                <a:latin typeface="Consolas" pitchFamily="49" charset="0"/>
                <a:cs typeface="Consolas" pitchFamily="49" charset="0"/>
              </a:rPr>
              <a:t>UPDATE  = POST</a:t>
            </a:r>
          </a:p>
          <a:p>
            <a:pPr marL="457200" indent="-457200"/>
            <a:r>
              <a:rPr lang="en-US" sz="2400" dirty="0" smtClean="0">
                <a:latin typeface="Consolas" pitchFamily="49" charset="0"/>
                <a:cs typeface="Consolas" pitchFamily="49" charset="0"/>
              </a:rPr>
              <a:t>DELETE  = ?</a:t>
            </a:r>
            <a:endParaRPr lang="en-US" sz="2400" dirty="0" smtClean="0">
              <a:latin typeface="Consolas" pitchFamily="49" charset="0"/>
              <a:cs typeface="Consolas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000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uild="allAtOnce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6096000"/>
            <a:ext cx="9144000" cy="762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8600" y="6248400"/>
            <a:ext cx="1371600" cy="4103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TextBox 9"/>
          <p:cNvSpPr txBox="1"/>
          <p:nvPr/>
        </p:nvSpPr>
        <p:spPr>
          <a:xfrm>
            <a:off x="1905000" y="6324600"/>
            <a:ext cx="4648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solidFill>
                  <a:schemeClr val="bg1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Web Services Explained</a:t>
            </a:r>
            <a:endParaRPr lang="en-US" dirty="0">
              <a:solidFill>
                <a:schemeClr val="bg1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pic>
        <p:nvPicPr>
          <p:cNvPr id="1033" name="Picture 9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934202" y="6248400"/>
            <a:ext cx="1981195" cy="4312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8" name="TextBox 17"/>
          <p:cNvSpPr txBox="1"/>
          <p:nvPr/>
        </p:nvSpPr>
        <p:spPr>
          <a:xfrm>
            <a:off x="0" y="609600"/>
            <a:ext cx="9144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 smtClean="0"/>
              <a:t>Heading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381000" y="2133600"/>
            <a:ext cx="83058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914400" lvl="1" indent="-457200">
              <a:buFont typeface="Calibri" pitchFamily="34" charset="0"/>
              <a:buChar char="›"/>
            </a:pPr>
            <a:r>
              <a:rPr lang="en-US" sz="2400" dirty="0" smtClean="0"/>
              <a:t>text</a:t>
            </a:r>
            <a:endParaRPr lang="en-US" sz="2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669</TotalTime>
  <Words>1155</Words>
  <Application>Microsoft Office PowerPoint</Application>
  <PresentationFormat>On-screen Show (4:3)</PresentationFormat>
  <Paragraphs>357</Paragraphs>
  <Slides>27</Slides>
  <Notes>27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28" baseType="lpstr"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Aaron Evans</dc:creator>
  <cp:lastModifiedBy>Aaron Evans</cp:lastModifiedBy>
  <cp:revision>87</cp:revision>
  <dcterms:created xsi:type="dcterms:W3CDTF">2013-03-17T05:00:47Z</dcterms:created>
  <dcterms:modified xsi:type="dcterms:W3CDTF">2013-03-17T16:10:11Z</dcterms:modified>
</cp:coreProperties>
</file>
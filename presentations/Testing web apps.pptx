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7" r:id="rId2"/>
    <p:sldId id="258" r:id="rId3"/>
    <p:sldId id="259" r:id="rId4"/>
    <p:sldId id="263" r:id="rId5"/>
    <p:sldId id="268" r:id="rId6"/>
    <p:sldId id="260" r:id="rId7"/>
    <p:sldId id="261" r:id="rId8"/>
    <p:sldId id="280" r:id="rId9"/>
    <p:sldId id="278" r:id="rId10"/>
    <p:sldId id="264" r:id="rId11"/>
    <p:sldId id="262" r:id="rId12"/>
    <p:sldId id="265" r:id="rId13"/>
    <p:sldId id="266" r:id="rId14"/>
    <p:sldId id="267" r:id="rId15"/>
    <p:sldId id="282" r:id="rId16"/>
    <p:sldId id="284" r:id="rId17"/>
    <p:sldId id="283" r:id="rId18"/>
    <p:sldId id="269" r:id="rId19"/>
    <p:sldId id="270" r:id="rId20"/>
    <p:sldId id="271" r:id="rId21"/>
    <p:sldId id="272" r:id="rId22"/>
    <p:sldId id="274" r:id="rId23"/>
    <p:sldId id="275" r:id="rId24"/>
    <p:sldId id="276" r:id="rId25"/>
    <p:sldId id="277" r:id="rId26"/>
    <p:sldId id="279" r:id="rId27"/>
    <p:sldId id="281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3592" autoAdjust="0"/>
  </p:normalViewPr>
  <p:slideViewPr>
    <p:cSldViewPr>
      <p:cViewPr varScale="1">
        <p:scale>
          <a:sx n="54" d="100"/>
          <a:sy n="54" d="100"/>
        </p:scale>
        <p:origin x="-1824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12C2AF-FB53-4902-8686-E189B5D70A4D}" type="datetimeFigureOut">
              <a:rPr lang="en-US" smtClean="0"/>
              <a:pPr/>
              <a:t>3/12/2013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0A91D8-B09E-45D4-9BBC-197DC954088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15537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Chrome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CSS Tester</a:t>
            </a:r>
          </a:p>
          <a:p>
            <a:endParaRPr lang="en-US" sz="120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https://chrome.google.com/webstore/detail/css-tester/pjncppaiejjkcjlcgegcbmhgkflhenfp?hl=en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Turn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javascript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off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Submit without the browser using Fiddler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Craft your own form that posts to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same URL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Get, submit your own URL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cookie is a small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piece of data that the browser allows to be stored on the client.  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the only data (with a few exceptions) that the server can save to the clients computer and retrieve it.</a:t>
            </a:r>
          </a:p>
          <a:p>
            <a:endParaRPr lang="en-US" sz="120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Cookies are part of the sandbox security model of the browser.  There have been a few exploits related to cookies.</a:t>
            </a:r>
          </a:p>
          <a:p>
            <a:endParaRPr lang="en-US" sz="120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Cookies are designed to not be shared.  Only the host that set the cookie can retrieve it.</a:t>
            </a:r>
          </a:p>
          <a:p>
            <a:endParaRPr lang="en-US" sz="120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Although sites – especially advertisers – like Google and </a:t>
            </a:r>
            <a:r>
              <a:rPr lang="en-US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Facebook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can share your cookie information.  So any page with Google </a:t>
            </a:r>
            <a:r>
              <a:rPr lang="en-US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Adwords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 a </a:t>
            </a:r>
            <a:r>
              <a:rPr lang="en-US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Facebook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“like” button can be tracked by them and they can build a history of sites you visit.</a:t>
            </a:r>
          </a:p>
          <a:p>
            <a:endParaRPr lang="en-US" sz="120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cookie is basically a name and a value, with a few other attributes such as expiration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Google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Chrome, you can use the developer tools console to set a cookie:</a:t>
            </a:r>
          </a:p>
          <a:p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var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expDate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new Date();</a:t>
            </a:r>
          </a:p>
          <a:p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expDate.setDate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expDate.getDate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 + 1);</a:t>
            </a:r>
          </a:p>
          <a:p>
            <a:endParaRPr lang="en-US" sz="1200" b="0" i="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document.cookie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“key=value; Expires=“ + exp;</a:t>
            </a:r>
          </a:p>
          <a:p>
            <a:endParaRPr lang="en-US" sz="1200" b="0" i="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https://chrome.google.com/webstore/detail/chocochip-cookie-manager/cdllihdpcibkhhkidaicoeeiammjkokm/related?hl=en-US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dirty="0" smtClean="0"/>
              <a:t>Control Panel -&gt; Clock, Language and Region -&gt; Regional and Language Options -&gt; Administrative</a:t>
            </a:r>
            <a:r>
              <a:rPr lang="en-US" sz="1200" baseline="0" dirty="0" smtClean="0"/>
              <a:t> tab -&gt; Languages for non Unicode programs (System Locale) -&gt; Change System Locale (Restart)</a:t>
            </a:r>
            <a:endParaRPr lang="en-US" sz="1200" dirty="0" smtClean="0"/>
          </a:p>
          <a:p>
            <a:endParaRPr lang="en-US" sz="120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Open </a:t>
            </a:r>
            <a:r>
              <a:rPr lang="en-GB" sz="1200" b="1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Internet Explorer</a:t>
            </a:r>
            <a:r>
              <a:rPr lang="en-GB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GB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the </a:t>
            </a:r>
            <a:r>
              <a:rPr lang="en-GB" sz="1200" b="1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Tools </a:t>
            </a:r>
            <a:r>
              <a:rPr lang="en-GB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menu, choose</a:t>
            </a:r>
            <a:r>
              <a:rPr lang="en-GB" sz="1200" b="1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Internet Options</a:t>
            </a:r>
            <a:r>
              <a:rPr lang="en-GB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GB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Click the </a:t>
            </a:r>
            <a:r>
              <a:rPr lang="en-GB" sz="1200" b="1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</a:t>
            </a:r>
            <a:r>
              <a:rPr lang="en-GB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tab.</a:t>
            </a:r>
          </a:p>
          <a:p>
            <a:r>
              <a:rPr lang="en-GB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Click the </a:t>
            </a:r>
            <a:r>
              <a:rPr lang="en-GB" sz="1200" b="1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Internet</a:t>
            </a:r>
            <a:r>
              <a:rPr lang="en-GB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Web content zone icon.</a:t>
            </a:r>
          </a:p>
          <a:p>
            <a:r>
              <a:rPr lang="en-GB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Click the </a:t>
            </a:r>
            <a:r>
              <a:rPr lang="en-GB" sz="1200" b="1" i="0" u="none" strike="noStrike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</a:t>
            </a:r>
            <a:r>
              <a:rPr lang="en-GB" sz="1200" b="1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ustom Level...</a:t>
            </a:r>
            <a:r>
              <a:rPr lang="en-GB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button.</a:t>
            </a:r>
          </a:p>
          <a:p>
            <a:r>
              <a:rPr lang="en-GB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Scroll down to the </a:t>
            </a:r>
            <a:r>
              <a:rPr lang="en-GB" sz="1200" b="1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Miscellaneous</a:t>
            </a:r>
            <a:r>
              <a:rPr lang="en-GB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section.</a:t>
            </a:r>
            <a:r>
              <a:rPr lang="en-GB" sz="1200" b="1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r>
              <a:rPr lang="en-GB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Look for the </a:t>
            </a:r>
            <a:r>
              <a:rPr lang="en-GB" sz="1200" b="1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Display mixed content</a:t>
            </a:r>
            <a:r>
              <a:rPr lang="en-GB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setting.</a:t>
            </a:r>
          </a:p>
          <a:p>
            <a:r>
              <a:rPr lang="en-GB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 the </a:t>
            </a:r>
            <a:r>
              <a:rPr lang="en-GB" sz="1200" b="1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Display mixed content</a:t>
            </a:r>
            <a:r>
              <a:rPr lang="en-GB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setting to </a:t>
            </a:r>
            <a:r>
              <a:rPr lang="en-GB" sz="1200" b="1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Enable</a:t>
            </a:r>
            <a:r>
              <a:rPr lang="en-GB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GB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Click </a:t>
            </a:r>
            <a:r>
              <a:rPr lang="en-GB" sz="1200" b="1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OK</a:t>
            </a:r>
            <a:r>
              <a:rPr lang="en-GB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Click </a:t>
            </a:r>
            <a:r>
              <a:rPr lang="en-GB" sz="1200" b="1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Yes</a:t>
            </a:r>
            <a:r>
              <a:rPr lang="en-GB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GB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Click </a:t>
            </a:r>
            <a:r>
              <a:rPr lang="en-GB" sz="1200" b="1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OK </a:t>
            </a:r>
            <a:r>
              <a:rPr lang="en-GB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close the </a:t>
            </a:r>
            <a:r>
              <a:rPr lang="en-GB" sz="1200" b="1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Internet Options</a:t>
            </a:r>
            <a:r>
              <a:rPr lang="en-GB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dialog box.</a:t>
            </a:r>
          </a:p>
          <a:p>
            <a:r>
              <a:rPr lang="en-GB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Close </a:t>
            </a:r>
            <a:r>
              <a:rPr lang="en-GB" sz="1200" b="1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Internet Explorer</a:t>
            </a:r>
            <a:r>
              <a:rPr lang="en-GB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Re-open </a:t>
            </a:r>
            <a:r>
              <a:rPr lang="en-GB" sz="1200" b="1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Internet Explorer</a:t>
            </a:r>
            <a:r>
              <a:rPr lang="en-GB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and test.</a:t>
            </a:r>
          </a:p>
          <a:p>
            <a:endParaRPr lang="en-US" sz="120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SSH Tunnel</a:t>
            </a:r>
          </a:p>
          <a:p>
            <a:endParaRPr lang="en-US" sz="120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Section 508</a:t>
            </a:r>
          </a:p>
          <a:p>
            <a:endParaRPr lang="en-US" sz="120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best thing you can do is have hierarchical navigation</a:t>
            </a:r>
          </a:p>
          <a:p>
            <a:endParaRPr lang="en-US" sz="120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Sometimes you need to make a tradeoff</a:t>
            </a:r>
          </a:p>
          <a:p>
            <a:endParaRPr lang="en-US" sz="120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smtClean="0"/>
              <a:t>Firefox Accessibility </a:t>
            </a:r>
            <a:r>
              <a:rPr lang="en-US" sz="1200" dirty="0" err="1" smtClean="0"/>
              <a:t>Addon</a:t>
            </a:r>
            <a:endParaRPr lang="en-US" sz="120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smtClean="0"/>
              <a:t>WAVE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 smtClean="0"/>
              <a:t>WebXACT</a:t>
            </a:r>
            <a:endParaRPr lang="en-US" sz="1200" dirty="0" smtClean="0"/>
          </a:p>
          <a:p>
            <a:endParaRPr lang="en-US" sz="120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Monitoring I/O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Monitoring disk space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df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–h</a:t>
            </a:r>
          </a:p>
          <a:p>
            <a:endParaRPr lang="en-US" sz="120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F76D1-06A1-4878-995B-DD4F41EEDC53}" type="datetimeFigureOut">
              <a:rPr lang="en-US" smtClean="0"/>
              <a:pPr/>
              <a:t>3/12/2013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8E32E-B502-4D4E-9A85-885C141E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5077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F76D1-06A1-4878-995B-DD4F41EEDC53}" type="datetimeFigureOut">
              <a:rPr lang="en-US" smtClean="0"/>
              <a:pPr/>
              <a:t>3/12/2013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8E32E-B502-4D4E-9A85-885C141E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32050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F76D1-06A1-4878-995B-DD4F41EEDC53}" type="datetimeFigureOut">
              <a:rPr lang="en-US" smtClean="0"/>
              <a:pPr/>
              <a:t>3/12/2013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8E32E-B502-4D4E-9A85-885C141E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37565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F76D1-06A1-4878-995B-DD4F41EEDC53}" type="datetimeFigureOut">
              <a:rPr lang="en-US" smtClean="0"/>
              <a:pPr/>
              <a:t>3/12/2013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8E32E-B502-4D4E-9A85-885C141E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37350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F76D1-06A1-4878-995B-DD4F41EEDC53}" type="datetimeFigureOut">
              <a:rPr lang="en-US" smtClean="0"/>
              <a:pPr/>
              <a:t>3/12/2013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8E32E-B502-4D4E-9A85-885C141E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05800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F76D1-06A1-4878-995B-DD4F41EEDC53}" type="datetimeFigureOut">
              <a:rPr lang="en-US" smtClean="0"/>
              <a:pPr/>
              <a:t>3/12/2013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8E32E-B502-4D4E-9A85-885C141E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50464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F76D1-06A1-4878-995B-DD4F41EEDC53}" type="datetimeFigureOut">
              <a:rPr lang="en-US" smtClean="0"/>
              <a:pPr/>
              <a:t>3/12/2013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8E32E-B502-4D4E-9A85-885C141E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59274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F76D1-06A1-4878-995B-DD4F41EEDC53}" type="datetimeFigureOut">
              <a:rPr lang="en-US" smtClean="0"/>
              <a:pPr/>
              <a:t>3/12/2013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8E32E-B502-4D4E-9A85-885C141E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91993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F76D1-06A1-4878-995B-DD4F41EEDC53}" type="datetimeFigureOut">
              <a:rPr lang="en-US" smtClean="0"/>
              <a:pPr/>
              <a:t>3/12/2013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8E32E-B502-4D4E-9A85-885C141E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99637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F76D1-06A1-4878-995B-DD4F41EEDC53}" type="datetimeFigureOut">
              <a:rPr lang="en-US" smtClean="0"/>
              <a:pPr/>
              <a:t>3/12/2013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8E32E-B502-4D4E-9A85-885C141E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68407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F76D1-06A1-4878-995B-DD4F41EEDC53}" type="datetimeFigureOut">
              <a:rPr lang="en-US" smtClean="0"/>
              <a:pPr/>
              <a:t>3/12/2013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8E32E-B502-4D4E-9A85-885C141E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58810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F76D1-06A1-4878-995B-DD4F41EEDC53}" type="datetimeFigureOut">
              <a:rPr lang="en-US" smtClean="0"/>
              <a:pPr/>
              <a:t>3/12/2013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88E32E-B502-4D4E-9A85-885C141E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32702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s://chrome.google.com/webstore/detail/css-tester/pjncppaiejjkcjlcgegcbmhgkflhenfp?hl=en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htmlhelp.com/cgi-bin/csscheck.cgi" TargetMode="External"/><Relationship Id="rId5" Type="http://schemas.openxmlformats.org/officeDocument/2006/relationships/hyperlink" Target="http://jigsaw.w3.org/css-validator/" TargetMode="Externa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://wave.webaim.org/" TargetMode="Externa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21336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Testing Web Applications</a:t>
            </a:r>
          </a:p>
        </p:txBody>
      </p:sp>
    </p:spTree>
    <p:extLst>
      <p:ext uri="{BB962C8B-B14F-4D97-AF65-F5344CB8AC3E}">
        <p14:creationId xmlns:p14="http://schemas.microsoft.com/office/powerpoint/2010/main" xmlns="" val="2225840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7620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What’s in a web app?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602893"/>
            <a:ext cx="3810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u="sng" dirty="0" smtClean="0"/>
              <a:t>Client (Browser)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HTML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CSS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JavaScript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Cookies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Network </a:t>
            </a:r>
            <a:endParaRPr lang="en-US" sz="3600" dirty="0"/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Rendering</a:t>
            </a:r>
            <a:endParaRPr lang="en-US" sz="3600" dirty="0" smtClean="0"/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User interaction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4400" y="1602893"/>
            <a:ext cx="406630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u="sng" dirty="0" smtClean="0"/>
              <a:t>Server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Requests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Responses</a:t>
            </a:r>
          </a:p>
          <a:p>
            <a:pPr marL="914400" lvl="1" indent="-457200">
              <a:buFont typeface="Calibri" pitchFamily="34" charset="0"/>
              <a:buChar char="›"/>
            </a:pPr>
            <a:r>
              <a:rPr lang="en-US" sz="3200" dirty="0" smtClean="0"/>
              <a:t>Static </a:t>
            </a:r>
          </a:p>
          <a:p>
            <a:pPr marL="914400" lvl="1" indent="-457200">
              <a:buFont typeface="Calibri" pitchFamily="34" charset="0"/>
              <a:buChar char="›"/>
            </a:pPr>
            <a:r>
              <a:rPr lang="en-US" sz="3200" dirty="0" smtClean="0"/>
              <a:t>Dynamic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Resources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Connections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Sessions</a:t>
            </a:r>
          </a:p>
        </p:txBody>
      </p:sp>
    </p:spTree>
    <p:extLst>
      <p:ext uri="{BB962C8B-B14F-4D97-AF65-F5344CB8AC3E}">
        <p14:creationId xmlns:p14="http://schemas.microsoft.com/office/powerpoint/2010/main" xmlns="" val="3062231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7620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How can we test HTML?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1905000"/>
            <a:ext cx="868679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Rendering (how it looks)</a:t>
            </a:r>
          </a:p>
          <a:p>
            <a:r>
              <a:rPr lang="en-US" sz="3600" dirty="0" smtClean="0"/>
              <a:t>View Source</a:t>
            </a:r>
          </a:p>
          <a:p>
            <a:r>
              <a:rPr lang="en-US" sz="3600" dirty="0" smtClean="0"/>
              <a:t>HTML </a:t>
            </a:r>
            <a:r>
              <a:rPr lang="en-US" sz="3600" dirty="0" err="1" smtClean="0"/>
              <a:t>validator</a:t>
            </a:r>
            <a:endParaRPr lang="en-US" sz="3600" dirty="0" smtClean="0"/>
          </a:p>
          <a:p>
            <a:r>
              <a:rPr lang="en-US" sz="2400" dirty="0" smtClean="0"/>
              <a:t>	 http://validator.w3.org/</a:t>
            </a:r>
            <a:endParaRPr lang="en-US" sz="3600" dirty="0" smtClean="0"/>
          </a:p>
          <a:p>
            <a:r>
              <a:rPr lang="en-US" sz="3600" dirty="0" err="1" smtClean="0"/>
              <a:t>Plugins</a:t>
            </a:r>
            <a:endParaRPr lang="en-US" sz="3600" dirty="0" smtClean="0"/>
          </a:p>
          <a:p>
            <a:r>
              <a:rPr lang="en-US" sz="3600" dirty="0" smtClean="0"/>
              <a:t>Cross-Browser</a:t>
            </a:r>
          </a:p>
          <a:p>
            <a:r>
              <a:rPr lang="en-US" sz="3600" dirty="0" smtClean="0"/>
              <a:t>Media (screen, print, projection)</a:t>
            </a:r>
          </a:p>
        </p:txBody>
      </p:sp>
    </p:spTree>
    <p:extLst>
      <p:ext uri="{BB962C8B-B14F-4D97-AF65-F5344CB8AC3E}">
        <p14:creationId xmlns:p14="http://schemas.microsoft.com/office/powerpoint/2010/main" xmlns="" val="1271748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7620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Developer Tools</a:t>
            </a:r>
            <a:endParaRPr lang="en-US" sz="4800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3352800" y="1981200"/>
            <a:ext cx="2590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u="sng" dirty="0" smtClean="0"/>
              <a:t>Firefox</a:t>
            </a:r>
            <a:r>
              <a:rPr lang="en-US" sz="3600" dirty="0" smtClean="0"/>
              <a:t> Firebug </a:t>
            </a:r>
            <a:r>
              <a:rPr lang="en-US" sz="3600" dirty="0" smtClean="0"/>
              <a:t>(plugin</a:t>
            </a:r>
            <a:r>
              <a:rPr lang="en-US" sz="3600" dirty="0" smtClean="0"/>
              <a:t>)</a:t>
            </a:r>
            <a:endParaRPr lang="en-US" sz="3600" dirty="0" smtClean="0"/>
          </a:p>
        </p:txBody>
      </p:sp>
      <p:sp>
        <p:nvSpPr>
          <p:cNvPr id="9" name="TextBox 8"/>
          <p:cNvSpPr txBox="1"/>
          <p:nvPr/>
        </p:nvSpPr>
        <p:spPr>
          <a:xfrm>
            <a:off x="685800" y="1981200"/>
            <a:ext cx="2590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u="sng" dirty="0" smtClean="0"/>
              <a:t>Chrome</a:t>
            </a:r>
          </a:p>
          <a:p>
            <a:r>
              <a:rPr lang="en-US" sz="3600" dirty="0" smtClean="0"/>
              <a:t>Developer tools </a:t>
            </a:r>
          </a:p>
          <a:p>
            <a:endParaRPr lang="en-US" sz="3600" dirty="0" smtClean="0"/>
          </a:p>
          <a:p>
            <a:r>
              <a:rPr lang="en-US" sz="3600" dirty="0" smtClean="0"/>
              <a:t>Firebug </a:t>
            </a:r>
            <a:r>
              <a:rPr lang="en-US" sz="3600" dirty="0" err="1" smtClean="0"/>
              <a:t>Lite</a:t>
            </a:r>
            <a:endParaRPr lang="en-US" sz="3600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6019800" y="1981200"/>
            <a:ext cx="2590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u="sng" dirty="0" smtClean="0"/>
              <a:t>IE</a:t>
            </a:r>
          </a:p>
          <a:p>
            <a:r>
              <a:rPr lang="en-US" sz="3600" dirty="0" smtClean="0"/>
              <a:t>Developer tools</a:t>
            </a:r>
          </a:p>
          <a:p>
            <a:r>
              <a:rPr lang="en-US" sz="3600" dirty="0" smtClean="0"/>
              <a:t>(built in) </a:t>
            </a:r>
          </a:p>
          <a:p>
            <a:r>
              <a:rPr lang="en-US" sz="3600" dirty="0" smtClean="0"/>
              <a:t>F12</a:t>
            </a:r>
            <a:endParaRPr lang="en-US" sz="3600" dirty="0" smtClean="0"/>
          </a:p>
          <a:p>
            <a:pPr marL="914400" lvl="1" indent="-457200">
              <a:buFont typeface="Calibri" pitchFamily="34" charset="0"/>
              <a:buChar char="›"/>
            </a:pPr>
            <a:endParaRPr lang="en-US" sz="3600" dirty="0" smtClean="0"/>
          </a:p>
        </p:txBody>
      </p:sp>
    </p:spTree>
    <p:extLst>
      <p:ext uri="{BB962C8B-B14F-4D97-AF65-F5344CB8AC3E}">
        <p14:creationId xmlns:p14="http://schemas.microsoft.com/office/powerpoint/2010/main" xmlns="" val="535094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7620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Browser </a:t>
            </a:r>
            <a:r>
              <a:rPr lang="en-US" sz="4800" dirty="0" err="1" smtClean="0"/>
              <a:t>Plugins</a:t>
            </a:r>
            <a:endParaRPr lang="en-US" sz="4800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4800600" y="1981200"/>
            <a:ext cx="36576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u="sng" dirty="0" smtClean="0"/>
              <a:t>Firefox</a:t>
            </a:r>
            <a:r>
              <a:rPr lang="en-US" sz="3600" dirty="0" smtClean="0"/>
              <a:t> </a:t>
            </a:r>
          </a:p>
          <a:p>
            <a:r>
              <a:rPr lang="en-US" sz="3600" dirty="0" smtClean="0"/>
              <a:t>Firebug </a:t>
            </a:r>
          </a:p>
          <a:p>
            <a:r>
              <a:rPr lang="en-US" sz="3600" dirty="0" smtClean="0"/>
              <a:t>Poster</a:t>
            </a:r>
          </a:p>
          <a:p>
            <a:r>
              <a:rPr lang="en-US" sz="3600" dirty="0" smtClean="0"/>
              <a:t>Jiffy</a:t>
            </a:r>
          </a:p>
          <a:p>
            <a:r>
              <a:rPr lang="en-US" sz="3600" dirty="0" smtClean="0"/>
              <a:t>Screen Capture</a:t>
            </a:r>
          </a:p>
          <a:p>
            <a:r>
              <a:rPr lang="en-US" sz="3600" dirty="0" smtClean="0"/>
              <a:t>Pixel Perfect</a:t>
            </a:r>
          </a:p>
          <a:p>
            <a:r>
              <a:rPr lang="en-US" sz="3600" dirty="0" smtClean="0"/>
              <a:t>Web Developer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81200"/>
            <a:ext cx="35052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u="sng" dirty="0" smtClean="0"/>
              <a:t>Chrome</a:t>
            </a:r>
          </a:p>
          <a:p>
            <a:r>
              <a:rPr lang="en-US" sz="3600" dirty="0" smtClean="0"/>
              <a:t>Adv REST Client</a:t>
            </a:r>
            <a:endParaRPr lang="en-US" sz="3600" dirty="0" smtClean="0"/>
          </a:p>
          <a:p>
            <a:r>
              <a:rPr lang="en-US" sz="3600" dirty="0" smtClean="0"/>
              <a:t>Postman</a:t>
            </a:r>
          </a:p>
          <a:p>
            <a:r>
              <a:rPr lang="en-US" sz="3600" dirty="0" err="1" smtClean="0"/>
              <a:t>EditMyCookie</a:t>
            </a:r>
            <a:endParaRPr lang="en-US" sz="3600" dirty="0" smtClean="0"/>
          </a:p>
          <a:p>
            <a:r>
              <a:rPr lang="en-US" sz="3600" dirty="0" smtClean="0"/>
              <a:t>Screen capture</a:t>
            </a:r>
          </a:p>
          <a:p>
            <a:endParaRPr lang="en-US" sz="3600" dirty="0" smtClean="0"/>
          </a:p>
        </p:txBody>
      </p:sp>
    </p:spTree>
    <p:extLst>
      <p:ext uri="{BB962C8B-B14F-4D97-AF65-F5344CB8AC3E}">
        <p14:creationId xmlns:p14="http://schemas.microsoft.com/office/powerpoint/2010/main" xmlns="" val="535094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7620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How can we test CSS?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905000"/>
            <a:ext cx="8686797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Visually</a:t>
            </a:r>
          </a:p>
          <a:p>
            <a:r>
              <a:rPr lang="en-US" sz="3600" dirty="0" smtClean="0"/>
              <a:t>View Source	</a:t>
            </a:r>
          </a:p>
          <a:p>
            <a:r>
              <a:rPr lang="en-US" sz="3600" dirty="0" smtClean="0"/>
              <a:t>CSS </a:t>
            </a:r>
            <a:r>
              <a:rPr lang="en-US" sz="3600" dirty="0" err="1" smtClean="0"/>
              <a:t>validator</a:t>
            </a:r>
            <a:endParaRPr lang="en-US" sz="3600" dirty="0" smtClean="0"/>
          </a:p>
          <a:p>
            <a:r>
              <a:rPr lang="en-US" sz="3600" dirty="0" smtClean="0"/>
              <a:t>	 </a:t>
            </a:r>
            <a:r>
              <a:rPr lang="en-US" sz="2400" dirty="0" smtClean="0">
                <a:hlinkClick r:id="rId5"/>
              </a:rPr>
              <a:t>http://jigsaw.w3.org/css-validator/</a:t>
            </a:r>
            <a:endParaRPr lang="en-US" sz="2400" dirty="0" smtClean="0"/>
          </a:p>
          <a:p>
            <a:r>
              <a:rPr lang="en-US" sz="2400" dirty="0" smtClean="0"/>
              <a:t>	</a:t>
            </a:r>
            <a:r>
              <a:rPr lang="en-US" sz="2400" dirty="0" smtClean="0">
                <a:hlinkClick r:id="rId6"/>
              </a:rPr>
              <a:t>http://www.htmlhelp.com/cgi-bin/csscheck.cgi</a:t>
            </a:r>
            <a:endParaRPr lang="en-US" sz="2400" dirty="0" smtClean="0"/>
          </a:p>
          <a:p>
            <a:r>
              <a:rPr lang="en-US" sz="3600" dirty="0" smtClean="0"/>
              <a:t>CSS Tester plugin </a:t>
            </a:r>
            <a:r>
              <a:rPr lang="en-US" sz="2400" dirty="0" smtClean="0">
                <a:hlinkClick r:id="rId7"/>
              </a:rPr>
              <a:t>https://chrome.google.com/webstore/detail/css-tester/pjncppaiejjkcjlcgegcbmhgkflhenfp?hl=en</a:t>
            </a:r>
            <a:endParaRPr lang="en-US" sz="2400" dirty="0" smtClean="0"/>
          </a:p>
          <a:p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xmlns="" val="1710283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7620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How can we test JavaScript?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81534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Manually verify behavior</a:t>
            </a:r>
          </a:p>
          <a:p>
            <a:r>
              <a:rPr lang="en-US" sz="3600" dirty="0" smtClean="0"/>
              <a:t>Cross Browser</a:t>
            </a:r>
            <a:endParaRPr lang="en-US" sz="3600" dirty="0" smtClean="0"/>
          </a:p>
          <a:p>
            <a:r>
              <a:rPr lang="en-US" sz="3600" dirty="0" smtClean="0"/>
              <a:t>Automation</a:t>
            </a:r>
          </a:p>
          <a:p>
            <a:r>
              <a:rPr lang="en-US" sz="2400" dirty="0" smtClean="0"/>
              <a:t>	</a:t>
            </a:r>
            <a:r>
              <a:rPr lang="en-US" sz="2400" dirty="0" smtClean="0"/>
              <a:t>Selenium/</a:t>
            </a:r>
            <a:r>
              <a:rPr lang="en-US" sz="2400" dirty="0" err="1" smtClean="0"/>
              <a:t>Watir</a:t>
            </a:r>
            <a:endParaRPr lang="en-US" sz="2400" dirty="0" smtClean="0"/>
          </a:p>
          <a:p>
            <a:r>
              <a:rPr lang="en-US" sz="3600" dirty="0" smtClean="0"/>
              <a:t>Unit Testing</a:t>
            </a:r>
          </a:p>
          <a:p>
            <a:r>
              <a:rPr lang="en-US" sz="2400" dirty="0" smtClean="0"/>
              <a:t>	</a:t>
            </a:r>
            <a:r>
              <a:rPr lang="en-US" sz="2400" dirty="0" err="1" smtClean="0"/>
              <a:t>Qunit</a:t>
            </a:r>
            <a:r>
              <a:rPr lang="en-US" sz="2400" dirty="0" smtClean="0"/>
              <a:t>/Pavlov</a:t>
            </a:r>
          </a:p>
        </p:txBody>
      </p:sp>
    </p:spTree>
    <p:extLst>
      <p:ext uri="{BB962C8B-B14F-4D97-AF65-F5344CB8AC3E}">
        <p14:creationId xmlns:p14="http://schemas.microsoft.com/office/powerpoint/2010/main" xmlns="" val="1710283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7620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Testing AJAX</a:t>
            </a:r>
            <a:endParaRPr lang="en-US" sz="4800" dirty="0" smtClean="0"/>
          </a:p>
        </p:txBody>
      </p:sp>
      <p:sp>
        <p:nvSpPr>
          <p:cNvPr id="9" name="Rectangle 8"/>
          <p:cNvSpPr/>
          <p:nvPr/>
        </p:nvSpPr>
        <p:spPr>
          <a:xfrm>
            <a:off x="4453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381000" y="1600200"/>
            <a:ext cx="83058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Mock the server</a:t>
            </a:r>
          </a:p>
          <a:p>
            <a:pPr marL="914400" lvl="1" indent="-457200">
              <a:buFont typeface="Calibri" pitchFamily="34" charset="0"/>
              <a:buChar char="›"/>
            </a:pPr>
            <a:r>
              <a:rPr lang="en-US" sz="3600" dirty="0" smtClean="0"/>
              <a:t>Static responses</a:t>
            </a:r>
          </a:p>
          <a:p>
            <a:pPr marL="914400" lvl="1" indent="-457200">
              <a:buFont typeface="Calibri" pitchFamily="34" charset="0"/>
              <a:buChar char="›"/>
            </a:pPr>
            <a:r>
              <a:rPr lang="en-US" sz="3600" dirty="0" smtClean="0"/>
              <a:t>Proxy server</a:t>
            </a:r>
          </a:p>
          <a:p>
            <a:pPr marL="914400" lvl="1" indent="-457200">
              <a:buFont typeface="Calibri" pitchFamily="34" charset="0"/>
              <a:buChar char="›"/>
            </a:pPr>
            <a:r>
              <a:rPr lang="en-US" sz="3600" dirty="0" smtClean="0"/>
              <a:t>Inject with Firebug</a:t>
            </a:r>
          </a:p>
          <a:p>
            <a:r>
              <a:rPr lang="en-US" sz="3600" dirty="0" smtClean="0"/>
              <a:t>Mock the client</a:t>
            </a:r>
            <a:endParaRPr lang="en-US" sz="3600" dirty="0" smtClean="0"/>
          </a:p>
          <a:p>
            <a:pPr marL="914400" lvl="1" indent="-457200">
              <a:buFont typeface="Calibri" pitchFamily="34" charset="0"/>
              <a:buChar char="›"/>
            </a:pPr>
            <a:r>
              <a:rPr lang="en-US" sz="3600" dirty="0" smtClean="0"/>
              <a:t>Use Fiddler</a:t>
            </a:r>
          </a:p>
          <a:p>
            <a:pPr marL="914400" lvl="1" indent="-457200">
              <a:buFont typeface="Calibri" pitchFamily="34" charset="0"/>
              <a:buChar char="›"/>
            </a:pPr>
            <a:r>
              <a:rPr lang="en-US" sz="3600" dirty="0" smtClean="0"/>
              <a:t>With code</a:t>
            </a:r>
          </a:p>
          <a:p>
            <a:pPr marL="914400" lvl="1" indent="-457200">
              <a:buFont typeface="Calibri" pitchFamily="34" charset="0"/>
              <a:buChar char="›"/>
            </a:pPr>
            <a:r>
              <a:rPr lang="en-US" sz="3600" dirty="0" smtClean="0"/>
              <a:t>Simplified app</a:t>
            </a:r>
            <a:endParaRPr lang="en-US" sz="4800" dirty="0" smtClean="0"/>
          </a:p>
        </p:txBody>
      </p:sp>
    </p:spTree>
    <p:extLst>
      <p:ext uri="{BB962C8B-B14F-4D97-AF65-F5344CB8AC3E}">
        <p14:creationId xmlns:p14="http://schemas.microsoft.com/office/powerpoint/2010/main" xmlns="" val="535094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7620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Testing Forms</a:t>
            </a:r>
            <a:endParaRPr lang="en-US" sz="48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81534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Field validation</a:t>
            </a:r>
          </a:p>
          <a:p>
            <a:r>
              <a:rPr lang="en-US" sz="2400" dirty="0" smtClean="0"/>
              <a:t>	Size, min/max length</a:t>
            </a:r>
          </a:p>
          <a:p>
            <a:r>
              <a:rPr lang="en-US" sz="2400" dirty="0" smtClean="0"/>
              <a:t>	Required fields</a:t>
            </a:r>
          </a:p>
          <a:p>
            <a:r>
              <a:rPr lang="en-US" sz="2400" dirty="0" smtClean="0"/>
              <a:t>	</a:t>
            </a:r>
            <a:r>
              <a:rPr lang="en-US" sz="2400" dirty="0" smtClean="0"/>
              <a:t>Matchers</a:t>
            </a:r>
          </a:p>
          <a:p>
            <a:r>
              <a:rPr lang="en-US" sz="2400" dirty="0" smtClean="0"/>
              <a:t>	</a:t>
            </a:r>
            <a:r>
              <a:rPr lang="en-US" sz="2400" dirty="0" smtClean="0"/>
              <a:t>Select/Options</a:t>
            </a:r>
          </a:p>
          <a:p>
            <a:endParaRPr lang="en-US" sz="2400" dirty="0" smtClean="0"/>
          </a:p>
          <a:p>
            <a:r>
              <a:rPr lang="en-US" sz="3600" dirty="0" smtClean="0"/>
              <a:t>Getting around client validation</a:t>
            </a:r>
          </a:p>
          <a:p>
            <a:pPr lvl="1"/>
            <a:r>
              <a:rPr lang="en-US" sz="2400" dirty="0" smtClean="0"/>
              <a:t>Turn </a:t>
            </a:r>
            <a:r>
              <a:rPr lang="en-US" sz="2400" dirty="0" smtClean="0"/>
              <a:t>JavaScript off</a:t>
            </a:r>
            <a:endParaRPr lang="en-US" sz="2400" dirty="0" smtClean="0"/>
          </a:p>
          <a:p>
            <a:pPr lvl="1"/>
            <a:r>
              <a:rPr lang="en-US" sz="2400" dirty="0" smtClean="0"/>
              <a:t>Write </a:t>
            </a:r>
            <a:r>
              <a:rPr lang="en-US" sz="2400" dirty="0" smtClean="0"/>
              <a:t>your own form that posts to the </a:t>
            </a:r>
            <a:r>
              <a:rPr lang="en-US" sz="2400" dirty="0" smtClean="0"/>
              <a:t>same URL</a:t>
            </a:r>
          </a:p>
          <a:p>
            <a:pPr lvl="1"/>
            <a:r>
              <a:rPr lang="en-US" sz="2400" dirty="0" smtClean="0"/>
              <a:t>If GET, craft your own URL</a:t>
            </a:r>
          </a:p>
          <a:p>
            <a:pPr lvl="1"/>
            <a:r>
              <a:rPr lang="en-US" sz="2400" dirty="0" smtClean="0"/>
              <a:t>Submit without the browser - using </a:t>
            </a:r>
            <a:r>
              <a:rPr lang="en-US" sz="2400" dirty="0" smtClean="0"/>
              <a:t>Fiddler</a:t>
            </a:r>
            <a:endParaRPr lang="en-US" sz="3600" dirty="0" smtClean="0"/>
          </a:p>
        </p:txBody>
      </p:sp>
    </p:spTree>
    <p:extLst>
      <p:ext uri="{BB962C8B-B14F-4D97-AF65-F5344CB8AC3E}">
        <p14:creationId xmlns:p14="http://schemas.microsoft.com/office/powerpoint/2010/main" xmlns="" val="1710283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7620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Cookies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52600"/>
            <a:ext cx="21336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Name </a:t>
            </a:r>
          </a:p>
          <a:p>
            <a:r>
              <a:rPr lang="en-US" sz="2400" dirty="0" smtClean="0"/>
              <a:t>Value </a:t>
            </a:r>
          </a:p>
          <a:p>
            <a:r>
              <a:rPr lang="en-US" sz="2400" dirty="0" smtClean="0"/>
              <a:t>Domain</a:t>
            </a:r>
          </a:p>
          <a:p>
            <a:r>
              <a:rPr lang="en-US" sz="2400" dirty="0" smtClean="0"/>
              <a:t>Path </a:t>
            </a:r>
          </a:p>
          <a:p>
            <a:r>
              <a:rPr lang="en-US" sz="2400" dirty="0" smtClean="0"/>
              <a:t>Expires </a:t>
            </a:r>
          </a:p>
          <a:p>
            <a:r>
              <a:rPr lang="en-US" sz="2400" dirty="0" smtClean="0"/>
              <a:t>Secure</a:t>
            </a:r>
          </a:p>
          <a:p>
            <a:r>
              <a:rPr lang="en-US" sz="2400" dirty="0" err="1" smtClean="0"/>
              <a:t>HttpOnly</a:t>
            </a:r>
            <a:endParaRPr lang="en-US" sz="4800" dirty="0" smtClean="0"/>
          </a:p>
        </p:txBody>
      </p:sp>
      <p:sp>
        <p:nvSpPr>
          <p:cNvPr id="12" name="TextBox 11"/>
          <p:cNvSpPr txBox="1"/>
          <p:nvPr/>
        </p:nvSpPr>
        <p:spPr>
          <a:xfrm>
            <a:off x="457200" y="4419600"/>
            <a:ext cx="8458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Set-Cookie: user=Aaron; Domain=one-shore.com; Expires=</a:t>
            </a:r>
            <a:r>
              <a:rPr lang="fi-FI" sz="3200" dirty="0" smtClean="0"/>
              <a:t> Mon Mar 17 2014 18:42:17 GMT-0600; </a:t>
            </a:r>
            <a:r>
              <a:rPr lang="en-US" sz="3200" dirty="0" smtClean="0"/>
              <a:t>Path=/; </a:t>
            </a:r>
            <a:r>
              <a:rPr lang="fi-FI" sz="3200" dirty="0" smtClean="0"/>
              <a:t>Secure; HttpOnly</a:t>
            </a:r>
            <a:endParaRPr lang="en-US" sz="3200" dirty="0" smtClean="0"/>
          </a:p>
        </p:txBody>
      </p:sp>
      <p:pic>
        <p:nvPicPr>
          <p:cNvPr id="13" name="Picture 12" descr="cookie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971800" y="1600200"/>
            <a:ext cx="2816087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535094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allAtOnce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7620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Testing cookies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602893"/>
            <a:ext cx="7772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Verify behavior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View cookies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Intercept traffic (</a:t>
            </a:r>
            <a:r>
              <a:rPr lang="en-US" sz="3600" dirty="0" err="1" smtClean="0"/>
              <a:t>Wireshark</a:t>
            </a:r>
            <a:r>
              <a:rPr lang="en-US" sz="3600" dirty="0" smtClean="0"/>
              <a:t> or Fiddler)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Browser plugin</a:t>
            </a:r>
          </a:p>
          <a:p>
            <a:pPr marL="914400" lvl="1" indent="-457200">
              <a:buFont typeface="Calibri" pitchFamily="34" charset="0"/>
              <a:buChar char="›"/>
            </a:pPr>
            <a:r>
              <a:rPr lang="en-US" sz="3600" dirty="0" smtClean="0"/>
              <a:t>Chrome: edit this cookie	</a:t>
            </a:r>
          </a:p>
          <a:p>
            <a:pPr marL="914400" lvl="1" indent="-457200">
              <a:buFont typeface="Calibri" pitchFamily="34" charset="0"/>
              <a:buChar char="›"/>
            </a:pPr>
            <a:endParaRPr lang="en-US" sz="3600" dirty="0" smtClean="0"/>
          </a:p>
        </p:txBody>
      </p:sp>
    </p:spTree>
    <p:extLst>
      <p:ext uri="{BB962C8B-B14F-4D97-AF65-F5344CB8AC3E}">
        <p14:creationId xmlns:p14="http://schemas.microsoft.com/office/powerpoint/2010/main" xmlns="" val="32028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7620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Clearing Cookies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3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35094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7620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Setting Cookies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602893"/>
            <a:ext cx="77724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From the console</a:t>
            </a:r>
          </a:p>
          <a:p>
            <a:endParaRPr lang="en-US" sz="3600" dirty="0" smtClean="0"/>
          </a:p>
          <a:p>
            <a:r>
              <a:rPr lang="en-US" sz="3600" dirty="0" smtClean="0"/>
              <a:t>From a browser plugin</a:t>
            </a:r>
          </a:p>
          <a:p>
            <a:r>
              <a:rPr lang="en-US" sz="3600" dirty="0" smtClean="0"/>
              <a:t>	</a:t>
            </a:r>
            <a:r>
              <a:rPr lang="en-US" sz="2400" dirty="0" smtClean="0"/>
              <a:t>Chrome: </a:t>
            </a:r>
          </a:p>
          <a:p>
            <a:r>
              <a:rPr lang="en-US" sz="2400" dirty="0" smtClean="0"/>
              <a:t>		Edit This Cookie </a:t>
            </a:r>
            <a:br>
              <a:rPr lang="en-US" sz="2400" dirty="0" smtClean="0"/>
            </a:br>
            <a:r>
              <a:rPr lang="en-US" sz="2400" dirty="0" smtClean="0"/>
              <a:t>		</a:t>
            </a:r>
            <a:r>
              <a:rPr lang="en-US" sz="2400" dirty="0" err="1" smtClean="0"/>
              <a:t>ChocoChip</a:t>
            </a:r>
            <a:r>
              <a:rPr lang="en-US" sz="2400" dirty="0" smtClean="0"/>
              <a:t> - Cookie Manager</a:t>
            </a:r>
          </a:p>
          <a:p>
            <a:endParaRPr lang="en-US" sz="2400" dirty="0" smtClean="0"/>
          </a:p>
          <a:p>
            <a:endParaRPr lang="en-US" sz="3600" dirty="0" smtClean="0"/>
          </a:p>
          <a:p>
            <a:pPr marL="914400" lvl="1" indent="-457200">
              <a:buFont typeface="Calibri" pitchFamily="34" charset="0"/>
              <a:buChar char="›"/>
            </a:pPr>
            <a:endParaRPr lang="en-US" sz="3600" dirty="0" smtClean="0"/>
          </a:p>
        </p:txBody>
      </p:sp>
    </p:spTree>
    <p:extLst>
      <p:ext uri="{BB962C8B-B14F-4D97-AF65-F5344CB8AC3E}">
        <p14:creationId xmlns:p14="http://schemas.microsoft.com/office/powerpoint/2010/main" xmlns="" val="535094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7620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Testing the locale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3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33400" y="1828799"/>
            <a:ext cx="777240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Change locale in Control Panel</a:t>
            </a:r>
          </a:p>
          <a:p>
            <a:r>
              <a:rPr lang="en-US" sz="3600" dirty="0" smtClean="0"/>
              <a:t>Change HTTP Header</a:t>
            </a:r>
          </a:p>
          <a:p>
            <a:r>
              <a:rPr lang="en-US" sz="2400" dirty="0" smtClean="0"/>
              <a:t>	Accept-language: </a:t>
            </a:r>
            <a:r>
              <a:rPr lang="en-US" sz="2400" dirty="0" err="1" smtClean="0"/>
              <a:t>en_US</a:t>
            </a:r>
            <a:r>
              <a:rPr lang="en-US" sz="2400" dirty="0" smtClean="0"/>
              <a:t>; q=-0.5</a:t>
            </a:r>
          </a:p>
          <a:p>
            <a:r>
              <a:rPr lang="en-US" sz="3600" dirty="0" smtClean="0"/>
              <a:t>Browser settings</a:t>
            </a:r>
          </a:p>
          <a:p>
            <a:r>
              <a:rPr lang="en-US" sz="3600" dirty="0" smtClean="0"/>
              <a:t>	</a:t>
            </a:r>
            <a:r>
              <a:rPr lang="en-US" sz="2400" dirty="0" smtClean="0"/>
              <a:t>IE Settings</a:t>
            </a:r>
          </a:p>
          <a:p>
            <a:r>
              <a:rPr lang="en-US" sz="2400" dirty="0" smtClean="0"/>
              <a:t>	chrome://settings/languages</a:t>
            </a:r>
          </a:p>
          <a:p>
            <a:r>
              <a:rPr lang="en-US" sz="3600" smtClean="0"/>
              <a:t>Browser Plugin</a:t>
            </a:r>
            <a:endParaRPr lang="en-US" sz="3600" dirty="0" smtClean="0"/>
          </a:p>
        </p:txBody>
      </p:sp>
    </p:spTree>
    <p:extLst>
      <p:ext uri="{BB962C8B-B14F-4D97-AF65-F5344CB8AC3E}">
        <p14:creationId xmlns:p14="http://schemas.microsoft.com/office/powerpoint/2010/main" xmlns="" val="535094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7620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HTTPS</a:t>
            </a:r>
            <a:endParaRPr lang="en-US" sz="4800" dirty="0" smtClean="0"/>
          </a:p>
        </p:txBody>
      </p:sp>
      <p:sp>
        <p:nvSpPr>
          <p:cNvPr id="9" name="Rectangle 8"/>
          <p:cNvSpPr/>
          <p:nvPr/>
        </p:nvSpPr>
        <p:spPr>
          <a:xfrm>
            <a:off x="4453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75438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Secure Socket Layer</a:t>
            </a:r>
          </a:p>
          <a:p>
            <a:r>
              <a:rPr lang="en-US" sz="3600" dirty="0" smtClean="0"/>
              <a:t>SSL Certificates</a:t>
            </a:r>
          </a:p>
          <a:p>
            <a:r>
              <a:rPr lang="en-US" sz="3600" dirty="0" smtClean="0"/>
              <a:t>Accepting Certificates</a:t>
            </a:r>
          </a:p>
          <a:p>
            <a:endParaRPr lang="en-GB" sz="3600" dirty="0" smtClean="0"/>
          </a:p>
          <a:p>
            <a:r>
              <a:rPr lang="en-GB" sz="2400" dirty="0" smtClean="0"/>
              <a:t>“This </a:t>
            </a:r>
            <a:r>
              <a:rPr lang="en-GB" sz="2400" dirty="0" smtClean="0"/>
              <a:t>page contains </a:t>
            </a:r>
            <a:r>
              <a:rPr lang="en-GB" sz="2400" dirty="0" smtClean="0"/>
              <a:t>both secure </a:t>
            </a:r>
            <a:r>
              <a:rPr lang="en-GB" sz="2400" dirty="0" smtClean="0"/>
              <a:t>and </a:t>
            </a:r>
            <a:r>
              <a:rPr lang="en-GB" sz="2400" dirty="0" err="1" smtClean="0"/>
              <a:t>nonsecure</a:t>
            </a:r>
            <a:r>
              <a:rPr lang="en-GB" sz="2400" dirty="0" smtClean="0"/>
              <a:t> </a:t>
            </a:r>
            <a:r>
              <a:rPr lang="en-GB" sz="2400" dirty="0" smtClean="0"/>
              <a:t>items”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535094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7620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Restricting Access</a:t>
            </a:r>
            <a:endParaRPr lang="en-US" sz="4800" dirty="0" smtClean="0"/>
          </a:p>
        </p:txBody>
      </p:sp>
      <p:sp>
        <p:nvSpPr>
          <p:cNvPr id="9" name="Rectangle 8"/>
          <p:cNvSpPr/>
          <p:nvPr/>
        </p:nvSpPr>
        <p:spPr>
          <a:xfrm>
            <a:off x="4453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09600" y="1828800"/>
            <a:ext cx="8001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By IP/Hostname</a:t>
            </a:r>
          </a:p>
          <a:p>
            <a:r>
              <a:rPr lang="en-US" sz="3600" dirty="0" smtClean="0"/>
              <a:t>By Username/Password</a:t>
            </a:r>
          </a:p>
          <a:p>
            <a:r>
              <a:rPr lang="en-US" sz="3600" dirty="0" smtClean="0"/>
              <a:t>By Token</a:t>
            </a:r>
          </a:p>
          <a:p>
            <a:r>
              <a:rPr lang="en-US" sz="3600" dirty="0" smtClean="0"/>
              <a:t>By Public Key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xmlns="" val="535094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7620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Basic Authentication</a:t>
            </a:r>
            <a:endParaRPr lang="en-US" sz="4800" dirty="0" smtClean="0"/>
          </a:p>
        </p:txBody>
      </p:sp>
      <p:sp>
        <p:nvSpPr>
          <p:cNvPr id="9" name="Rectangle 8"/>
          <p:cNvSpPr/>
          <p:nvPr/>
        </p:nvSpPr>
        <p:spPr>
          <a:xfrm>
            <a:off x="4453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09600" y="1981200"/>
            <a:ext cx="8001000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/>
              <a:t>WWW-Authenticate</a:t>
            </a:r>
            <a:r>
              <a:rPr lang="en-GB" sz="2400" dirty="0" smtClean="0"/>
              <a:t>: Basic realm</a:t>
            </a:r>
            <a:r>
              <a:rPr lang="en-GB" sz="2400" dirty="0" smtClean="0"/>
              <a:t>=“</a:t>
            </a:r>
            <a:r>
              <a:rPr lang="en-GB" sz="2400" i="1" dirty="0" smtClean="0"/>
              <a:t>my site</a:t>
            </a:r>
            <a:r>
              <a:rPr lang="en-GB" sz="2400" dirty="0" smtClean="0"/>
              <a:t>" </a:t>
            </a:r>
          </a:p>
          <a:p>
            <a:r>
              <a:rPr lang="en-US" sz="2400" dirty="0" smtClean="0"/>
              <a:t>Authorization: Basic QWxhZGRpbjpvcGVuIHNlc2FtZQ</a:t>
            </a:r>
            <a:r>
              <a:rPr lang="en-US" sz="2400" dirty="0" smtClean="0"/>
              <a:t>==</a:t>
            </a:r>
          </a:p>
          <a:p>
            <a:endParaRPr lang="en-US" sz="3200" dirty="0" smtClean="0"/>
          </a:p>
          <a:p>
            <a:r>
              <a:rPr lang="en-US" sz="3200" dirty="0" smtClean="0"/>
              <a:t>Base 64 encode </a:t>
            </a:r>
            <a:r>
              <a:rPr lang="en-US" sz="3200" dirty="0" err="1" smtClean="0"/>
              <a:t>username:password</a:t>
            </a:r>
            <a:endParaRPr lang="en-US" sz="3200" dirty="0" smtClean="0"/>
          </a:p>
          <a:p>
            <a:endParaRPr lang="en-US" sz="2400" dirty="0" smtClean="0"/>
          </a:p>
          <a:p>
            <a:r>
              <a:rPr lang="en-US" sz="3600" dirty="0" smtClean="0"/>
              <a:t>Digest Authentication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xmlns="" val="535094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7620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Cross Browser Testing</a:t>
            </a:r>
            <a:endParaRPr lang="en-US" sz="4800" dirty="0" smtClean="0"/>
          </a:p>
        </p:txBody>
      </p:sp>
      <p:sp>
        <p:nvSpPr>
          <p:cNvPr id="9" name="Rectangle 8"/>
          <p:cNvSpPr/>
          <p:nvPr/>
        </p:nvSpPr>
        <p:spPr>
          <a:xfrm>
            <a:off x="4453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33400" y="1828799"/>
            <a:ext cx="7772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Chrome</a:t>
            </a:r>
            <a:br>
              <a:rPr lang="en-US" sz="3600" dirty="0" smtClean="0"/>
            </a:br>
            <a:r>
              <a:rPr lang="en-US" sz="3600" dirty="0" smtClean="0"/>
              <a:t>Firefox</a:t>
            </a:r>
          </a:p>
          <a:p>
            <a:r>
              <a:rPr lang="en-US" sz="3600" dirty="0" smtClean="0"/>
              <a:t>Internet Explorer </a:t>
            </a:r>
          </a:p>
          <a:p>
            <a:r>
              <a:rPr lang="en-US" sz="3600" dirty="0" smtClean="0"/>
              <a:t>				6, 7, 8, 9, 10?</a:t>
            </a:r>
          </a:p>
          <a:p>
            <a:r>
              <a:rPr lang="en-US" sz="3600" dirty="0" smtClean="0"/>
              <a:t>Safari</a:t>
            </a:r>
            <a:endParaRPr lang="en-US" sz="3600" dirty="0" smtClean="0"/>
          </a:p>
          <a:p>
            <a:r>
              <a:rPr lang="en-US" sz="3600" dirty="0" smtClean="0"/>
              <a:t>Opera</a:t>
            </a:r>
          </a:p>
        </p:txBody>
      </p:sp>
    </p:spTree>
    <p:extLst>
      <p:ext uri="{BB962C8B-B14F-4D97-AF65-F5344CB8AC3E}">
        <p14:creationId xmlns:p14="http://schemas.microsoft.com/office/powerpoint/2010/main" xmlns="" val="535094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7620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Operating Systems</a:t>
            </a:r>
            <a:endParaRPr lang="en-US" sz="4800" dirty="0" smtClean="0"/>
          </a:p>
        </p:txBody>
      </p:sp>
      <p:sp>
        <p:nvSpPr>
          <p:cNvPr id="9" name="Rectangle 8"/>
          <p:cNvSpPr/>
          <p:nvPr/>
        </p:nvSpPr>
        <p:spPr>
          <a:xfrm>
            <a:off x="4453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33400" y="1828799"/>
            <a:ext cx="77724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Windows</a:t>
            </a:r>
          </a:p>
          <a:p>
            <a:r>
              <a:rPr lang="en-US" sz="3600" dirty="0" smtClean="0"/>
              <a:t>	</a:t>
            </a:r>
            <a:r>
              <a:rPr lang="en-US" sz="3600" dirty="0" smtClean="0"/>
              <a:t>	XP, Vista, 7, 8</a:t>
            </a:r>
          </a:p>
          <a:p>
            <a:r>
              <a:rPr lang="en-US" sz="3600" dirty="0" smtClean="0"/>
              <a:t>Mac</a:t>
            </a:r>
          </a:p>
          <a:p>
            <a:r>
              <a:rPr lang="en-US" sz="3600" dirty="0" smtClean="0"/>
              <a:t>Linux</a:t>
            </a:r>
          </a:p>
          <a:p>
            <a:r>
              <a:rPr lang="en-US" sz="3600" dirty="0" smtClean="0"/>
              <a:t>Mobile</a:t>
            </a:r>
          </a:p>
          <a:p>
            <a:r>
              <a:rPr lang="en-US" sz="3600" dirty="0" smtClean="0"/>
              <a:t>	IOS, Android, Blackberry</a:t>
            </a:r>
          </a:p>
          <a:p>
            <a:r>
              <a:rPr lang="en-US" sz="3600" dirty="0" smtClean="0"/>
              <a:t>Tablets</a:t>
            </a:r>
          </a:p>
        </p:txBody>
      </p:sp>
    </p:spTree>
    <p:extLst>
      <p:ext uri="{BB962C8B-B14F-4D97-AF65-F5344CB8AC3E}">
        <p14:creationId xmlns:p14="http://schemas.microsoft.com/office/powerpoint/2010/main" xmlns="" val="535094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7620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Screen resolution</a:t>
            </a:r>
            <a:endParaRPr lang="en-US" sz="4800" dirty="0" smtClean="0"/>
          </a:p>
        </p:txBody>
      </p:sp>
      <p:sp>
        <p:nvSpPr>
          <p:cNvPr id="9" name="Rectangle 8"/>
          <p:cNvSpPr/>
          <p:nvPr/>
        </p:nvSpPr>
        <p:spPr>
          <a:xfrm>
            <a:off x="4453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33400" y="1600200"/>
            <a:ext cx="77724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800x600, 1024x768</a:t>
            </a:r>
          </a:p>
          <a:p>
            <a:r>
              <a:rPr lang="en-US" sz="3600" dirty="0" smtClean="0"/>
              <a:t>Resize </a:t>
            </a:r>
            <a:r>
              <a:rPr lang="en-US" sz="3600" dirty="0" smtClean="0"/>
              <a:t>Windows</a:t>
            </a:r>
          </a:p>
          <a:p>
            <a:r>
              <a:rPr lang="en-US" sz="3600" dirty="0" smtClean="0"/>
              <a:t>Scrollbars</a:t>
            </a:r>
            <a:endParaRPr lang="en-US" sz="3600" dirty="0" smtClean="0"/>
          </a:p>
          <a:p>
            <a:r>
              <a:rPr lang="en-US" sz="3600" dirty="0" smtClean="0"/>
              <a:t>Fluid or Fixed layout</a:t>
            </a:r>
          </a:p>
          <a:p>
            <a:r>
              <a:rPr lang="en-US" sz="3600" dirty="0" smtClean="0"/>
              <a:t>Large screens</a:t>
            </a:r>
          </a:p>
          <a:p>
            <a:r>
              <a:rPr lang="en-US" sz="3600" dirty="0" smtClean="0"/>
              <a:t>Small screens</a:t>
            </a:r>
          </a:p>
          <a:p>
            <a:r>
              <a:rPr lang="en-US" sz="3600" dirty="0" smtClean="0"/>
              <a:t>Mobile devices, tablets</a:t>
            </a:r>
            <a:endParaRPr lang="en-US" sz="3600" dirty="0" smtClean="0"/>
          </a:p>
          <a:p>
            <a:r>
              <a:rPr lang="en-US" sz="3600" dirty="0" smtClean="0"/>
              <a:t>Retina displays</a:t>
            </a:r>
          </a:p>
        </p:txBody>
      </p:sp>
    </p:spTree>
    <p:extLst>
      <p:ext uri="{BB962C8B-B14F-4D97-AF65-F5344CB8AC3E}">
        <p14:creationId xmlns:p14="http://schemas.microsoft.com/office/powerpoint/2010/main" xmlns="" val="535094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7620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Accessibility</a:t>
            </a:r>
            <a:endParaRPr lang="en-US" sz="4800" dirty="0" smtClean="0"/>
          </a:p>
        </p:txBody>
      </p:sp>
      <p:sp>
        <p:nvSpPr>
          <p:cNvPr id="9" name="Rectangle 8"/>
          <p:cNvSpPr/>
          <p:nvPr/>
        </p:nvSpPr>
        <p:spPr>
          <a:xfrm>
            <a:off x="4453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33400" y="1828799"/>
            <a:ext cx="36576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Screen readers</a:t>
            </a:r>
          </a:p>
          <a:p>
            <a:r>
              <a:rPr lang="en-US" sz="3600" dirty="0" smtClean="0"/>
              <a:t>Layout</a:t>
            </a:r>
          </a:p>
          <a:p>
            <a:r>
              <a:rPr lang="en-US" sz="3600" dirty="0" smtClean="0"/>
              <a:t>Alt/Title tags</a:t>
            </a:r>
          </a:p>
          <a:p>
            <a:r>
              <a:rPr lang="en-US" sz="3600" dirty="0" smtClean="0"/>
              <a:t>Pictures</a:t>
            </a:r>
          </a:p>
          <a:p>
            <a:r>
              <a:rPr lang="en-US" sz="3600" dirty="0" smtClean="0"/>
              <a:t>Link text</a:t>
            </a:r>
          </a:p>
          <a:p>
            <a:r>
              <a:rPr lang="en-US" sz="3600" dirty="0" smtClean="0"/>
              <a:t>Color blindness</a:t>
            </a:r>
          </a:p>
          <a:p>
            <a:r>
              <a:rPr lang="en-US" sz="3600" dirty="0" smtClean="0"/>
              <a:t>Small print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8200" y="1905000"/>
            <a:ext cx="36576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u="sng" dirty="0" smtClean="0"/>
              <a:t>Testing techniques</a:t>
            </a:r>
          </a:p>
          <a:p>
            <a:r>
              <a:rPr lang="en-US" sz="3600" dirty="0" smtClean="0"/>
              <a:t>Lynx Browser</a:t>
            </a:r>
          </a:p>
          <a:p>
            <a:r>
              <a:rPr lang="en-US" sz="3600" dirty="0" smtClean="0"/>
              <a:t>Don’t use mouse</a:t>
            </a:r>
          </a:p>
          <a:p>
            <a:r>
              <a:rPr lang="en-US" sz="3600" dirty="0" smtClean="0"/>
              <a:t>Resize </a:t>
            </a:r>
            <a:r>
              <a:rPr lang="en-US" sz="3600" dirty="0" smtClean="0"/>
              <a:t>Text</a:t>
            </a:r>
          </a:p>
          <a:p>
            <a:r>
              <a:rPr lang="en-US" sz="3600" dirty="0" smtClean="0"/>
              <a:t>Sitemap</a:t>
            </a:r>
          </a:p>
          <a:p>
            <a:r>
              <a:rPr lang="en-US" sz="3600" dirty="0" smtClean="0"/>
              <a:t>WAVE toolbar</a:t>
            </a:r>
          </a:p>
          <a:p>
            <a:r>
              <a:rPr lang="en-US" sz="3600" dirty="0" smtClean="0">
                <a:hlinkClick r:id="rId5"/>
              </a:rPr>
              <a:t>wave.webaim.org</a:t>
            </a:r>
            <a:endParaRPr lang="en-US" sz="3600" dirty="0" smtClean="0"/>
          </a:p>
        </p:txBody>
      </p:sp>
    </p:spTree>
    <p:extLst>
      <p:ext uri="{BB962C8B-B14F-4D97-AF65-F5344CB8AC3E}">
        <p14:creationId xmlns:p14="http://schemas.microsoft.com/office/powerpoint/2010/main" xmlns="" val="535094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11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7620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Performance</a:t>
            </a:r>
            <a:endParaRPr lang="en-US" sz="4800" dirty="0" smtClean="0"/>
          </a:p>
        </p:txBody>
      </p:sp>
      <p:sp>
        <p:nvSpPr>
          <p:cNvPr id="9" name="Rectangle 8"/>
          <p:cNvSpPr/>
          <p:nvPr/>
        </p:nvSpPr>
        <p:spPr>
          <a:xfrm>
            <a:off x="4453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33400" y="1828799"/>
            <a:ext cx="77724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Download Speed</a:t>
            </a:r>
          </a:p>
          <a:p>
            <a:r>
              <a:rPr lang="en-US" sz="3600" dirty="0" smtClean="0"/>
              <a:t>Many images, JS, CSS files</a:t>
            </a:r>
          </a:p>
          <a:p>
            <a:r>
              <a:rPr lang="en-US" sz="3600" dirty="0" smtClean="0"/>
              <a:t>JavaScript execution speed</a:t>
            </a:r>
          </a:p>
          <a:p>
            <a:r>
              <a:rPr lang="en-US" sz="3600" dirty="0" smtClean="0"/>
              <a:t>Rendering speed (and order)</a:t>
            </a:r>
          </a:p>
          <a:p>
            <a:r>
              <a:rPr lang="en-US" sz="3600" dirty="0" smtClean="0"/>
              <a:t>Latency</a:t>
            </a:r>
          </a:p>
          <a:p>
            <a:r>
              <a:rPr lang="en-US" sz="3600" dirty="0" smtClean="0"/>
              <a:t>	</a:t>
            </a:r>
            <a:r>
              <a:rPr lang="en-US" sz="3600" dirty="0" smtClean="0"/>
              <a:t>UI</a:t>
            </a:r>
          </a:p>
          <a:p>
            <a:r>
              <a:rPr lang="en-US" sz="3600" dirty="0" smtClean="0"/>
              <a:t>	</a:t>
            </a:r>
            <a:r>
              <a:rPr lang="en-US" sz="3600" dirty="0" smtClean="0"/>
              <a:t>Server</a:t>
            </a:r>
          </a:p>
        </p:txBody>
      </p:sp>
    </p:spTree>
    <p:extLst>
      <p:ext uri="{BB962C8B-B14F-4D97-AF65-F5344CB8AC3E}">
        <p14:creationId xmlns:p14="http://schemas.microsoft.com/office/powerpoint/2010/main" xmlns="" val="535094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7620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Mobile Devices</a:t>
            </a:r>
            <a:endParaRPr lang="en-US" sz="4800" dirty="0" smtClean="0"/>
          </a:p>
        </p:txBody>
      </p:sp>
      <p:sp>
        <p:nvSpPr>
          <p:cNvPr id="9" name="Rectangle 8"/>
          <p:cNvSpPr/>
          <p:nvPr/>
        </p:nvSpPr>
        <p:spPr>
          <a:xfrm>
            <a:off x="4453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33400" y="1828799"/>
            <a:ext cx="7772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Smaller Screen</a:t>
            </a:r>
          </a:p>
          <a:p>
            <a:r>
              <a:rPr lang="en-US" sz="3600" dirty="0" smtClean="0"/>
              <a:t>Limited CPU &amp; Memory</a:t>
            </a:r>
          </a:p>
          <a:p>
            <a:r>
              <a:rPr lang="en-US" sz="3600" dirty="0" smtClean="0"/>
              <a:t>Battery life</a:t>
            </a:r>
          </a:p>
          <a:p>
            <a:r>
              <a:rPr lang="en-US" sz="3600" dirty="0" smtClean="0"/>
              <a:t>“</a:t>
            </a:r>
            <a:r>
              <a:rPr lang="en-US" sz="3600" dirty="0" err="1" smtClean="0"/>
              <a:t>Lite</a:t>
            </a:r>
            <a:r>
              <a:rPr lang="en-US" sz="3600" dirty="0" smtClean="0"/>
              <a:t>” versions of browsers</a:t>
            </a:r>
          </a:p>
          <a:p>
            <a:r>
              <a:rPr lang="en-US" sz="3600" dirty="0" smtClean="0"/>
              <a:t>No multitasking (on older </a:t>
            </a:r>
            <a:r>
              <a:rPr lang="en-US" sz="3600" dirty="0" err="1" smtClean="0"/>
              <a:t>iPhones</a:t>
            </a:r>
            <a:r>
              <a:rPr lang="en-US" sz="3600" dirty="0" smtClean="0"/>
              <a:t>)</a:t>
            </a:r>
            <a:endParaRPr lang="en-US" sz="3600" dirty="0" smtClean="0"/>
          </a:p>
        </p:txBody>
      </p:sp>
    </p:spTree>
    <p:extLst>
      <p:ext uri="{BB962C8B-B14F-4D97-AF65-F5344CB8AC3E}">
        <p14:creationId xmlns:p14="http://schemas.microsoft.com/office/powerpoint/2010/main" xmlns="" val="535094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7620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Retaining State &amp; Concurrency</a:t>
            </a:r>
            <a:endParaRPr lang="en-US" sz="4800" dirty="0" smtClean="0"/>
          </a:p>
        </p:txBody>
      </p:sp>
      <p:sp>
        <p:nvSpPr>
          <p:cNvPr id="9" name="Rectangle 8"/>
          <p:cNvSpPr/>
          <p:nvPr/>
        </p:nvSpPr>
        <p:spPr>
          <a:xfrm>
            <a:off x="4453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33400" y="1828799"/>
            <a:ext cx="3810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Cookies</a:t>
            </a:r>
          </a:p>
          <a:p>
            <a:r>
              <a:rPr lang="en-US" sz="3600" dirty="0" smtClean="0"/>
              <a:t>Sessions</a:t>
            </a:r>
          </a:p>
          <a:p>
            <a:r>
              <a:rPr lang="en-US" sz="3600" dirty="0" smtClean="0"/>
              <a:t>Expiration of Sessions</a:t>
            </a:r>
          </a:p>
          <a:p>
            <a:r>
              <a:rPr lang="en-US" sz="3600" dirty="0" smtClean="0"/>
              <a:t>Local Storage</a:t>
            </a:r>
          </a:p>
          <a:p>
            <a:r>
              <a:rPr lang="en-US" sz="3600" dirty="0" smtClean="0"/>
              <a:t>Passing data </a:t>
            </a:r>
          </a:p>
          <a:p>
            <a:r>
              <a:rPr lang="en-US" sz="3600" dirty="0" smtClean="0"/>
              <a:t>Hide fields/frames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779687"/>
            <a:ext cx="4038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Back button</a:t>
            </a:r>
          </a:p>
          <a:p>
            <a:r>
              <a:rPr lang="en-US" sz="3600" dirty="0" smtClean="0"/>
              <a:t>Navigating Away </a:t>
            </a:r>
            <a:r>
              <a:rPr lang="en-US" sz="3600" dirty="0" smtClean="0"/>
              <a:t>Closing Browser</a:t>
            </a:r>
          </a:p>
          <a:p>
            <a:r>
              <a:rPr lang="en-US" sz="3600" dirty="0" smtClean="0"/>
              <a:t>Multiple windows</a:t>
            </a:r>
          </a:p>
          <a:p>
            <a:r>
              <a:rPr lang="en-US" sz="3600" dirty="0" smtClean="0"/>
              <a:t>Multiple computers</a:t>
            </a:r>
          </a:p>
        </p:txBody>
      </p:sp>
    </p:spTree>
    <p:extLst>
      <p:ext uri="{BB962C8B-B14F-4D97-AF65-F5344CB8AC3E}">
        <p14:creationId xmlns:p14="http://schemas.microsoft.com/office/powerpoint/2010/main" xmlns="" val="535094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11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7620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Session Hijacking</a:t>
            </a:r>
            <a:endParaRPr lang="en-US" sz="4800" dirty="0" smtClean="0"/>
          </a:p>
        </p:txBody>
      </p:sp>
      <p:sp>
        <p:nvSpPr>
          <p:cNvPr id="9" name="Rectangle 8"/>
          <p:cNvSpPr/>
          <p:nvPr/>
        </p:nvSpPr>
        <p:spPr>
          <a:xfrm>
            <a:off x="4453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33400" y="2209800"/>
            <a:ext cx="7315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Man in the middle</a:t>
            </a:r>
            <a:r>
              <a:rPr lang="en-US" sz="3600" dirty="0" smtClean="0"/>
              <a:t> </a:t>
            </a:r>
            <a:r>
              <a:rPr lang="en-US" sz="3600" dirty="0" smtClean="0"/>
              <a:t>attacks</a:t>
            </a:r>
          </a:p>
          <a:p>
            <a:r>
              <a:rPr lang="en-US" sz="3600" dirty="0" smtClean="0"/>
              <a:t>Packet sniffing</a:t>
            </a:r>
          </a:p>
          <a:p>
            <a:r>
              <a:rPr lang="en-US" sz="3600" dirty="0" smtClean="0"/>
              <a:t>Cookie stealing</a:t>
            </a:r>
          </a:p>
          <a:p>
            <a:r>
              <a:rPr lang="en-US" sz="3600" dirty="0" smtClean="0"/>
              <a:t>Cross side scripting</a:t>
            </a:r>
          </a:p>
        </p:txBody>
      </p:sp>
    </p:spTree>
    <p:extLst>
      <p:ext uri="{BB962C8B-B14F-4D97-AF65-F5344CB8AC3E}">
        <p14:creationId xmlns:p14="http://schemas.microsoft.com/office/powerpoint/2010/main" xmlns="" val="535094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7620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Testing without the browser</a:t>
            </a:r>
            <a:endParaRPr lang="en-US" sz="4800" dirty="0" smtClean="0"/>
          </a:p>
        </p:txBody>
      </p:sp>
      <p:sp>
        <p:nvSpPr>
          <p:cNvPr id="9" name="Rectangle 8"/>
          <p:cNvSpPr/>
          <p:nvPr/>
        </p:nvSpPr>
        <p:spPr>
          <a:xfrm>
            <a:off x="4453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33400" y="1828799"/>
            <a:ext cx="73152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From the command line</a:t>
            </a:r>
          </a:p>
          <a:p>
            <a:r>
              <a:rPr lang="en-US" sz="2400" dirty="0" smtClean="0"/>
              <a:t>	</a:t>
            </a:r>
            <a:r>
              <a:rPr lang="en-US" sz="2400" dirty="0" smtClean="0"/>
              <a:t>telnet, </a:t>
            </a:r>
            <a:r>
              <a:rPr lang="en-US" sz="2400" dirty="0" err="1" smtClean="0"/>
              <a:t>netcat</a:t>
            </a:r>
            <a:r>
              <a:rPr lang="en-US" sz="2400" dirty="0" smtClean="0"/>
              <a:t>, </a:t>
            </a:r>
            <a:r>
              <a:rPr lang="en-US" sz="2400" dirty="0" err="1" smtClean="0"/>
              <a:t>wget</a:t>
            </a:r>
            <a:r>
              <a:rPr lang="en-US" sz="2400" dirty="0" smtClean="0"/>
              <a:t>, curl</a:t>
            </a:r>
          </a:p>
          <a:p>
            <a:endParaRPr lang="en-US" sz="2400" dirty="0" smtClean="0"/>
          </a:p>
          <a:p>
            <a:r>
              <a:rPr lang="en-US" sz="3600" dirty="0" smtClean="0"/>
              <a:t>Using a proxy tool</a:t>
            </a:r>
          </a:p>
          <a:p>
            <a:r>
              <a:rPr lang="en-US" sz="2400" dirty="0" smtClean="0"/>
              <a:t>	</a:t>
            </a:r>
            <a:r>
              <a:rPr lang="en-US" sz="2400" dirty="0" smtClean="0"/>
              <a:t>Fiddler, </a:t>
            </a:r>
            <a:r>
              <a:rPr lang="en-US" sz="2400" dirty="0" err="1" smtClean="0"/>
              <a:t>Wireshark</a:t>
            </a:r>
            <a:endParaRPr lang="en-US" sz="2400" dirty="0" smtClean="0"/>
          </a:p>
          <a:p>
            <a:endParaRPr lang="en-US" sz="3600" dirty="0" smtClean="0"/>
          </a:p>
          <a:p>
            <a:r>
              <a:rPr lang="en-US" sz="3600" dirty="0" smtClean="0"/>
              <a:t>Simulating the browser</a:t>
            </a:r>
          </a:p>
          <a:p>
            <a:r>
              <a:rPr lang="en-US" sz="2400" dirty="0" smtClean="0"/>
              <a:t>	</a:t>
            </a:r>
            <a:r>
              <a:rPr lang="en-US" sz="2400" dirty="0" err="1" smtClean="0"/>
              <a:t>HTMLUnit</a:t>
            </a:r>
            <a:r>
              <a:rPr lang="en-US" sz="2400" dirty="0" smtClean="0"/>
              <a:t>, </a:t>
            </a:r>
            <a:r>
              <a:rPr lang="en-US" sz="2400" dirty="0" err="1" smtClean="0"/>
              <a:t>PhantomJS</a:t>
            </a:r>
            <a:endParaRPr lang="en-US" sz="2400" dirty="0" smtClean="0"/>
          </a:p>
          <a:p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xmlns="" val="535094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7620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Server Side Validation</a:t>
            </a:r>
            <a:endParaRPr lang="en-US" sz="4800" dirty="0" smtClean="0"/>
          </a:p>
        </p:txBody>
      </p:sp>
      <p:sp>
        <p:nvSpPr>
          <p:cNvPr id="9" name="Rectangle 8"/>
          <p:cNvSpPr/>
          <p:nvPr/>
        </p:nvSpPr>
        <p:spPr>
          <a:xfrm>
            <a:off x="4453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33400" y="1828800"/>
            <a:ext cx="73152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Viewing log files</a:t>
            </a:r>
          </a:p>
          <a:p>
            <a:r>
              <a:rPr lang="en-US" sz="3600" dirty="0" smtClean="0"/>
              <a:t>Verifying data in database</a:t>
            </a:r>
          </a:p>
          <a:p>
            <a:r>
              <a:rPr lang="en-US" sz="3600" dirty="0" smtClean="0"/>
              <a:t>Testing controllers</a:t>
            </a:r>
          </a:p>
          <a:p>
            <a:r>
              <a:rPr lang="en-US" sz="3600" dirty="0" smtClean="0"/>
              <a:t>Monitoring CPU and memory usage</a:t>
            </a:r>
          </a:p>
          <a:p>
            <a:r>
              <a:rPr lang="en-US" sz="2400" dirty="0" smtClean="0"/>
              <a:t>	</a:t>
            </a:r>
            <a:r>
              <a:rPr lang="en-US" sz="2400" dirty="0" smtClean="0"/>
              <a:t>top</a:t>
            </a:r>
          </a:p>
          <a:p>
            <a:r>
              <a:rPr lang="en-US" sz="3600" dirty="0" smtClean="0"/>
              <a:t>Monitoring processes</a:t>
            </a:r>
          </a:p>
          <a:p>
            <a:r>
              <a:rPr lang="en-US" sz="2400" dirty="0" smtClean="0"/>
              <a:t>	</a:t>
            </a:r>
            <a:r>
              <a:rPr lang="en-US" sz="2400" dirty="0" err="1" smtClean="0"/>
              <a:t>ps</a:t>
            </a:r>
            <a:r>
              <a:rPr lang="en-US" sz="2400" dirty="0" smtClean="0"/>
              <a:t> –</a:t>
            </a:r>
            <a:r>
              <a:rPr lang="en-US" sz="2400" dirty="0" err="1" smtClean="0"/>
              <a:t>ef</a:t>
            </a:r>
            <a:endParaRPr lang="en-US" sz="2400" dirty="0" smtClean="0"/>
          </a:p>
          <a:p>
            <a:r>
              <a:rPr lang="en-US" sz="3600" dirty="0" smtClean="0"/>
              <a:t>Server status, reboot</a:t>
            </a:r>
            <a:r>
              <a:rPr lang="en-US" sz="3600" smtClean="0"/>
              <a:t>, deploy</a:t>
            </a:r>
            <a:endParaRPr lang="en-US" sz="3600" dirty="0" smtClean="0"/>
          </a:p>
        </p:txBody>
      </p:sp>
    </p:spTree>
    <p:extLst>
      <p:ext uri="{BB962C8B-B14F-4D97-AF65-F5344CB8AC3E}">
        <p14:creationId xmlns:p14="http://schemas.microsoft.com/office/powerpoint/2010/main" xmlns="" val="535094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520</TotalTime>
  <Words>825</Words>
  <Application>Microsoft Office PowerPoint</Application>
  <PresentationFormat>On-screen Show (4:3)</PresentationFormat>
  <Paragraphs>341</Paragraphs>
  <Slides>27</Slides>
  <Notes>27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Ancestry.com Operations, Inc.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Aaron Evans</dc:creator>
  <cp:lastModifiedBy>Aaron Evans</cp:lastModifiedBy>
  <cp:revision>71</cp:revision>
  <dcterms:created xsi:type="dcterms:W3CDTF">2013-03-08T22:30:22Z</dcterms:created>
  <dcterms:modified xsi:type="dcterms:W3CDTF">2013-03-12T13:58:32Z</dcterms:modified>
</cp:coreProperties>
</file>
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60" r:id="rId4"/>
    <p:sldId id="265" r:id="rId5"/>
    <p:sldId id="261" r:id="rId6"/>
    <p:sldId id="266" r:id="rId7"/>
    <p:sldId id="263" r:id="rId8"/>
    <p:sldId id="264" r:id="rId9"/>
    <p:sldId id="267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1" d="100"/>
          <a:sy n="111" d="100"/>
        </p:scale>
        <p:origin x="-420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0E57ED-9692-4494-837A-6B5237BA7989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0AED0B-D41E-498F-AF02-63C3660D152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0558366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the top down: </a:t>
            </a:r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Browser, HTML, HTTP protocol, TCP/IP, sockets, DNS, routing. </a:t>
            </a:r>
          </a:p>
          <a:p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want to go over the building blocks of a web application.  Not just the widgets and HTML &amp; JavaScript source files, but the underlying architecture, from packets on up to pixels, so we can test it from various perspectives.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it would be tedious to do all of testing at such a low level, sometimes it is useful in troubleshooting difficult problems.  And thinking of how the bits move will sometimes help you in planning for security or performance optimizations.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Much of this may already be familiar to you, but bear with me.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the top down: </a:t>
            </a:r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Browser, HTML, HTTP protocol, TCP/IP, sockets, DNS, routing. </a:t>
            </a:r>
          </a:p>
          <a:p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want to go over the building blocks of a web application.  Not just the widgets and HTML &amp; JavaScript source files, but the underlying architecture, from packets on up to pixels, so we can test it from various perspectives.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it would be tedious to do all of testing at such a low level, sometimes it is useful in troubleshooting difficult problems.  And thinking of how the bits move will sometimes help you in planning for security or performance optimizations.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Much of this may already be familiar to you, but bear with me.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the top down: </a:t>
            </a:r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Browser, HTML, HTTP protocol, TCP/IP, sockets, DNS, routing. </a:t>
            </a:r>
          </a:p>
          <a:p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want to go over the building blocks of a web application.  Not just the widgets and HTML &amp; JavaScript source files, but the underlying architecture, from packets on up to pixels, so we can test it from various perspectives.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it would be tedious to do all of testing at such a low level, sometimes it is useful in troubleshooting difficult problems.  And thinking of how the bits move will sometimes help you in planning for security or performance optimizations.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Much of this may already be familiar to you, but bear with me.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the top down: </a:t>
            </a:r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Browser, HTML, HTTP protocol, TCP/IP, sockets, DNS, routing. </a:t>
            </a:r>
          </a:p>
          <a:p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want to go over the building blocks of a web application.  Not just the widgets and HTML &amp; JavaScript source files, but the underlying architecture, from packets on up to pixels, so we can test it from various perspectives.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it would be tedious to do all of testing at such a low level, sometimes it is useful in troubleshooting difficult problems.  And thinking of how the bits move will sometimes help you in planning for security or performance optimizations.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Much of this may already be familiar to you, but bear with me.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the top down: </a:t>
            </a:r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Browser, HTML, HTTP protocol, TCP/IP, sockets, DNS, routing. </a:t>
            </a:r>
          </a:p>
          <a:p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want to go over the building blocks of a web application.  Not just the widgets and HTML &amp; JavaScript source files, but the underlying architecture, from packets on up to pixels, so we can test it from various perspectives.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it would be tedious to do all of testing at such a low level, sometimes it is useful in troubleshooting difficult problems.  And thinking of how the bits move will sometimes help you in planning for security or performance optimizations.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Much of this may already be familiar to you, but bear with me.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the top down: </a:t>
            </a:r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Browser, HTML, HTTP protocol, TCP/IP, sockets, DNS, routing. </a:t>
            </a:r>
          </a:p>
          <a:p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want to go over the building blocks of a web application.  Not just the widgets and HTML &amp; JavaScript source files, but the underlying architecture, from packets on up to pixels, so we can test it from various perspectives.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it would be tedious to do all of testing at such a low level, sometimes it is useful in troubleshooting difficult problems.  And thinking of how the bits move will sometimes help you in planning for security or performance optimizations.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Much of this may already be familiar to you, but bear with me.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the top down: </a:t>
            </a:r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Browser, HTML, HTTP protocol, TCP/IP, sockets, DNS, routing. </a:t>
            </a:r>
          </a:p>
          <a:p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want to go over the building blocks of a web application.  Not just the widgets and HTML &amp; JavaScript source files, but the underlying architecture, from packets on up to pixels, so we can test it from various perspectives.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it would be tedious to do all of testing at such a low level, sometimes it is useful in troubleshooting difficult problems.  And thinking of how the bits move will sometimes help you in planning for security or performance optimizations.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Much of this may already be familiar to you, but bear with me.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the top down: </a:t>
            </a:r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Browser, HTML, HTTP protocol, TCP/IP, sockets, DNS, routing. </a:t>
            </a:r>
          </a:p>
          <a:p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want to go over the building blocks of a web application.  Not just the widgets and HTML &amp; JavaScript source files, but the underlying architecture, from packets on up to pixels, so we can test it from various perspectives.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it would be tedious to do all of testing at such a low level, sometimes it is useful in troubleshooting difficult problems.  And thinking of how the bits move will sometimes help you in planning for security or performance optimizations.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Much of this may already be familiar to you, but bear with me.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the top down: </a:t>
            </a:r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Browser, HTML, HTTP protocol, TCP/IP, sockets, DNS, routing. </a:t>
            </a:r>
          </a:p>
          <a:p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want to go over the building blocks of a web application.  Not just the widgets and HTML &amp; JavaScript source files, but the underlying architecture, from packets on up to pixels, so we can test it from various perspectives.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it would be tedious to do all of testing at such a low level, sometimes it is useful in troubleshooting difficult problems.  And thinking of how the bits move will sometimes help you in planning for security or performance optimizations.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Much of this may already be familiar to you, but bear with me.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7A184A-ADA6-4751-8E63-A4C1A2538450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BC974E-B3DF-41BF-9A7B-181A757EC78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soapui.org/" TargetMode="Externa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www.fiddler2.com/" TargetMode="Externa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webinject.org/" TargetMode="Externa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jsonviewer.stack.hu/" TargetMode="External"/><Relationship Id="rId5" Type="http://schemas.openxmlformats.org/officeDocument/2006/relationships/hyperlink" Target="http://jsonlint.org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requestb.in/" TargetMode="External"/><Relationship Id="rId5" Type="http://schemas.openxmlformats.org/officeDocument/2006/relationships/hyperlink" Target="http://httpbin.org/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Tools for testing web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2057400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Tools for </a:t>
            </a:r>
          </a:p>
          <a:p>
            <a:pPr algn="ctr"/>
            <a:r>
              <a:rPr lang="en-US" sz="4800" dirty="0" smtClean="0"/>
              <a:t>Testing Web Services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Tools for testing web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609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SOAPUI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1676400"/>
            <a:ext cx="8763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Open source web service testing application</a:t>
            </a:r>
          </a:p>
          <a:p>
            <a:r>
              <a:rPr lang="en-US" sz="3600" dirty="0" smtClean="0"/>
              <a:t>Written in Java</a:t>
            </a:r>
          </a:p>
          <a:p>
            <a:r>
              <a:rPr lang="en-US" sz="3600" dirty="0" smtClean="0"/>
              <a:t>Standalone GUI app</a:t>
            </a:r>
          </a:p>
          <a:p>
            <a:r>
              <a:rPr lang="en-US" sz="3600" dirty="0" err="1" smtClean="0"/>
              <a:t>Plugins</a:t>
            </a:r>
            <a:r>
              <a:rPr lang="en-US" sz="3600" dirty="0" smtClean="0"/>
              <a:t> for Eclipse, </a:t>
            </a:r>
            <a:r>
              <a:rPr lang="en-US" sz="3600" dirty="0" err="1" smtClean="0"/>
              <a:t>Netbeans</a:t>
            </a:r>
            <a:r>
              <a:rPr lang="en-US" sz="3600" dirty="0" smtClean="0"/>
              <a:t>, IDEA</a:t>
            </a:r>
          </a:p>
          <a:p>
            <a:r>
              <a:rPr lang="en-US" sz="3600" dirty="0" smtClean="0"/>
              <a:t>Pro version by </a:t>
            </a:r>
            <a:r>
              <a:rPr lang="en-US" sz="3600" dirty="0" err="1" smtClean="0"/>
              <a:t>SmartBear</a:t>
            </a:r>
            <a:endParaRPr lang="en-US" sz="3600" dirty="0" smtClean="0"/>
          </a:p>
        </p:txBody>
      </p:sp>
      <p:sp>
        <p:nvSpPr>
          <p:cNvPr id="9" name="TextBox 8"/>
          <p:cNvSpPr txBox="1"/>
          <p:nvPr/>
        </p:nvSpPr>
        <p:spPr>
          <a:xfrm>
            <a:off x="0" y="5029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hlinkClick r:id="rId5"/>
              </a:rPr>
              <a:t>http://soapui.org</a:t>
            </a:r>
            <a:r>
              <a:rPr lang="en-US" sz="4800" dirty="0" smtClean="0"/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3400" y="0"/>
            <a:ext cx="990600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Tools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allAtOnce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Tools for testing web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609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Fiddler</a:t>
            </a:r>
            <a:endParaRPr lang="en-US" sz="4800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381000" y="1676400"/>
            <a:ext cx="8763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 smtClean="0"/>
          </a:p>
        </p:txBody>
      </p:sp>
      <p:sp>
        <p:nvSpPr>
          <p:cNvPr id="12" name="TextBox 11"/>
          <p:cNvSpPr txBox="1"/>
          <p:nvPr/>
        </p:nvSpPr>
        <p:spPr>
          <a:xfrm>
            <a:off x="8153400" y="0"/>
            <a:ext cx="990600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Tools</a:t>
            </a:r>
            <a:endParaRPr lang="en-US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685800" y="1524000"/>
            <a:ext cx="7772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Proxy Server on the client</a:t>
            </a:r>
            <a:br>
              <a:rPr lang="en-US" sz="3600" dirty="0" smtClean="0"/>
            </a:br>
            <a:r>
              <a:rPr lang="en-US" sz="3600" dirty="0" smtClean="0"/>
              <a:t>Freeware (but not open source)</a:t>
            </a:r>
          </a:p>
          <a:p>
            <a:r>
              <a:rPr lang="en-US" sz="3600" dirty="0" smtClean="0"/>
              <a:t>Listens to all web traffic</a:t>
            </a:r>
          </a:p>
          <a:p>
            <a:pPr marL="457200" indent="457200">
              <a:buFont typeface="Calibri" pitchFamily="34" charset="0"/>
              <a:buChar char="›"/>
            </a:pPr>
            <a:r>
              <a:rPr lang="en-US" sz="2400" dirty="0" smtClean="0"/>
              <a:t>HTTP/HTTPS</a:t>
            </a:r>
          </a:p>
          <a:p>
            <a:pPr marL="457200" indent="457200">
              <a:buFont typeface="Calibri" pitchFamily="34" charset="0"/>
              <a:buChar char="›"/>
            </a:pPr>
            <a:r>
              <a:rPr lang="en-US" sz="2400" dirty="0" smtClean="0"/>
              <a:t>Browser</a:t>
            </a:r>
          </a:p>
          <a:p>
            <a:pPr marL="457200" indent="457200">
              <a:buFont typeface="Calibri" pitchFamily="34" charset="0"/>
              <a:buChar char="›"/>
            </a:pPr>
            <a:r>
              <a:rPr lang="en-US" sz="2400" dirty="0" smtClean="0"/>
              <a:t>Non Browser</a:t>
            </a:r>
          </a:p>
          <a:p>
            <a:r>
              <a:rPr lang="en-US" sz="3600" dirty="0" smtClean="0"/>
              <a:t>Modify or send custom requests</a:t>
            </a:r>
          </a:p>
          <a:p>
            <a:endParaRPr lang="en-US" sz="3600" dirty="0" smtClean="0"/>
          </a:p>
          <a:p>
            <a:pPr algn="ctr"/>
            <a:r>
              <a:rPr lang="en-US" sz="3600" dirty="0" smtClean="0">
                <a:hlinkClick r:id="rId5"/>
              </a:rPr>
              <a:t>http://</a:t>
            </a:r>
            <a:r>
              <a:rPr lang="en-US" sz="3600" dirty="0" smtClean="0">
                <a:hlinkClick r:id="rId5"/>
              </a:rPr>
              <a:t>www.fiddler2.com</a:t>
            </a:r>
            <a:endParaRPr lang="en-US" sz="36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Tools for testing web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609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/>
              <a:t>WebInject</a:t>
            </a:r>
            <a:endParaRPr lang="en-US" sz="4800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381000" y="1676400"/>
            <a:ext cx="8763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 smtClean="0"/>
          </a:p>
        </p:txBody>
      </p:sp>
      <p:sp>
        <p:nvSpPr>
          <p:cNvPr id="12" name="TextBox 11"/>
          <p:cNvSpPr txBox="1"/>
          <p:nvPr/>
        </p:nvSpPr>
        <p:spPr>
          <a:xfrm>
            <a:off x="8153400" y="0"/>
            <a:ext cx="990600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Tools</a:t>
            </a:r>
            <a:endParaRPr lang="en-US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685800" y="1905000"/>
            <a:ext cx="7772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HTTP Testing tool</a:t>
            </a:r>
          </a:p>
          <a:p>
            <a:r>
              <a:rPr lang="en-US" sz="3600" dirty="0" smtClean="0"/>
              <a:t>Open </a:t>
            </a:r>
            <a:r>
              <a:rPr lang="en-US" sz="3600" dirty="0" smtClean="0"/>
              <a:t>Source</a:t>
            </a:r>
          </a:p>
          <a:p>
            <a:endParaRPr lang="en-US" sz="3600" b="1" dirty="0" smtClean="0"/>
          </a:p>
          <a:p>
            <a:endParaRPr lang="en-US" sz="3600" dirty="0" smtClean="0"/>
          </a:p>
          <a:p>
            <a:endParaRPr lang="en-US" sz="3600" dirty="0" smtClean="0"/>
          </a:p>
          <a:p>
            <a:endParaRPr lang="en-US" sz="3600" dirty="0" smtClean="0"/>
          </a:p>
          <a:p>
            <a:pPr algn="ctr"/>
            <a:r>
              <a:rPr lang="en-US" sz="3600" dirty="0" smtClean="0">
                <a:hlinkClick r:id="rId5"/>
              </a:rPr>
              <a:t>http</a:t>
            </a:r>
            <a:r>
              <a:rPr lang="en-US" sz="3600" dirty="0" smtClean="0">
                <a:hlinkClick r:id="rId5"/>
              </a:rPr>
              <a:t>://</a:t>
            </a:r>
            <a:r>
              <a:rPr lang="en-US" sz="3600" dirty="0" smtClean="0">
                <a:hlinkClick r:id="rId5"/>
              </a:rPr>
              <a:t>webinject.org</a:t>
            </a:r>
            <a:endParaRPr lang="en-US" sz="36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Tools for testing web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609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Browser </a:t>
            </a:r>
            <a:r>
              <a:rPr lang="en-US" sz="4800" dirty="0" err="1" smtClean="0"/>
              <a:t>Plugins</a:t>
            </a:r>
            <a:endParaRPr lang="en-US" sz="4800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381000" y="1752600"/>
            <a:ext cx="8763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 smtClean="0"/>
          </a:p>
        </p:txBody>
      </p:sp>
      <p:sp>
        <p:nvSpPr>
          <p:cNvPr id="9" name="TextBox 8"/>
          <p:cNvSpPr txBox="1"/>
          <p:nvPr/>
        </p:nvSpPr>
        <p:spPr>
          <a:xfrm>
            <a:off x="685800" y="1524000"/>
            <a:ext cx="77724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/>
              <a:t>C</a:t>
            </a:r>
            <a:r>
              <a:rPr lang="en-US" sz="2400" dirty="0" smtClean="0"/>
              <a:t>hrome extensions for sending HTTP requests  </a:t>
            </a:r>
          </a:p>
          <a:p>
            <a:pPr indent="457200"/>
            <a:endParaRPr lang="en-US" sz="3600" dirty="0" smtClean="0"/>
          </a:p>
          <a:p>
            <a:pPr indent="457200">
              <a:buFont typeface="Calibri" pitchFamily="34" charset="0"/>
              <a:buChar char="›"/>
            </a:pPr>
            <a:r>
              <a:rPr lang="en-US" sz="3600" dirty="0" smtClean="0"/>
              <a:t>Advanced </a:t>
            </a:r>
            <a:r>
              <a:rPr lang="en-US" sz="3600" dirty="0" smtClean="0"/>
              <a:t>REST </a:t>
            </a:r>
            <a:r>
              <a:rPr lang="en-US" sz="3600" dirty="0" smtClean="0"/>
              <a:t>client</a:t>
            </a:r>
          </a:p>
          <a:p>
            <a:pPr indent="457200"/>
            <a:endParaRPr lang="en-US" sz="3600" dirty="0" smtClean="0"/>
          </a:p>
          <a:p>
            <a:pPr indent="457200">
              <a:buFont typeface="Calibri" pitchFamily="34" charset="0"/>
              <a:buChar char="›"/>
            </a:pPr>
            <a:r>
              <a:rPr lang="en-US" sz="3600" dirty="0" smtClean="0"/>
              <a:t>Postman</a:t>
            </a:r>
          </a:p>
          <a:p>
            <a:endParaRPr lang="en-US" sz="3600" dirty="0" smtClean="0"/>
          </a:p>
          <a:p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153400" y="0"/>
            <a:ext cx="990600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Tools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Tools for testing web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990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XML Spy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1676400"/>
            <a:ext cx="8763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 smtClean="0"/>
          </a:p>
        </p:txBody>
      </p:sp>
      <p:sp>
        <p:nvSpPr>
          <p:cNvPr id="12" name="TextBox 11"/>
          <p:cNvSpPr txBox="1"/>
          <p:nvPr/>
        </p:nvSpPr>
        <p:spPr>
          <a:xfrm>
            <a:off x="8305800" y="0"/>
            <a:ext cx="838200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Tools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Tools for testing web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609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JSON View</a:t>
            </a:r>
            <a:endParaRPr lang="en-US" sz="4800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381000" y="1676400"/>
            <a:ext cx="8763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 smtClean="0"/>
          </a:p>
        </p:txBody>
      </p:sp>
      <p:sp>
        <p:nvSpPr>
          <p:cNvPr id="9" name="TextBox 8"/>
          <p:cNvSpPr txBox="1"/>
          <p:nvPr/>
        </p:nvSpPr>
        <p:spPr>
          <a:xfrm>
            <a:off x="685800" y="1524000"/>
            <a:ext cx="800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Firefox/Chrome Extension to format JSON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153400" y="0"/>
            <a:ext cx="990600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Tools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Tools for testing web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990600"/>
            <a:ext cx="9144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Parse JSON online</a:t>
            </a:r>
          </a:p>
          <a:p>
            <a:pPr algn="ctr"/>
            <a:endParaRPr lang="en-US" sz="4800" dirty="0" smtClean="0"/>
          </a:p>
          <a:p>
            <a:pPr algn="ctr"/>
            <a:r>
              <a:rPr lang="en-US" sz="3600" dirty="0" smtClean="0">
                <a:hlinkClick r:id="rId5"/>
              </a:rPr>
              <a:t>http://</a:t>
            </a:r>
            <a:r>
              <a:rPr lang="en-US" sz="3600" dirty="0" smtClean="0">
                <a:hlinkClick r:id="rId5"/>
              </a:rPr>
              <a:t>jsonlint.org</a:t>
            </a:r>
            <a:endParaRPr lang="en-US" sz="3600" dirty="0" smtClean="0"/>
          </a:p>
          <a:p>
            <a:pPr algn="ctr"/>
            <a:endParaRPr lang="en-US" sz="3600" dirty="0" smtClean="0"/>
          </a:p>
          <a:p>
            <a:pPr algn="ctr"/>
            <a:r>
              <a:rPr lang="en-US" sz="3600" dirty="0" smtClean="0">
                <a:hlinkClick r:id="rId6"/>
              </a:rPr>
              <a:t>http://jsonviewer.stack.hu</a:t>
            </a:r>
            <a:r>
              <a:rPr lang="en-US" sz="3600" dirty="0" smtClean="0">
                <a:hlinkClick r:id="rId6"/>
              </a:rPr>
              <a:t>/</a:t>
            </a:r>
            <a:endParaRPr lang="en-US" sz="3600" dirty="0" smtClean="0"/>
          </a:p>
          <a:p>
            <a:pPr algn="ctr"/>
            <a:endParaRPr lang="en-US" sz="4800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381000" y="1676400"/>
            <a:ext cx="8763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 smtClean="0"/>
          </a:p>
        </p:txBody>
      </p:sp>
      <p:sp>
        <p:nvSpPr>
          <p:cNvPr id="12" name="TextBox 11"/>
          <p:cNvSpPr txBox="1"/>
          <p:nvPr/>
        </p:nvSpPr>
        <p:spPr>
          <a:xfrm>
            <a:off x="8305800" y="0"/>
            <a:ext cx="838200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Tools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Tools for testing web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990600"/>
            <a:ext cx="91440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Check HTTP requests online</a:t>
            </a:r>
          </a:p>
          <a:p>
            <a:pPr algn="ctr"/>
            <a:endParaRPr lang="en-US" sz="4800" dirty="0" smtClean="0"/>
          </a:p>
          <a:p>
            <a:pPr algn="ctr"/>
            <a:r>
              <a:rPr lang="en-US" sz="3600" dirty="0" smtClean="0">
                <a:hlinkClick r:id="rId5"/>
              </a:rPr>
              <a:t>http://httpbin.org</a:t>
            </a:r>
            <a:endParaRPr lang="en-US" sz="3600" dirty="0" smtClean="0"/>
          </a:p>
          <a:p>
            <a:pPr algn="ctr"/>
            <a:endParaRPr lang="en-US" sz="3600" dirty="0" smtClean="0"/>
          </a:p>
          <a:p>
            <a:pPr algn="ctr"/>
            <a:r>
              <a:rPr lang="en-US" sz="3600" dirty="0" smtClean="0">
                <a:hlinkClick r:id="rId6"/>
              </a:rPr>
              <a:t>http://requestb.in/</a:t>
            </a:r>
            <a:endParaRPr lang="en-US" sz="3600" dirty="0" smtClean="0"/>
          </a:p>
          <a:p>
            <a:pPr algn="ctr"/>
            <a:endParaRPr lang="en-US" sz="4800" dirty="0" smtClean="0"/>
          </a:p>
          <a:p>
            <a:pPr algn="ctr"/>
            <a:endParaRPr lang="en-US" sz="4800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381000" y="1676400"/>
            <a:ext cx="8763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 smtClean="0"/>
          </a:p>
        </p:txBody>
      </p:sp>
      <p:sp>
        <p:nvSpPr>
          <p:cNvPr id="12" name="TextBox 11"/>
          <p:cNvSpPr txBox="1"/>
          <p:nvPr/>
        </p:nvSpPr>
        <p:spPr>
          <a:xfrm>
            <a:off x="8305800" y="0"/>
            <a:ext cx="838200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Tools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</TotalTime>
  <Words>1267</Words>
  <Application>Microsoft Office PowerPoint</Application>
  <PresentationFormat>On-screen Show (4:3)</PresentationFormat>
  <Paragraphs>143</Paragraphs>
  <Slides>9</Slides>
  <Notes>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Aaron Evans</dc:creator>
  <cp:lastModifiedBy>Aaron Evans</cp:lastModifiedBy>
  <cp:revision>28</cp:revision>
  <dcterms:created xsi:type="dcterms:W3CDTF">2013-03-16T01:57:10Z</dcterms:created>
  <dcterms:modified xsi:type="dcterms:W3CDTF">2013-03-17T16:22:18Z</dcterms:modified>
</cp:coreProperties>
</file>
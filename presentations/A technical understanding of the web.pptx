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1" r:id="rId3"/>
    <p:sldId id="259" r:id="rId4"/>
    <p:sldId id="260" r:id="rId5"/>
    <p:sldId id="261" r:id="rId6"/>
    <p:sldId id="263" r:id="rId7"/>
    <p:sldId id="262" r:id="rId8"/>
    <p:sldId id="264" r:id="rId9"/>
    <p:sldId id="265" r:id="rId10"/>
    <p:sldId id="266" r:id="rId11"/>
    <p:sldId id="267" r:id="rId12"/>
    <p:sldId id="268" r:id="rId13"/>
    <p:sldId id="272"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525" autoAdjust="0"/>
  </p:normalViewPr>
  <p:slideViewPr>
    <p:cSldViewPr>
      <p:cViewPr varScale="1">
        <p:scale>
          <a:sx n="74" d="100"/>
          <a:sy n="74" d="100"/>
        </p:scale>
        <p:origin x="-438" y="-96"/>
      </p:cViewPr>
      <p:guideLst>
        <p:guide orient="horz" pos="2160"/>
        <p:guide pos="2880"/>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D516BE-303C-4073-A4FC-07E358FC6551}" type="datetimeFigureOut">
              <a:rPr lang="en-US" smtClean="0"/>
              <a:pPr/>
              <a:t>3/7/2013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68E330-6F11-4EB8-9125-0BEE82D16730}" type="slidenum">
              <a:rPr lang="en-US" smtClean="0"/>
              <a:pPr/>
              <a:t>‹#›</a:t>
            </a:fld>
            <a:endParaRPr lang="en-US"/>
          </a:p>
        </p:txBody>
      </p:sp>
    </p:spTree>
    <p:extLst>
      <p:ext uri="{BB962C8B-B14F-4D97-AF65-F5344CB8AC3E}">
        <p14:creationId xmlns:p14="http://schemas.microsoft.com/office/powerpoint/2010/main" val="2576183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i="0" kern="1200" dirty="0" smtClean="0">
                <a:solidFill>
                  <a:schemeClr val="tx1"/>
                </a:solidFill>
                <a:effectLst/>
                <a:latin typeface="+mn-lt"/>
                <a:ea typeface="+mn-ea"/>
                <a:cs typeface="+mn-cs"/>
              </a:rPr>
              <a:t>From the top down: </a:t>
            </a:r>
            <a:endParaRPr lang="en-US" sz="1200" i="1" kern="1200" dirty="0" smtClean="0">
              <a:solidFill>
                <a:schemeClr val="tx1"/>
              </a:solidFill>
              <a:effectLst/>
              <a:latin typeface="+mn-lt"/>
              <a:ea typeface="+mn-ea"/>
              <a:cs typeface="+mn-cs"/>
            </a:endParaRPr>
          </a:p>
          <a:p>
            <a:r>
              <a:rPr lang="en-US" sz="1200" i="0" kern="1200" dirty="0" smtClean="0">
                <a:solidFill>
                  <a:schemeClr val="tx1"/>
                </a:solidFill>
                <a:effectLst/>
                <a:latin typeface="+mn-lt"/>
                <a:ea typeface="+mn-ea"/>
                <a:cs typeface="+mn-cs"/>
              </a:rPr>
              <a:t>Browser, HTML, HTTP protocol, TCP/IP, sockets, DNS, routing. </a:t>
            </a:r>
          </a:p>
          <a:p>
            <a:endParaRPr lang="en-US" sz="1200" i="1"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 want to go over the building blocks of a web application.  Not just the widgets and HTML &amp; JavaScript source files, but the underlying architecture, from packets on up to pixels, so we can test it from various perspectives.</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While it would be tedious to do all of testing at such a low level, sometimes it is useful in troubleshooting difficult problems.  And thinking of how the bits move will sometimes help you in planning for security or performance optimizations.</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Much of this may already be familiar to you, but bear with me.</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468E330-6F11-4EB8-9125-0BEE82D1673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mn-lt"/>
                <a:ea typeface="+mn-ea"/>
                <a:cs typeface="+mn-cs"/>
              </a:rPr>
              <a:t>My</a:t>
            </a:r>
            <a:r>
              <a:rPr lang="en-US" sz="1200" kern="1200" baseline="0" dirty="0" smtClean="0">
                <a:solidFill>
                  <a:schemeClr val="tx1"/>
                </a:solidFill>
                <a:effectLst/>
                <a:latin typeface="+mn-lt"/>
                <a:ea typeface="+mn-ea"/>
                <a:cs typeface="+mn-cs"/>
              </a:rPr>
              <a:t> wife pointed out that Pac Man has nothing to do with the internet.</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But</a:t>
            </a:r>
            <a:r>
              <a:rPr lang="en-US" sz="1200" kern="1200" baseline="0" dirty="0" smtClean="0">
                <a:solidFill>
                  <a:schemeClr val="tx1"/>
                </a:solidFill>
                <a:effectLst/>
                <a:latin typeface="+mn-lt"/>
                <a:ea typeface="+mn-ea"/>
                <a:cs typeface="+mn-cs"/>
              </a:rPr>
              <a:t> I ask you – what is the Pac Man eating?  </a:t>
            </a:r>
          </a:p>
          <a:p>
            <a:endParaRPr lang="en-US" sz="1200" kern="1200" baseline="0" dirty="0" smtClean="0">
              <a:solidFill>
                <a:schemeClr val="tx1"/>
              </a:solidFill>
              <a:effectLst/>
              <a:latin typeface="+mn-lt"/>
              <a:ea typeface="+mn-ea"/>
              <a:cs typeface="+mn-cs"/>
            </a:endParaRPr>
          </a:p>
          <a:p>
            <a:r>
              <a:rPr lang="en-US" sz="1200" kern="1200" baseline="0" dirty="0" smtClean="0">
                <a:solidFill>
                  <a:schemeClr val="tx1"/>
                </a:solidFill>
                <a:effectLst/>
                <a:latin typeface="+mn-lt"/>
                <a:ea typeface="+mn-ea"/>
                <a:cs typeface="+mn-cs"/>
              </a:rPr>
              <a:t>Packets!</a:t>
            </a:r>
          </a:p>
          <a:p>
            <a:endParaRPr lang="en-US" sz="1200" kern="1200" baseline="0" dirty="0" smtClean="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468E330-6F11-4EB8-9125-0BEE82D16730}"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dirty="0" smtClean="0">
                <a:solidFill>
                  <a:schemeClr val="tx1"/>
                </a:solidFill>
                <a:effectLst/>
                <a:latin typeface="+mn-lt"/>
                <a:ea typeface="+mn-ea"/>
                <a:cs typeface="+mn-cs"/>
              </a:rPr>
              <a:t>Before we begin talking about anything else, I'm going to give you a brief history lesson.</a:t>
            </a:r>
          </a:p>
          <a:p>
            <a:endParaRPr lang="en-US" sz="1200" kern="1200" dirty="0" smtClean="0">
              <a:solidFill>
                <a:schemeClr val="tx1"/>
              </a:solidFill>
              <a:effectLst/>
              <a:latin typeface="+mn-lt"/>
              <a:ea typeface="+mn-ea"/>
              <a:cs typeface="+mn-cs"/>
            </a:endParaRPr>
          </a:p>
          <a:p>
            <a:r>
              <a:rPr lang="en-US" sz="1200" i="1" kern="1200" dirty="0" smtClean="0">
                <a:solidFill>
                  <a:schemeClr val="tx1"/>
                </a:solidFill>
                <a:effectLst/>
                <a:latin typeface="+mn-lt"/>
                <a:ea typeface="+mn-ea"/>
                <a:cs typeface="+mn-cs"/>
              </a:rPr>
              <a:t>Once upon a time:</a:t>
            </a:r>
          </a:p>
          <a:p>
            <a:r>
              <a:rPr lang="en-US" sz="1200" i="1" kern="1200" dirty="0" smtClean="0">
                <a:solidFill>
                  <a:schemeClr val="tx1"/>
                </a:solidFill>
                <a:effectLst/>
                <a:latin typeface="+mn-lt"/>
                <a:ea typeface="+mn-ea"/>
                <a:cs typeface="+mn-cs"/>
              </a:rPr>
              <a:t>back when computers used punch cards and teletype</a:t>
            </a:r>
            <a:br>
              <a:rPr lang="en-US" sz="1200" i="1" kern="1200" dirty="0" smtClean="0">
                <a:solidFill>
                  <a:schemeClr val="tx1"/>
                </a:solidFill>
                <a:effectLst/>
                <a:latin typeface="+mn-lt"/>
                <a:ea typeface="+mn-ea"/>
                <a:cs typeface="+mn-cs"/>
              </a:rPr>
            </a:br>
            <a:r>
              <a:rPr lang="en-US" sz="1200" i="1" kern="1200" dirty="0" smtClean="0">
                <a:solidFill>
                  <a:schemeClr val="tx1"/>
                </a:solidFill>
                <a:effectLst/>
                <a:latin typeface="+mn-lt"/>
                <a:ea typeface="+mn-ea"/>
                <a:cs typeface="+mn-cs"/>
              </a:rPr>
              <a:t>when Pac Man was the coolest game in the world (it still is)</a:t>
            </a:r>
            <a:br>
              <a:rPr lang="en-US" sz="1200" i="1" kern="1200" dirty="0" smtClean="0">
                <a:solidFill>
                  <a:schemeClr val="tx1"/>
                </a:solidFill>
                <a:effectLst/>
                <a:latin typeface="+mn-lt"/>
                <a:ea typeface="+mn-ea"/>
                <a:cs typeface="+mn-cs"/>
              </a:rPr>
            </a:br>
            <a:r>
              <a:rPr lang="en-US" sz="1200" i="1" kern="1200" dirty="0" smtClean="0">
                <a:solidFill>
                  <a:schemeClr val="tx1"/>
                </a:solidFill>
                <a:effectLst/>
                <a:latin typeface="+mn-lt"/>
                <a:ea typeface="+mn-ea"/>
                <a:cs typeface="+mn-cs"/>
              </a:rPr>
              <a:t>before the Y2K disaster brought about the apocalypse </a:t>
            </a:r>
          </a:p>
          <a:p>
            <a:endParaRPr lang="en-US" sz="1200" i="1"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When I was just getting into web development every computer book, whether it was about databases or HTML had a history of the internet in chapter 1.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 don't know if it was just to pad the pages (believe me, the books were thick enough already) or because the internet was so new and cool that everyone wanted to explain it.  But every book had it.</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And in nostalgia for my youth, I'm going to do it too.</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468E330-6F11-4EB8-9125-0BEE82D16730}"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b="1" kern="1200" dirty="0" smtClean="0">
                <a:solidFill>
                  <a:schemeClr val="tx1"/>
                </a:solidFill>
                <a:effectLst/>
                <a:latin typeface="+mn-lt"/>
                <a:ea typeface="+mn-ea"/>
                <a:cs typeface="+mn-cs"/>
              </a:rPr>
              <a:t>Time-sharing and Teletype</a:t>
            </a:r>
          </a:p>
          <a:p>
            <a:r>
              <a:rPr lang="en-US" sz="1200" kern="1200" dirty="0" smtClean="0">
                <a:solidFill>
                  <a:schemeClr val="tx1"/>
                </a:solidFill>
                <a:effectLst/>
                <a:latin typeface="+mn-lt"/>
                <a:ea typeface="+mn-ea"/>
                <a:cs typeface="+mn-cs"/>
              </a:rPr>
              <a:t>In 1957, the first timesharing computers were built, partially in response to the fact that computers were so big, and so hot, and so delicate and fragile, that they needed to be in their own room.</a:t>
            </a:r>
          </a:p>
          <a:p>
            <a:r>
              <a:rPr lang="en-US" sz="1200" kern="1200" dirty="0" smtClean="0">
                <a:solidFill>
                  <a:schemeClr val="tx1"/>
                </a:solidFill>
                <a:effectLst/>
                <a:latin typeface="+mn-lt"/>
                <a:ea typeface="+mn-ea"/>
                <a:cs typeface="+mn-cs"/>
              </a:rPr>
              <a:t>They were connected via teletypes, which were a sort of typewriter that sent messages over an electrical circuit.  The concept dates back to the original Morse code telegraph developed by Samuel B. Morse in 1846</a:t>
            </a:r>
          </a:p>
          <a:p>
            <a:r>
              <a:rPr lang="en-US" sz="1200" kern="1200" dirty="0" smtClean="0">
                <a:solidFill>
                  <a:schemeClr val="tx1"/>
                </a:solidFill>
                <a:effectLst/>
                <a:latin typeface="+mn-lt"/>
                <a:ea typeface="+mn-ea"/>
                <a:cs typeface="+mn-cs"/>
              </a:rPr>
              <a:t>Teletypes had been in existence since the early 1900s but even during World War 2 in the 1940s most cabled and radio communication was by Morse code.</a:t>
            </a:r>
          </a:p>
          <a:p>
            <a:r>
              <a:rPr lang="en-US" sz="1200" i="1" kern="1200" dirty="0" err="1" smtClean="0">
                <a:solidFill>
                  <a:schemeClr val="tx1"/>
                </a:solidFill>
                <a:effectLst/>
                <a:latin typeface="+mn-lt"/>
                <a:ea typeface="+mn-ea"/>
                <a:cs typeface="+mn-cs"/>
              </a:rPr>
              <a:t>dut-dut-dut</a:t>
            </a:r>
            <a:r>
              <a:rPr lang="en-US" sz="1200" i="1" kern="1200" dirty="0" smtClean="0">
                <a:solidFill>
                  <a:schemeClr val="tx1"/>
                </a:solidFill>
                <a:effectLst/>
                <a:latin typeface="+mn-lt"/>
                <a:ea typeface="+mn-ea"/>
                <a:cs typeface="+mn-cs"/>
              </a:rPr>
              <a:t>  </a:t>
            </a:r>
            <a:r>
              <a:rPr lang="en-US" sz="1200" i="1" kern="1200" dirty="0" err="1" smtClean="0">
                <a:solidFill>
                  <a:schemeClr val="tx1"/>
                </a:solidFill>
                <a:effectLst/>
                <a:latin typeface="+mn-lt"/>
                <a:ea typeface="+mn-ea"/>
                <a:cs typeface="+mn-cs"/>
              </a:rPr>
              <a:t>dee-dee-dee</a:t>
            </a:r>
            <a:r>
              <a:rPr lang="en-US" sz="1200" i="1" kern="1200" dirty="0" smtClean="0">
                <a:solidFill>
                  <a:schemeClr val="tx1"/>
                </a:solidFill>
                <a:effectLst/>
                <a:latin typeface="+mn-lt"/>
                <a:ea typeface="+mn-ea"/>
                <a:cs typeface="+mn-cs"/>
              </a:rPr>
              <a:t>  </a:t>
            </a:r>
            <a:r>
              <a:rPr lang="en-US" sz="1200" i="1" kern="1200" dirty="0" err="1" smtClean="0">
                <a:solidFill>
                  <a:schemeClr val="tx1"/>
                </a:solidFill>
                <a:effectLst/>
                <a:latin typeface="+mn-lt"/>
                <a:ea typeface="+mn-ea"/>
                <a:cs typeface="+mn-cs"/>
              </a:rPr>
              <a:t>dut-dut-dut</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This was because teletypes were not reliable enough and they needed a separate wire to communicate each letter.</a:t>
            </a:r>
          </a:p>
          <a:p>
            <a:r>
              <a:rPr lang="en-US" sz="1200" kern="1200" dirty="0" smtClean="0">
                <a:solidFill>
                  <a:schemeClr val="tx1"/>
                </a:solidFill>
                <a:effectLst/>
                <a:latin typeface="+mn-lt"/>
                <a:ea typeface="+mn-ea"/>
                <a:cs typeface="+mn-cs"/>
              </a:rPr>
              <a:t>But if all you had to do was run the cable from one room to another in the same, it became practical.</a:t>
            </a:r>
          </a:p>
          <a:p>
            <a:r>
              <a:rPr lang="en-US" sz="1200" kern="1200" dirty="0" smtClean="0">
                <a:solidFill>
                  <a:schemeClr val="tx1"/>
                </a:solidFill>
                <a:effectLst/>
                <a:latin typeface="+mn-lt"/>
                <a:ea typeface="+mn-ea"/>
                <a:cs typeface="+mn-cs"/>
              </a:rPr>
              <a:t>Some computers had multiple teletype terminals for convenience  in different locations, but only one could operate at a time.  This was because early computers only operated by batch processing.  Every command was linear and so you had to wait for the current batch of commands to complete before yours could execute.</a:t>
            </a:r>
          </a:p>
          <a:p>
            <a:r>
              <a:rPr lang="en-US" sz="1200" kern="1200" dirty="0" smtClean="0">
                <a:solidFill>
                  <a:schemeClr val="tx1"/>
                </a:solidFill>
                <a:effectLst/>
                <a:latin typeface="+mn-lt"/>
                <a:ea typeface="+mn-ea"/>
                <a:cs typeface="+mn-cs"/>
              </a:rPr>
              <a:t>So timesharing was invented.  Computers had gotten so fast that they could perform calculations faster than a human could type them in (or feed the instructions via punch card.)</a:t>
            </a:r>
          </a:p>
          <a:p>
            <a:r>
              <a:rPr lang="en-US" sz="1200" kern="1200" dirty="0" smtClean="0">
                <a:solidFill>
                  <a:schemeClr val="tx1"/>
                </a:solidFill>
                <a:effectLst/>
                <a:latin typeface="+mn-lt"/>
                <a:ea typeface="+mn-ea"/>
                <a:cs typeface="+mn-cs"/>
              </a:rPr>
              <a:t>Punch cards were used alongside teletypes.  Although they were less convenient than typing commands, a punch card provided a way of storing a program -- because computers didn't have magnetic disks -- or if they did, they were very expensive.</a:t>
            </a:r>
          </a:p>
          <a:p>
            <a:r>
              <a:rPr lang="en-US" sz="1200" kern="1200" dirty="0" smtClean="0">
                <a:solidFill>
                  <a:schemeClr val="tx1"/>
                </a:solidFill>
                <a:effectLst/>
                <a:latin typeface="+mn-lt"/>
                <a:ea typeface="+mn-ea"/>
                <a:cs typeface="+mn-cs"/>
              </a:rPr>
              <a:t>Some teletypes also had the option of punching the command sequence as you typed, but since the terminals were expensive, a separate device was typically used as a card puncher, and then you could feed the card into the teletype that would read it and send the signals to the big computer in the sealed room.</a:t>
            </a:r>
          </a:p>
          <a:p>
            <a:r>
              <a:rPr lang="en-US" sz="1200" i="1" kern="1200" dirty="0" smtClean="0">
                <a:solidFill>
                  <a:schemeClr val="tx1"/>
                </a:solidFill>
                <a:effectLst/>
                <a:latin typeface="+mn-lt"/>
                <a:ea typeface="+mn-ea"/>
                <a:cs typeface="+mn-cs"/>
              </a:rPr>
              <a:t>I remember when Grace Hopper discovered the first computer bug -- a moth caught in the relay between vacuum tubes... Ok, I'm not that old.  </a:t>
            </a:r>
            <a:endParaRPr lang="en-US" sz="1200" kern="1200" dirty="0" smtClean="0">
              <a:solidFill>
                <a:schemeClr val="tx1"/>
              </a:solidFill>
              <a:effectLst/>
              <a:latin typeface="+mn-lt"/>
              <a:ea typeface="+mn-ea"/>
              <a:cs typeface="+mn-cs"/>
            </a:endParaRPr>
          </a:p>
          <a:p>
            <a:r>
              <a:rPr lang="en-US" sz="1200" i="1" kern="1200" dirty="0" smtClean="0">
                <a:solidFill>
                  <a:schemeClr val="tx1"/>
                </a:solidFill>
                <a:effectLst/>
                <a:latin typeface="+mn-lt"/>
                <a:ea typeface="+mn-ea"/>
                <a:cs typeface="+mn-cs"/>
              </a:rPr>
              <a:t>But that just goes to show how female testers are the best.  </a:t>
            </a:r>
          </a:p>
          <a:p>
            <a:r>
              <a:rPr lang="en-US" sz="1200" kern="1200" dirty="0" smtClean="0">
                <a:solidFill>
                  <a:schemeClr val="tx1"/>
                </a:solidFill>
                <a:effectLst/>
                <a:latin typeface="+mn-lt"/>
                <a:ea typeface="+mn-ea"/>
                <a:cs typeface="+mn-cs"/>
              </a:rPr>
              <a:t>So anyway, time sharing computers were invented.  The method which they used was to execute some instructions from one program, and while waiting for input or calculations, it would execute the commands from another program, much like a waiter at a restaurant handles multiple customers at a time, not simultaneously, but in a round-robin sequence.</a:t>
            </a:r>
          </a:p>
          <a:p>
            <a:r>
              <a:rPr lang="en-US" sz="1200" b="1" kern="1200" dirty="0" smtClean="0">
                <a:solidFill>
                  <a:schemeClr val="tx1"/>
                </a:solidFill>
                <a:effectLst/>
                <a:latin typeface="+mn-lt"/>
                <a:ea typeface="+mn-ea"/>
                <a:cs typeface="+mn-cs"/>
              </a:rPr>
              <a:t>Packet Switching</a:t>
            </a:r>
          </a:p>
          <a:p>
            <a:r>
              <a:rPr lang="en-US" sz="1200" kern="1200" dirty="0" smtClean="0">
                <a:solidFill>
                  <a:schemeClr val="tx1"/>
                </a:solidFill>
                <a:effectLst/>
                <a:latin typeface="+mn-lt"/>
                <a:ea typeface="+mn-ea"/>
                <a:cs typeface="+mn-cs"/>
              </a:rPr>
              <a:t>Time sharing and teletypes let to the next innovation, packet switching.  </a:t>
            </a:r>
          </a:p>
          <a:p>
            <a:r>
              <a:rPr lang="en-US" sz="1200" kern="1200" dirty="0" smtClean="0">
                <a:solidFill>
                  <a:schemeClr val="tx1"/>
                </a:solidFill>
                <a:effectLst/>
                <a:latin typeface="+mn-lt"/>
                <a:ea typeface="+mn-ea"/>
                <a:cs typeface="+mn-cs"/>
              </a:rPr>
              <a:t>Much like a computer could respond quicker than the programmer, the wire could carry messages from more than 1 device because not all terminals were sending messages at the same time.  </a:t>
            </a:r>
          </a:p>
          <a:p>
            <a:r>
              <a:rPr lang="en-US" sz="1200" kern="1200" dirty="0" smtClean="0">
                <a:solidFill>
                  <a:schemeClr val="tx1"/>
                </a:solidFill>
                <a:effectLst/>
                <a:latin typeface="+mn-lt"/>
                <a:ea typeface="+mn-ea"/>
                <a:cs typeface="+mn-cs"/>
              </a:rPr>
              <a:t>Originally, you needed to have 1 circuit that carried messages sequentially from 1 device, but by enabling packet switching you could send messages from multiple devices over the same circuit.</a:t>
            </a:r>
          </a:p>
          <a:p>
            <a:r>
              <a:rPr lang="en-US" sz="1200" kern="1200" dirty="0" smtClean="0">
                <a:solidFill>
                  <a:schemeClr val="tx1"/>
                </a:solidFill>
                <a:effectLst/>
                <a:latin typeface="+mn-lt"/>
                <a:ea typeface="+mn-ea"/>
                <a:cs typeface="+mn-cs"/>
              </a:rPr>
              <a:t>One computer scientist, Robert Taylor, realized this early. They had one terminal at UCLA that could communicate with MIT and another that could communicate with Berkeley or Stanford.  What they needed was another terminal that could route to any other based on the address of the packets.</a:t>
            </a:r>
          </a:p>
          <a:p>
            <a:r>
              <a:rPr lang="en-US" sz="1200" kern="1200" dirty="0" smtClean="0">
                <a:solidFill>
                  <a:schemeClr val="tx1"/>
                </a:solidFill>
                <a:effectLst/>
                <a:latin typeface="+mn-lt"/>
                <a:ea typeface="+mn-ea"/>
                <a:cs typeface="+mn-cs"/>
              </a:rPr>
              <a:t>This was pretty similar to how the post office handles mail.  Each message has a destination address and a return address.  The central computer, like the post office, knows how to send it over the proper wire to the correct destination.</a:t>
            </a:r>
          </a:p>
          <a:p>
            <a:r>
              <a:rPr lang="en-US" sz="1200" b="1" kern="1200" dirty="0" smtClean="0">
                <a:solidFill>
                  <a:schemeClr val="tx1"/>
                </a:solidFill>
                <a:effectLst/>
                <a:latin typeface="+mn-lt"/>
                <a:ea typeface="+mn-ea"/>
                <a:cs typeface="+mn-cs"/>
              </a:rPr>
              <a:t>ARPANET</a:t>
            </a:r>
          </a:p>
          <a:p>
            <a:r>
              <a:rPr lang="en-US" sz="1200" kern="1200" dirty="0" smtClean="0">
                <a:solidFill>
                  <a:schemeClr val="tx1"/>
                </a:solidFill>
                <a:effectLst/>
                <a:latin typeface="+mn-lt"/>
                <a:ea typeface="+mn-ea"/>
                <a:cs typeface="+mn-cs"/>
              </a:rPr>
              <a:t>But at first this was prohibitively expensive, so although the concept was obvious in 1964, it wasn't until 5 years later that the ARPANET was realized.</a:t>
            </a:r>
          </a:p>
          <a:p>
            <a:r>
              <a:rPr lang="en-US" sz="1200" kern="1200" dirty="0" smtClean="0">
                <a:solidFill>
                  <a:schemeClr val="tx1"/>
                </a:solidFill>
                <a:effectLst/>
                <a:latin typeface="+mn-lt"/>
                <a:ea typeface="+mn-ea"/>
                <a:cs typeface="+mn-cs"/>
              </a:rPr>
              <a:t>ARPANET came out of DARPA, the Defense Advanced Research Projects Agency and was originally intended to connect Department of Defense main computers in the Pentagon with Cheyenne Mountain in Wyoming and the Strategic Air Command.</a:t>
            </a:r>
          </a:p>
          <a:p>
            <a:r>
              <a:rPr lang="en-US" sz="1200" kern="1200" dirty="0" smtClean="0">
                <a:solidFill>
                  <a:schemeClr val="tx1"/>
                </a:solidFill>
                <a:effectLst/>
                <a:latin typeface="+mn-lt"/>
                <a:ea typeface="+mn-ea"/>
                <a:cs typeface="+mn-cs"/>
              </a:rPr>
              <a:t>DARPA was created in response to the Soviet launch of the Sputnik satellite.  It funded a variety of projects, including the development of the internet for communication in the event of a nuclear war.</a:t>
            </a:r>
          </a:p>
          <a:p>
            <a:r>
              <a:rPr lang="en-US" sz="1200" kern="1200" dirty="0" smtClean="0">
                <a:solidFill>
                  <a:schemeClr val="tx1"/>
                </a:solidFill>
                <a:effectLst/>
                <a:latin typeface="+mn-lt"/>
                <a:ea typeface="+mn-ea"/>
                <a:cs typeface="+mn-cs"/>
              </a:rPr>
              <a:t>The first message was sent between UCLA and Stanford in 1969.  It went like this:</a:t>
            </a:r>
          </a:p>
          <a:p>
            <a:r>
              <a:rPr lang="en-US" sz="1200" i="1" kern="1200" dirty="0" smtClean="0">
                <a:solidFill>
                  <a:schemeClr val="tx1"/>
                </a:solidFill>
                <a:effectLst/>
                <a:latin typeface="+mn-lt"/>
                <a:ea typeface="+mn-ea"/>
                <a:cs typeface="+mn-cs"/>
              </a:rPr>
              <a:t>"We set up a telephone connection between us ... </a:t>
            </a:r>
          </a:p>
          <a:p>
            <a:r>
              <a:rPr lang="en-US" sz="1200" i="1" kern="1200" dirty="0" smtClean="0">
                <a:solidFill>
                  <a:schemeClr val="tx1"/>
                </a:solidFill>
                <a:effectLst/>
                <a:latin typeface="+mn-lt"/>
                <a:ea typeface="+mn-ea"/>
                <a:cs typeface="+mn-cs"/>
              </a:rPr>
              <a:t>"We typed the L and we asked on the phone,</a:t>
            </a:r>
          </a:p>
          <a:p>
            <a:r>
              <a:rPr lang="en-US" sz="1200" i="1" kern="1200" dirty="0" smtClean="0">
                <a:solidFill>
                  <a:schemeClr val="tx1"/>
                </a:solidFill>
                <a:effectLst/>
                <a:latin typeface="+mn-lt"/>
                <a:ea typeface="+mn-ea"/>
                <a:cs typeface="+mn-cs"/>
              </a:rPr>
              <a:t>"Do you see the L?"</a:t>
            </a:r>
          </a:p>
          <a:p>
            <a:r>
              <a:rPr lang="en-US" sz="1200" i="1" kern="1200" dirty="0" smtClean="0">
                <a:solidFill>
                  <a:schemeClr val="tx1"/>
                </a:solidFill>
                <a:effectLst/>
                <a:latin typeface="+mn-lt"/>
                <a:ea typeface="+mn-ea"/>
                <a:cs typeface="+mn-cs"/>
              </a:rPr>
              <a:t>"Yes, we see the L," came the response.</a:t>
            </a:r>
          </a:p>
          <a:p>
            <a:r>
              <a:rPr lang="en-US" sz="1200" i="1" kern="1200" dirty="0" smtClean="0">
                <a:solidFill>
                  <a:schemeClr val="tx1"/>
                </a:solidFill>
                <a:effectLst/>
                <a:latin typeface="+mn-lt"/>
                <a:ea typeface="+mn-ea"/>
                <a:cs typeface="+mn-cs"/>
              </a:rPr>
              <a:t>We typed the O, and we asked, "Do you see the O."</a:t>
            </a:r>
          </a:p>
          <a:p>
            <a:r>
              <a:rPr lang="en-US" sz="1200" i="1" kern="1200" dirty="0" smtClean="0">
                <a:solidFill>
                  <a:schemeClr val="tx1"/>
                </a:solidFill>
                <a:effectLst/>
                <a:latin typeface="+mn-lt"/>
                <a:ea typeface="+mn-ea"/>
                <a:cs typeface="+mn-cs"/>
              </a:rPr>
              <a:t>"Yes, we see the O."</a:t>
            </a:r>
          </a:p>
          <a:p>
            <a:r>
              <a:rPr lang="en-US" sz="1200" i="1" kern="1200" dirty="0" smtClean="0">
                <a:solidFill>
                  <a:schemeClr val="tx1"/>
                </a:solidFill>
                <a:effectLst/>
                <a:latin typeface="+mn-lt"/>
                <a:ea typeface="+mn-ea"/>
                <a:cs typeface="+mn-cs"/>
              </a:rPr>
              <a:t>Then we typed the G, and the system crashed ..."</a:t>
            </a:r>
          </a:p>
          <a:p>
            <a:r>
              <a:rPr lang="en-US" sz="1200" kern="1200" dirty="0" smtClean="0">
                <a:solidFill>
                  <a:schemeClr val="tx1"/>
                </a:solidFill>
                <a:effectLst/>
                <a:latin typeface="+mn-lt"/>
                <a:ea typeface="+mn-ea"/>
                <a:cs typeface="+mn-cs"/>
              </a:rPr>
              <a:t>But I can see my brief history is already getting too long.  So I'll fast-forward a bit.</a:t>
            </a:r>
          </a:p>
          <a:p>
            <a:r>
              <a:rPr lang="en-US" sz="1200" b="1" kern="1200" dirty="0" smtClean="0">
                <a:solidFill>
                  <a:schemeClr val="tx1"/>
                </a:solidFill>
                <a:effectLst/>
                <a:latin typeface="+mn-lt"/>
                <a:ea typeface="+mn-ea"/>
                <a:cs typeface="+mn-cs"/>
              </a:rPr>
              <a:t>TCP/IP</a:t>
            </a:r>
          </a:p>
          <a:p>
            <a:r>
              <a:rPr lang="en-US" sz="1200" kern="1200" dirty="0" smtClean="0">
                <a:solidFill>
                  <a:schemeClr val="tx1"/>
                </a:solidFill>
                <a:effectLst/>
                <a:latin typeface="+mn-lt"/>
                <a:ea typeface="+mn-ea"/>
                <a:cs typeface="+mn-cs"/>
              </a:rPr>
              <a:t>TCP/IP was invented in 1982 - it's the standard protocol for packet switching although there were competing standards including one from Microsoft called NetBEUI and another from Novell NetWare called IPX - which some early networked games used because it was faster and more efficient, but not as fault tolerant.</a:t>
            </a:r>
          </a:p>
          <a:p>
            <a:r>
              <a:rPr lang="en-US" sz="1200" kern="1200" dirty="0" smtClean="0">
                <a:solidFill>
                  <a:schemeClr val="tx1"/>
                </a:solidFill>
                <a:effectLst/>
                <a:latin typeface="+mn-lt"/>
                <a:ea typeface="+mn-ea"/>
                <a:cs typeface="+mn-cs"/>
              </a:rPr>
              <a:t>Back in the days of Windows 95 and 98 you had to select which protocol you wanted to use when setting up your network connection.</a:t>
            </a:r>
          </a:p>
          <a:p>
            <a:r>
              <a:rPr lang="en-US" sz="1200" kern="1200" dirty="0" smtClean="0">
                <a:solidFill>
                  <a:schemeClr val="tx1"/>
                </a:solidFill>
                <a:effectLst/>
                <a:latin typeface="+mn-lt"/>
                <a:ea typeface="+mn-ea"/>
                <a:cs typeface="+mn-cs"/>
              </a:rPr>
              <a:t>NetBEUI and IPX were proprietary so TCP/IP (which was older) won the day.</a:t>
            </a:r>
          </a:p>
          <a:p>
            <a:r>
              <a:rPr lang="en-US" sz="1200" kern="1200" dirty="0" smtClean="0">
                <a:solidFill>
                  <a:schemeClr val="tx1"/>
                </a:solidFill>
                <a:effectLst/>
                <a:latin typeface="+mn-lt"/>
                <a:ea typeface="+mn-ea"/>
                <a:cs typeface="+mn-cs"/>
              </a:rPr>
              <a:t>We'll talk about TCP/IP and network routing in more detail in a minute.</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468E330-6F11-4EB8-9125-0BEE82D16730}"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b="1" kern="1200" dirty="0" smtClean="0">
                <a:solidFill>
                  <a:schemeClr val="tx1"/>
                </a:solidFill>
                <a:effectLst/>
                <a:latin typeface="+mn-lt"/>
                <a:ea typeface="+mn-ea"/>
                <a:cs typeface="+mn-cs"/>
              </a:rPr>
              <a:t>Dial up Networks</a:t>
            </a:r>
          </a:p>
          <a:p>
            <a:r>
              <a:rPr lang="en-US" sz="1200" kern="1200" dirty="0" smtClean="0">
                <a:solidFill>
                  <a:schemeClr val="tx1"/>
                </a:solidFill>
                <a:effectLst/>
                <a:latin typeface="+mn-lt"/>
                <a:ea typeface="+mn-ea"/>
                <a:cs typeface="+mn-cs"/>
              </a:rPr>
              <a:t>Throughout the 1980s the internet was mainly used by the government and researchers at universities, and still under the aegis of ARPA.  It was prohibited from being used for commercial, private activity.</a:t>
            </a:r>
          </a:p>
          <a:p>
            <a:r>
              <a:rPr lang="en-US" sz="1200" kern="1200" dirty="0" smtClean="0">
                <a:solidFill>
                  <a:schemeClr val="tx1"/>
                </a:solidFill>
                <a:effectLst/>
                <a:latin typeface="+mn-lt"/>
                <a:ea typeface="+mn-ea"/>
                <a:cs typeface="+mn-cs"/>
              </a:rPr>
              <a:t>But a number of private networks sprang up including Prodigy and </a:t>
            </a:r>
            <a:r>
              <a:rPr lang="en-US" sz="1200" kern="1200" dirty="0" err="1" smtClean="0">
                <a:solidFill>
                  <a:schemeClr val="tx1"/>
                </a:solidFill>
                <a:effectLst/>
                <a:latin typeface="+mn-lt"/>
                <a:ea typeface="+mn-ea"/>
                <a:cs typeface="+mn-cs"/>
              </a:rPr>
              <a:t>CompuServ</a:t>
            </a:r>
            <a:r>
              <a:rPr lang="en-US" sz="1200" kern="1200" dirty="0" smtClean="0">
                <a:solidFill>
                  <a:schemeClr val="tx1"/>
                </a:solidFill>
                <a:effectLst/>
                <a:latin typeface="+mn-lt"/>
                <a:ea typeface="+mn-ea"/>
                <a:cs typeface="+mn-cs"/>
              </a:rPr>
              <a:t>.  You could use a phone cradled into a modem that converted audio signals into digital packets.   The term "modem" refers to this:  Modulator/Demodulator.</a:t>
            </a:r>
          </a:p>
          <a:p>
            <a:r>
              <a:rPr lang="en-US" sz="1200" kern="1200" dirty="0" smtClean="0">
                <a:solidFill>
                  <a:schemeClr val="tx1"/>
                </a:solidFill>
                <a:effectLst/>
                <a:latin typeface="+mn-lt"/>
                <a:ea typeface="+mn-ea"/>
                <a:cs typeface="+mn-cs"/>
              </a:rPr>
              <a:t>You could download files and even play interactive text-based games over 300 baud -- or when the modem was built in and didn't have to rely on audio reception, a blazing fast 1200 baud, and eventually up to 56K (theoretically) before DSL and cable networks with high bandwidth trunk lines connecting multiple networks with multiple routers.</a:t>
            </a:r>
          </a:p>
          <a:p>
            <a:r>
              <a:rPr lang="en-US" sz="1200" b="1" kern="1200" dirty="0" smtClean="0">
                <a:solidFill>
                  <a:schemeClr val="tx1"/>
                </a:solidFill>
                <a:effectLst/>
                <a:latin typeface="+mn-lt"/>
                <a:ea typeface="+mn-ea"/>
                <a:cs typeface="+mn-cs"/>
              </a:rPr>
              <a:t>America Online</a:t>
            </a:r>
          </a:p>
          <a:p>
            <a:r>
              <a:rPr lang="en-US" sz="1200" kern="1200" dirty="0" smtClean="0">
                <a:solidFill>
                  <a:schemeClr val="tx1"/>
                </a:solidFill>
                <a:effectLst/>
                <a:latin typeface="+mn-lt"/>
                <a:ea typeface="+mn-ea"/>
                <a:cs typeface="+mn-cs"/>
              </a:rPr>
              <a:t>In 1991 the ban from commercial activity on the internet was lifted, and AOL came on the scene about the same time.</a:t>
            </a:r>
          </a:p>
          <a:p>
            <a:r>
              <a:rPr lang="en-US" sz="1200" kern="1200" dirty="0" smtClean="0">
                <a:solidFill>
                  <a:schemeClr val="tx1"/>
                </a:solidFill>
                <a:effectLst/>
                <a:latin typeface="+mn-lt"/>
                <a:ea typeface="+mn-ea"/>
                <a:cs typeface="+mn-cs"/>
              </a:rPr>
              <a:t>Does anyone remember the disks they sent over the mail for free to sign up?</a:t>
            </a:r>
          </a:p>
          <a:p>
            <a:r>
              <a:rPr lang="en-US" sz="1200" kern="1200" dirty="0" smtClean="0">
                <a:solidFill>
                  <a:schemeClr val="tx1"/>
                </a:solidFill>
                <a:effectLst/>
                <a:latin typeface="+mn-lt"/>
                <a:ea typeface="+mn-ea"/>
                <a:cs typeface="+mn-cs"/>
              </a:rPr>
              <a:t>To save bandwidth and make the experience flashier, AOL sent people some apps including a document reader, file download, image viewer, and text chat, along with some canned images for icons and animation onto disks to sign up for their dial-up service where you paid by the hour.  If you didn't have a local dial-up number you'd also have to pay long distance charges for your telephone.</a:t>
            </a:r>
          </a:p>
          <a:p>
            <a:r>
              <a:rPr lang="en-US" sz="1200" b="1" kern="1200" dirty="0" smtClean="0">
                <a:solidFill>
                  <a:schemeClr val="tx1"/>
                </a:solidFill>
                <a:effectLst/>
                <a:latin typeface="+mn-lt"/>
                <a:ea typeface="+mn-ea"/>
                <a:cs typeface="+mn-cs"/>
              </a:rPr>
              <a:t>The World Wide Web</a:t>
            </a:r>
          </a:p>
          <a:p>
            <a:r>
              <a:rPr lang="en-US" sz="1200" kern="1200" dirty="0" smtClean="0">
                <a:solidFill>
                  <a:schemeClr val="tx1"/>
                </a:solidFill>
                <a:effectLst/>
                <a:latin typeface="+mn-lt"/>
                <a:ea typeface="+mn-ea"/>
                <a:cs typeface="+mn-cs"/>
              </a:rPr>
              <a:t>Meanwhile, Tim Berners-Lee over at CERN (which is French for Center for European Research Nuclear) in Switzerland was developing an application he called the "World Wide Web" which used "Hypertext" to link together documents, images, and other media.  </a:t>
            </a:r>
          </a:p>
          <a:p>
            <a:r>
              <a:rPr lang="en-US" sz="1200" kern="1200" dirty="0" smtClean="0">
                <a:solidFill>
                  <a:schemeClr val="tx1"/>
                </a:solidFill>
                <a:effectLst/>
                <a:latin typeface="+mn-lt"/>
                <a:ea typeface="+mn-ea"/>
                <a:cs typeface="+mn-cs"/>
              </a:rPr>
              <a:t>He wrote the first browser which allowed people to click on hypertext links and download documents from different computers on the internet into the same interface.</a:t>
            </a:r>
          </a:p>
          <a:p>
            <a:r>
              <a:rPr lang="en-US" sz="1200" kern="1200" dirty="0" smtClean="0">
                <a:solidFill>
                  <a:schemeClr val="tx1"/>
                </a:solidFill>
                <a:effectLst/>
                <a:latin typeface="+mn-lt"/>
                <a:ea typeface="+mn-ea"/>
                <a:cs typeface="+mn-cs"/>
              </a:rPr>
              <a:t>He also developed the foundation of the tools we use today, including the Hypertext Transfer Protocol (HTTP), the Hypertext Markup Language (HTML) and a system of globally unique identifiers for resources that he called the UDI (universal document identifier) that we now call a URL (uniform resource locators) or URI (uniform resource identifier).</a:t>
            </a:r>
          </a:p>
          <a:p>
            <a:r>
              <a:rPr lang="en-US" sz="1200" b="1" kern="1200" dirty="0" smtClean="0">
                <a:solidFill>
                  <a:schemeClr val="tx1"/>
                </a:solidFill>
                <a:effectLst/>
                <a:latin typeface="+mn-lt"/>
                <a:ea typeface="+mn-ea"/>
                <a:cs typeface="+mn-cs"/>
              </a:rPr>
              <a:t>Mosaic and Netscape</a:t>
            </a:r>
          </a:p>
          <a:p>
            <a:r>
              <a:rPr lang="en-US" sz="1200" kern="1200" dirty="0" smtClean="0">
                <a:solidFill>
                  <a:schemeClr val="tx1"/>
                </a:solidFill>
                <a:effectLst/>
                <a:latin typeface="+mn-lt"/>
                <a:ea typeface="+mn-ea"/>
                <a:cs typeface="+mn-cs"/>
              </a:rPr>
              <a:t>From Berners-Lee's first browser, Marc Andreessen developed the Mosaic Browser at the NCSA (at the University of Illinois.) Along with HTTP, Mosaic supported other protocols like FTP (File Transfer Protocol) NNTP (Network News Transfer Protocol) and Gopher - which was a hierarchical menu based way of navigating the web -- as opposed to the free linking of HTML.</a:t>
            </a:r>
          </a:p>
          <a:p>
            <a:r>
              <a:rPr lang="en-US" sz="1200" kern="1200" dirty="0" smtClean="0">
                <a:solidFill>
                  <a:schemeClr val="tx1"/>
                </a:solidFill>
                <a:effectLst/>
                <a:latin typeface="+mn-lt"/>
                <a:ea typeface="+mn-ea"/>
                <a:cs typeface="+mn-cs"/>
              </a:rPr>
              <a:t>Mosaic could actually embed images with text, and it quickly became a success.  Marc Andreessen left the university and moved to Silicon Valley to found Netscape.</a:t>
            </a:r>
          </a:p>
          <a:p>
            <a:r>
              <a:rPr lang="en-US" sz="1200" i="1" kern="1200" dirty="0" smtClean="0">
                <a:solidFill>
                  <a:schemeClr val="tx1"/>
                </a:solidFill>
                <a:effectLst/>
                <a:latin typeface="+mn-lt"/>
                <a:ea typeface="+mn-ea"/>
                <a:cs typeface="+mn-cs"/>
              </a:rPr>
              <a:t>(which is a company some of you old timers might remember.)</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Netscape expanded the browser and HTML with such innovations as the &lt;blink&gt; tag and JavaScript.</a:t>
            </a:r>
          </a:p>
          <a:p>
            <a:r>
              <a:rPr lang="en-US" sz="1200" kern="1200" dirty="0" smtClean="0">
                <a:solidFill>
                  <a:schemeClr val="tx1"/>
                </a:solidFill>
                <a:effectLst/>
                <a:latin typeface="+mn-lt"/>
                <a:ea typeface="+mn-ea"/>
                <a:cs typeface="+mn-cs"/>
              </a:rPr>
              <a:t>JavaScript was created (and named) as a stopgap because Java Applets were not available in time for Netscape 2.0</a:t>
            </a:r>
          </a:p>
          <a:p>
            <a:r>
              <a:rPr lang="en-US" sz="1200" kern="1200" dirty="0" smtClean="0">
                <a:solidFill>
                  <a:schemeClr val="tx1"/>
                </a:solidFill>
                <a:effectLst/>
                <a:latin typeface="+mn-lt"/>
                <a:ea typeface="+mn-ea"/>
                <a:cs typeface="+mn-cs"/>
              </a:rPr>
              <a:t>More on that later.  </a:t>
            </a:r>
          </a:p>
          <a:p>
            <a:r>
              <a:rPr lang="en-US" sz="1200" kern="1200" dirty="0" smtClean="0">
                <a:solidFill>
                  <a:schemeClr val="tx1"/>
                </a:solidFill>
                <a:effectLst/>
                <a:latin typeface="+mn-lt"/>
                <a:ea typeface="+mn-ea"/>
                <a:cs typeface="+mn-cs"/>
              </a:rPr>
              <a:t>Applets were network transferred applications designed to provide more functionality than was then available with HTML markup, specifically animations.</a:t>
            </a:r>
          </a:p>
          <a:p>
            <a:r>
              <a:rPr lang="en-US" sz="1200" kern="1200" dirty="0" smtClean="0">
                <a:solidFill>
                  <a:schemeClr val="tx1"/>
                </a:solidFill>
                <a:effectLst/>
                <a:latin typeface="+mn-lt"/>
                <a:ea typeface="+mn-ea"/>
                <a:cs typeface="+mn-cs"/>
              </a:rPr>
              <a:t>That about brings us up to recent history, and most of the pieces of the web as we know it were in place by about 1995, although there has been plenty of innovation and wrong turns and dead ends in the past 18 years or so.  Much of what has been further developed is really just clever ways of combining the underlying technologies.</a:t>
            </a:r>
          </a:p>
          <a:p>
            <a:r>
              <a:rPr lang="en-US" sz="1200" kern="1200" dirty="0" smtClean="0">
                <a:solidFill>
                  <a:schemeClr val="tx1"/>
                </a:solidFill>
                <a:effectLst/>
                <a:latin typeface="+mn-lt"/>
                <a:ea typeface="+mn-ea"/>
                <a:cs typeface="+mn-cs"/>
              </a:rPr>
              <a:t>But let's go into a little more detail about the building blocks.  I'll start by describing how networks work, specifically TCP/IP and routing with DNS.</a:t>
            </a:r>
          </a:p>
          <a:p>
            <a:r>
              <a:rPr lang="en-US" sz="1200" kern="1200" dirty="0" smtClean="0">
                <a:solidFill>
                  <a:schemeClr val="tx1"/>
                </a:solidFill>
                <a:effectLst/>
                <a:latin typeface="+mn-lt"/>
                <a:ea typeface="+mn-ea"/>
                <a:cs typeface="+mn-cs"/>
              </a:rPr>
              <a:t>Then describe web architectures and how communication works between the browser and web server using HTTP, and talk in more detail about HTML, JavaScript, and all the other goodies that go into modern web apps.</a:t>
            </a:r>
          </a:p>
          <a:p>
            <a:endParaRPr lang="en-US" baseline="0" dirty="0" smtClean="0"/>
          </a:p>
        </p:txBody>
      </p:sp>
      <p:sp>
        <p:nvSpPr>
          <p:cNvPr id="4" name="Slide Number Placeholder 3"/>
          <p:cNvSpPr>
            <a:spLocks noGrp="1"/>
          </p:cNvSpPr>
          <p:nvPr>
            <p:ph type="sldNum" sz="quarter" idx="10"/>
          </p:nvPr>
        </p:nvSpPr>
        <p:spPr/>
        <p:txBody>
          <a:bodyPr/>
          <a:lstStyle/>
          <a:p>
            <a:fld id="{2468E330-6F11-4EB8-9125-0BEE82D16730}"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US" baseline="0" dirty="0" smtClean="0"/>
          </a:p>
        </p:txBody>
      </p:sp>
      <p:sp>
        <p:nvSpPr>
          <p:cNvPr id="4" name="Slide Number Placeholder 3"/>
          <p:cNvSpPr>
            <a:spLocks noGrp="1"/>
          </p:cNvSpPr>
          <p:nvPr>
            <p:ph type="sldNum" sz="quarter" idx="10"/>
          </p:nvPr>
        </p:nvSpPr>
        <p:spPr/>
        <p:txBody>
          <a:bodyPr/>
          <a:lstStyle/>
          <a:p>
            <a:fld id="{2468E330-6F11-4EB8-9125-0BEE82D16730}"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lvl="0"/>
            <a:r>
              <a:rPr lang="en-US" sz="1200" kern="1200" dirty="0" smtClean="0">
                <a:solidFill>
                  <a:schemeClr val="tx1"/>
                </a:solidFill>
                <a:latin typeface="+mn-lt"/>
                <a:ea typeface="+mn-ea"/>
                <a:cs typeface="+mn-cs"/>
              </a:rPr>
              <a:t>The</a:t>
            </a:r>
            <a:r>
              <a:rPr lang="en-US" sz="1200" kern="1200" baseline="0" dirty="0" smtClean="0">
                <a:solidFill>
                  <a:schemeClr val="tx1"/>
                </a:solidFill>
                <a:latin typeface="+mn-lt"/>
                <a:ea typeface="+mn-ea"/>
                <a:cs typeface="+mn-cs"/>
              </a:rPr>
              <a:t> OSI model is a standard that was developed by a committee called </a:t>
            </a:r>
          </a:p>
          <a:p>
            <a:pPr lvl="0"/>
            <a:endParaRPr lang="en-US" sz="1200" kern="1200" baseline="0" dirty="0" smtClean="0">
              <a:solidFill>
                <a:schemeClr val="tx1"/>
              </a:solidFill>
              <a:latin typeface="+mn-lt"/>
              <a:ea typeface="+mn-ea"/>
              <a:cs typeface="+mn-cs"/>
            </a:endParaRPr>
          </a:p>
          <a:p>
            <a:pPr lvl="0"/>
            <a:r>
              <a:rPr lang="en-US" sz="1200" kern="1200" baseline="0" dirty="0" smtClean="0">
                <a:solidFill>
                  <a:schemeClr val="tx1"/>
                </a:solidFill>
                <a:latin typeface="+mn-lt"/>
                <a:ea typeface="+mn-ea"/>
                <a:cs typeface="+mn-cs"/>
              </a:rPr>
              <a:t>It describes 7 layers of communication over a network, from the hardware to the application.</a:t>
            </a:r>
          </a:p>
          <a:p>
            <a:pPr lvl="0"/>
            <a:endParaRPr lang="en-US" sz="1200" kern="1200" baseline="0" dirty="0" smtClean="0">
              <a:solidFill>
                <a:schemeClr val="tx1"/>
              </a:solidFill>
              <a:latin typeface="+mn-lt"/>
              <a:ea typeface="+mn-ea"/>
              <a:cs typeface="+mn-cs"/>
            </a:endParaRPr>
          </a:p>
          <a:p>
            <a:pPr lvl="0"/>
            <a:r>
              <a:rPr lang="en-US" sz="1200" kern="1200" baseline="0" dirty="0" smtClean="0">
                <a:solidFill>
                  <a:schemeClr val="tx1"/>
                </a:solidFill>
                <a:latin typeface="+mn-lt"/>
                <a:ea typeface="+mn-ea"/>
                <a:cs typeface="+mn-cs"/>
              </a:rPr>
              <a:t>The physical layer is at the bottom.  It describes the electrical and physical specifications for devices.</a:t>
            </a:r>
          </a:p>
          <a:p>
            <a:pPr lvl="0"/>
            <a:r>
              <a:rPr lang="en-US" sz="1200" kern="1200" baseline="0" dirty="0" smtClean="0">
                <a:solidFill>
                  <a:schemeClr val="tx1"/>
                </a:solidFill>
                <a:latin typeface="+mn-lt"/>
                <a:ea typeface="+mn-ea"/>
                <a:cs typeface="+mn-cs"/>
              </a:rPr>
              <a:t>It establishes and terminates a connection</a:t>
            </a:r>
          </a:p>
          <a:p>
            <a:pPr lvl="0"/>
            <a:r>
              <a:rPr lang="en-US" sz="1200" kern="1200" baseline="0" dirty="0" smtClean="0">
                <a:solidFill>
                  <a:schemeClr val="tx1"/>
                </a:solidFill>
                <a:latin typeface="+mn-lt"/>
                <a:ea typeface="+mn-ea"/>
                <a:cs typeface="+mn-cs"/>
              </a:rPr>
              <a:t>It handles things like modulation (like AM/FM radios) and conversion from analog to digital (via modem.)</a:t>
            </a:r>
          </a:p>
          <a:p>
            <a:pPr lvl="0"/>
            <a:r>
              <a:rPr lang="en-US" sz="1200" kern="1200" baseline="0" dirty="0" smtClean="0">
                <a:solidFill>
                  <a:schemeClr val="tx1"/>
                </a:solidFill>
                <a:latin typeface="+mn-lt"/>
                <a:ea typeface="+mn-ea"/>
                <a:cs typeface="+mn-cs"/>
              </a:rPr>
              <a:t>In Morse code this would be the tapping switch and the receiving buzzer.</a:t>
            </a:r>
          </a:p>
          <a:p>
            <a:pPr lvl="0"/>
            <a:endParaRPr lang="en-US" sz="1200" kern="1200" baseline="0" dirty="0" smtClean="0">
              <a:solidFill>
                <a:schemeClr val="tx1"/>
              </a:solidFill>
              <a:latin typeface="+mn-lt"/>
              <a:ea typeface="+mn-ea"/>
              <a:cs typeface="+mn-cs"/>
            </a:endParaRPr>
          </a:p>
          <a:p>
            <a:pPr lvl="0"/>
            <a:r>
              <a:rPr lang="en-US" sz="1200" kern="1200" baseline="0" dirty="0" smtClean="0">
                <a:solidFill>
                  <a:schemeClr val="tx1"/>
                </a:solidFill>
                <a:latin typeface="+mn-lt"/>
                <a:ea typeface="+mn-ea"/>
                <a:cs typeface="+mn-cs"/>
              </a:rPr>
              <a:t>The data link layer describes how the process for transferring data between systems on the network.</a:t>
            </a:r>
          </a:p>
          <a:p>
            <a:pPr lvl="0"/>
            <a:r>
              <a:rPr lang="en-US" sz="1200" kern="1200" baseline="0" dirty="0" smtClean="0">
                <a:solidFill>
                  <a:schemeClr val="tx1"/>
                </a:solidFill>
                <a:latin typeface="+mn-lt"/>
                <a:ea typeface="+mn-ea"/>
                <a:cs typeface="+mn-cs"/>
              </a:rPr>
              <a:t>In practice, this is usually just used for error correction.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smtClean="0">
                <a:solidFill>
                  <a:schemeClr val="tx1"/>
                </a:solidFill>
                <a:latin typeface="+mn-lt"/>
                <a:ea typeface="+mn-ea"/>
                <a:cs typeface="+mn-cs"/>
              </a:rPr>
              <a:t>PPP (Point to Point protocol) is at this layer</a:t>
            </a:r>
          </a:p>
          <a:p>
            <a:pPr lvl="0"/>
            <a:r>
              <a:rPr lang="en-US" sz="1200" kern="1200" baseline="0" dirty="0" smtClean="0">
                <a:solidFill>
                  <a:schemeClr val="tx1"/>
                </a:solidFill>
                <a:latin typeface="+mn-lt"/>
                <a:ea typeface="+mn-ea"/>
                <a:cs typeface="+mn-cs"/>
              </a:rPr>
              <a:t>MAC Address broadcast is also at this layer.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smtClean="0">
                <a:solidFill>
                  <a:schemeClr val="tx1"/>
                </a:solidFill>
                <a:latin typeface="+mn-lt"/>
                <a:ea typeface="+mn-ea"/>
                <a:cs typeface="+mn-cs"/>
              </a:rPr>
              <a:t>If it were Morse code, this would mean the electrical signals that sends the beeps over the wire</a:t>
            </a:r>
          </a:p>
          <a:p>
            <a:pPr lvl="0"/>
            <a:endParaRPr lang="en-US" sz="1200" kern="1200" baseline="0" dirty="0" smtClean="0">
              <a:solidFill>
                <a:schemeClr val="tx1"/>
              </a:solidFill>
              <a:latin typeface="+mn-lt"/>
              <a:ea typeface="+mn-ea"/>
              <a:cs typeface="+mn-cs"/>
            </a:endParaRPr>
          </a:p>
          <a:p>
            <a:pPr lvl="0"/>
            <a:r>
              <a:rPr lang="en-US" sz="1200" kern="1200" baseline="0" dirty="0" smtClean="0">
                <a:solidFill>
                  <a:schemeClr val="tx1"/>
                </a:solidFill>
                <a:latin typeface="+mn-lt"/>
                <a:ea typeface="+mn-ea"/>
                <a:cs typeface="+mn-cs"/>
              </a:rPr>
              <a:t>The network layer describes how messages are sent.</a:t>
            </a:r>
          </a:p>
          <a:p>
            <a:pPr lvl="0"/>
            <a:r>
              <a:rPr lang="en-US" sz="1200" kern="1200" baseline="0" dirty="0" smtClean="0">
                <a:solidFill>
                  <a:schemeClr val="tx1"/>
                </a:solidFill>
                <a:latin typeface="+mn-lt"/>
                <a:ea typeface="+mn-ea"/>
                <a:cs typeface="+mn-cs"/>
              </a:rPr>
              <a:t>Routers operate at this level.</a:t>
            </a:r>
          </a:p>
          <a:p>
            <a:pPr lvl="0"/>
            <a:r>
              <a:rPr lang="en-US" sz="1200" kern="1200" baseline="0" dirty="0" smtClean="0">
                <a:solidFill>
                  <a:schemeClr val="tx1"/>
                </a:solidFill>
                <a:latin typeface="+mn-lt"/>
                <a:ea typeface="+mn-ea"/>
                <a:cs typeface="+mn-cs"/>
              </a:rPr>
              <a:t>In our Morse code example this doesn’t have a direct correlation because Norse code is sent over a single wire (or frequency)</a:t>
            </a:r>
          </a:p>
          <a:p>
            <a:pPr lvl="0"/>
            <a:endParaRPr lang="en-US" sz="1200" kern="1200" baseline="0" dirty="0" smtClean="0">
              <a:solidFill>
                <a:schemeClr val="tx1"/>
              </a:solidFill>
              <a:latin typeface="+mn-lt"/>
              <a:ea typeface="+mn-ea"/>
              <a:cs typeface="+mn-cs"/>
            </a:endParaRPr>
          </a:p>
          <a:p>
            <a:pPr lvl="0"/>
            <a:r>
              <a:rPr lang="en-US" sz="1200" kern="1200" baseline="0" dirty="0" smtClean="0">
                <a:solidFill>
                  <a:schemeClr val="tx1"/>
                </a:solidFill>
                <a:latin typeface="+mn-lt"/>
                <a:ea typeface="+mn-ea"/>
                <a:cs typeface="+mn-cs"/>
              </a:rPr>
              <a:t>The transport layer describes how packets are sent</a:t>
            </a:r>
          </a:p>
          <a:p>
            <a:pPr lvl="0"/>
            <a:r>
              <a:rPr lang="en-US" sz="1200" kern="1200" baseline="0" dirty="0" smtClean="0">
                <a:solidFill>
                  <a:schemeClr val="tx1"/>
                </a:solidFill>
                <a:latin typeface="+mn-lt"/>
                <a:ea typeface="+mn-ea"/>
                <a:cs typeface="+mn-cs"/>
              </a:rPr>
              <a:t>In Morse code this would describe the short and long signals.</a:t>
            </a:r>
          </a:p>
          <a:p>
            <a:pPr lvl="0"/>
            <a:r>
              <a:rPr lang="en-US" sz="1200" kern="1200" baseline="0" dirty="0" smtClean="0">
                <a:solidFill>
                  <a:schemeClr val="tx1"/>
                </a:solidFill>
                <a:latin typeface="+mn-lt"/>
                <a:ea typeface="+mn-ea"/>
                <a:cs typeface="+mn-cs"/>
              </a:rPr>
              <a:t>TCP/IP lives at this level.</a:t>
            </a:r>
          </a:p>
          <a:p>
            <a:pPr lvl="0"/>
            <a:r>
              <a:rPr lang="en-US" sz="1200" kern="1200" baseline="0" dirty="0" smtClean="0">
                <a:solidFill>
                  <a:schemeClr val="tx1"/>
                </a:solidFill>
                <a:latin typeface="+mn-lt"/>
                <a:ea typeface="+mn-ea"/>
                <a:cs typeface="+mn-cs"/>
              </a:rPr>
              <a:t> </a:t>
            </a:r>
            <a:endParaRPr lang="en-US" sz="1200" kern="1200" dirty="0" smtClean="0">
              <a:solidFill>
                <a:schemeClr val="tx1"/>
              </a:solidFill>
              <a:latin typeface="+mn-lt"/>
              <a:ea typeface="+mn-ea"/>
              <a:cs typeface="+mn-cs"/>
            </a:endParaRPr>
          </a:p>
          <a:p>
            <a:r>
              <a:rPr lang="en-US" baseline="0" dirty="0" smtClean="0"/>
              <a:t>The session layer controls the connections between </a:t>
            </a:r>
            <a:r>
              <a:rPr lang="en-US" baseline="0" dirty="0" err="1" smtClean="0"/>
              <a:t>comptuers</a:t>
            </a:r>
            <a:r>
              <a:rPr lang="en-US" baseline="0" dirty="0" smtClean="0"/>
              <a:t>.  It establishes, maintains, and terminates the connection.  </a:t>
            </a:r>
          </a:p>
          <a:p>
            <a:r>
              <a:rPr lang="en-US" baseline="0" dirty="0" smtClean="0"/>
              <a:t>The carrier signal and </a:t>
            </a:r>
            <a:r>
              <a:rPr lang="en-US" baseline="0" dirty="0" err="1" smtClean="0"/>
              <a:t>hangup</a:t>
            </a:r>
            <a:r>
              <a:rPr lang="en-US" baseline="0" dirty="0" smtClean="0"/>
              <a:t> for a phone are roughly at this layer.</a:t>
            </a:r>
            <a:br>
              <a:rPr lang="en-US" baseline="0" dirty="0" smtClean="0"/>
            </a:br>
            <a:r>
              <a:rPr lang="en-US" baseline="0" dirty="0" smtClean="0"/>
              <a:t>When you get “the remote connection has terminated” that’s a closed session.</a:t>
            </a:r>
          </a:p>
          <a:p>
            <a:endParaRPr lang="en-US" baseline="0" dirty="0" smtClean="0"/>
          </a:p>
          <a:p>
            <a:r>
              <a:rPr lang="en-US" baseline="0" dirty="0" smtClean="0"/>
              <a:t>The application layer is closest to the user, but it’s not really that close.</a:t>
            </a:r>
          </a:p>
          <a:p>
            <a:r>
              <a:rPr lang="en-US" baseline="0" dirty="0" smtClean="0"/>
              <a:t>This is things like HTTP, FTP, TELNET SMTP protocols.</a:t>
            </a:r>
          </a:p>
        </p:txBody>
      </p:sp>
      <p:sp>
        <p:nvSpPr>
          <p:cNvPr id="4" name="Slide Number Placeholder 3"/>
          <p:cNvSpPr>
            <a:spLocks noGrp="1"/>
          </p:cNvSpPr>
          <p:nvPr>
            <p:ph type="sldNum" sz="quarter" idx="10"/>
          </p:nvPr>
        </p:nvSpPr>
        <p:spPr/>
        <p:txBody>
          <a:bodyPr/>
          <a:lstStyle/>
          <a:p>
            <a:fld id="{2468E330-6F11-4EB8-9125-0BEE82D16730}"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aseline="0" dirty="0" smtClean="0"/>
              <a:t>But the OSI layer isn’t really practical.  The internet, in practice, uses a much simpler model.</a:t>
            </a:r>
          </a:p>
          <a:p>
            <a:endParaRPr lang="en-US" baseline="0" dirty="0" smtClean="0"/>
          </a:p>
          <a:p>
            <a:pPr lvl="0"/>
            <a:r>
              <a:rPr lang="en-US" sz="1200" kern="1200" dirty="0" smtClean="0">
                <a:solidFill>
                  <a:schemeClr val="tx1"/>
                </a:solidFill>
                <a:latin typeface="+mn-lt"/>
                <a:ea typeface="+mn-ea"/>
                <a:cs typeface="+mn-cs"/>
              </a:rPr>
              <a:t>TCP/IP describes</a:t>
            </a:r>
            <a:r>
              <a:rPr lang="en-US" sz="1200" kern="1200" baseline="0" dirty="0" smtClean="0">
                <a:solidFill>
                  <a:schemeClr val="tx1"/>
                </a:solidFill>
                <a:latin typeface="+mn-lt"/>
                <a:ea typeface="+mn-ea"/>
                <a:cs typeface="+mn-cs"/>
              </a:rPr>
              <a:t> a simpler model the </a:t>
            </a:r>
            <a:r>
              <a:rPr lang="en-US" sz="1200" kern="1200" baseline="0" dirty="0" err="1" smtClean="0">
                <a:solidFill>
                  <a:schemeClr val="tx1"/>
                </a:solidFill>
                <a:latin typeface="+mn-lt"/>
                <a:ea typeface="+mn-ea"/>
                <a:cs typeface="+mn-cs"/>
              </a:rPr>
              <a:t>the</a:t>
            </a:r>
            <a:r>
              <a:rPr lang="en-US" sz="1200" kern="1200" baseline="0" dirty="0" smtClean="0">
                <a:solidFill>
                  <a:schemeClr val="tx1"/>
                </a:solidFill>
                <a:latin typeface="+mn-lt"/>
                <a:ea typeface="+mn-ea"/>
                <a:cs typeface="+mn-cs"/>
              </a:rPr>
              <a:t> OSI, which was, after all designed by a committee.</a:t>
            </a:r>
          </a:p>
          <a:p>
            <a:pPr lvl="0"/>
            <a:endParaRPr lang="en-US" sz="1200" kern="1200" baseline="0" dirty="0" smtClean="0">
              <a:solidFill>
                <a:schemeClr val="tx1"/>
              </a:solidFill>
              <a:latin typeface="+mn-lt"/>
              <a:ea typeface="+mn-ea"/>
              <a:cs typeface="+mn-cs"/>
            </a:endParaRPr>
          </a:p>
          <a:p>
            <a:pPr lvl="0"/>
            <a:r>
              <a:rPr lang="en-US" sz="1200" kern="1200" baseline="0" dirty="0" smtClean="0">
                <a:solidFill>
                  <a:schemeClr val="tx1"/>
                </a:solidFill>
                <a:latin typeface="+mn-lt"/>
                <a:ea typeface="+mn-ea"/>
                <a:cs typeface="+mn-cs"/>
              </a:rPr>
              <a:t>The link layer is for communication on a local network.</a:t>
            </a:r>
          </a:p>
          <a:p>
            <a:pPr lvl="0"/>
            <a:r>
              <a:rPr lang="en-US" sz="1200" kern="1200" baseline="0" dirty="0" smtClean="0">
                <a:solidFill>
                  <a:schemeClr val="tx1"/>
                </a:solidFill>
                <a:latin typeface="+mn-lt"/>
                <a:ea typeface="+mn-ea"/>
                <a:cs typeface="+mn-cs"/>
              </a:rPr>
              <a:t>Ethernet lives at this layer .  </a:t>
            </a:r>
          </a:p>
          <a:p>
            <a:pPr lvl="0"/>
            <a:endParaRPr lang="en-US" sz="1200" kern="1200" baseline="0" dirty="0" smtClean="0">
              <a:solidFill>
                <a:schemeClr val="tx1"/>
              </a:solidFill>
              <a:latin typeface="+mn-lt"/>
              <a:ea typeface="+mn-ea"/>
              <a:cs typeface="+mn-cs"/>
            </a:endParaRPr>
          </a:p>
          <a:p>
            <a:pPr lvl="0"/>
            <a:r>
              <a:rPr lang="en-US" sz="1200" kern="1200" baseline="0" dirty="0" smtClean="0">
                <a:solidFill>
                  <a:schemeClr val="tx1"/>
                </a:solidFill>
                <a:latin typeface="+mn-lt"/>
                <a:ea typeface="+mn-ea"/>
                <a:cs typeface="+mn-cs"/>
              </a:rPr>
              <a:t>The internet layer connects networks creating an internetwork.</a:t>
            </a:r>
          </a:p>
          <a:p>
            <a:pPr lvl="0"/>
            <a:r>
              <a:rPr lang="en-US" sz="1200" kern="1200" baseline="0" dirty="0" smtClean="0">
                <a:solidFill>
                  <a:schemeClr val="tx1"/>
                </a:solidFill>
                <a:latin typeface="+mn-lt"/>
                <a:ea typeface="+mn-ea"/>
                <a:cs typeface="+mn-cs"/>
              </a:rPr>
              <a:t>The internet protocol (IP of TCP/IP) lives at this layer.  It handles routing.</a:t>
            </a:r>
          </a:p>
          <a:p>
            <a:pPr lvl="0"/>
            <a:endParaRPr lang="en-US" sz="1200" kern="1200" baseline="0" dirty="0" smtClean="0">
              <a:solidFill>
                <a:schemeClr val="tx1"/>
              </a:solidFill>
              <a:latin typeface="+mn-lt"/>
              <a:ea typeface="+mn-ea"/>
              <a:cs typeface="+mn-cs"/>
            </a:endParaRPr>
          </a:p>
          <a:p>
            <a:pPr lvl="0"/>
            <a:r>
              <a:rPr lang="en-US" sz="1200" kern="1200" baseline="0" dirty="0" smtClean="0">
                <a:solidFill>
                  <a:schemeClr val="tx1"/>
                </a:solidFill>
                <a:latin typeface="+mn-lt"/>
                <a:ea typeface="+mn-ea"/>
                <a:cs typeface="+mn-cs"/>
              </a:rPr>
              <a:t>The transport layer handles communication between hosts.</a:t>
            </a:r>
          </a:p>
          <a:p>
            <a:pPr lvl="0"/>
            <a:r>
              <a:rPr lang="en-US" sz="1200" kern="1200" baseline="0" dirty="0" smtClean="0">
                <a:solidFill>
                  <a:schemeClr val="tx1"/>
                </a:solidFill>
                <a:latin typeface="+mn-lt"/>
                <a:ea typeface="+mn-ea"/>
                <a:cs typeface="+mn-cs"/>
              </a:rPr>
              <a:t>There is no session maintenance.</a:t>
            </a:r>
          </a:p>
          <a:p>
            <a:pPr lvl="0"/>
            <a:r>
              <a:rPr lang="en-US" sz="1200" kern="1200" baseline="0" dirty="0" smtClean="0">
                <a:solidFill>
                  <a:schemeClr val="tx1"/>
                </a:solidFill>
                <a:latin typeface="+mn-lt"/>
                <a:ea typeface="+mn-ea"/>
                <a:cs typeface="+mn-cs"/>
              </a:rPr>
              <a:t>TCP (or UDP) packets are formed and received.</a:t>
            </a:r>
          </a:p>
          <a:p>
            <a:pPr lvl="0"/>
            <a:r>
              <a:rPr lang="en-US" sz="1200" kern="1200" baseline="0" dirty="0" smtClean="0">
                <a:solidFill>
                  <a:schemeClr val="tx1"/>
                </a:solidFill>
                <a:latin typeface="+mn-lt"/>
                <a:ea typeface="+mn-ea"/>
                <a:cs typeface="+mn-cs"/>
              </a:rPr>
              <a:t>Error correction is build into the protocol (or left out, as in UDP which is less concerned if some packets are lost , for example, when streaming)</a:t>
            </a:r>
          </a:p>
          <a:p>
            <a:pPr lvl="0"/>
            <a:endParaRPr lang="en-US" sz="1200" kern="1200" baseline="0" dirty="0" smtClean="0">
              <a:solidFill>
                <a:schemeClr val="tx1"/>
              </a:solidFill>
              <a:latin typeface="+mn-lt"/>
              <a:ea typeface="+mn-ea"/>
              <a:cs typeface="+mn-cs"/>
            </a:endParaRPr>
          </a:p>
          <a:p>
            <a:pPr lvl="0"/>
            <a:r>
              <a:rPr lang="en-US" sz="1200" kern="1200" baseline="0" dirty="0" err="1" smtClean="0">
                <a:solidFill>
                  <a:schemeClr val="tx1"/>
                </a:solidFill>
                <a:latin typeface="+mn-lt"/>
                <a:ea typeface="+mn-ea"/>
                <a:cs typeface="+mn-cs"/>
              </a:rPr>
              <a:t>Transmision</a:t>
            </a:r>
            <a:r>
              <a:rPr lang="en-US" sz="1200" kern="1200" baseline="0" dirty="0" smtClean="0">
                <a:solidFill>
                  <a:schemeClr val="tx1"/>
                </a:solidFill>
                <a:latin typeface="+mn-lt"/>
                <a:ea typeface="+mn-ea"/>
                <a:cs typeface="+mn-cs"/>
              </a:rPr>
              <a:t> Control Protocol</a:t>
            </a:r>
          </a:p>
          <a:p>
            <a:pPr lvl="0"/>
            <a:r>
              <a:rPr lang="en-US" sz="1200" kern="1200" baseline="0" dirty="0" smtClean="0">
                <a:solidFill>
                  <a:schemeClr val="tx1"/>
                </a:solidFill>
                <a:latin typeface="+mn-lt"/>
                <a:ea typeface="+mn-ea"/>
                <a:cs typeface="+mn-cs"/>
              </a:rPr>
              <a:t>User Datagram Protocol</a:t>
            </a:r>
          </a:p>
          <a:p>
            <a:pPr lvl="0"/>
            <a:endParaRPr lang="en-US" sz="1200" kern="1200" baseline="0" dirty="0" smtClean="0">
              <a:solidFill>
                <a:schemeClr val="tx1"/>
              </a:solidFill>
              <a:latin typeface="+mn-lt"/>
              <a:ea typeface="+mn-ea"/>
              <a:cs typeface="+mn-cs"/>
            </a:endParaRPr>
          </a:p>
          <a:p>
            <a:pPr lvl="0"/>
            <a:endParaRPr lang="en-US" sz="1200" kern="1200" baseline="0" dirty="0" smtClean="0">
              <a:solidFill>
                <a:schemeClr val="tx1"/>
              </a:solidFill>
              <a:latin typeface="+mn-lt"/>
              <a:ea typeface="+mn-ea"/>
              <a:cs typeface="+mn-cs"/>
            </a:endParaRPr>
          </a:p>
          <a:p>
            <a:pPr lvl="0"/>
            <a:r>
              <a:rPr lang="en-US" sz="1200" kern="1200" baseline="0" dirty="0" smtClean="0">
                <a:solidFill>
                  <a:schemeClr val="tx1"/>
                </a:solidFill>
                <a:latin typeface="+mn-lt"/>
                <a:ea typeface="+mn-ea"/>
                <a:cs typeface="+mn-cs"/>
              </a:rPr>
              <a:t>The physical layer is not described, since TCP/IP  is designed to be  hardware independent.</a:t>
            </a:r>
          </a:p>
          <a:p>
            <a:pPr lvl="0"/>
            <a:endParaRPr lang="en-US" sz="1200" kern="1200" baseline="0" dirty="0" smtClean="0">
              <a:solidFill>
                <a:schemeClr val="tx1"/>
              </a:solidFill>
              <a:latin typeface="+mn-lt"/>
              <a:ea typeface="+mn-ea"/>
              <a:cs typeface="+mn-cs"/>
            </a:endParaRPr>
          </a:p>
          <a:p>
            <a:pPr lvl="0"/>
            <a:endParaRPr lang="en-US" sz="1200" kern="1200" baseline="0" dirty="0" smtClean="0">
              <a:solidFill>
                <a:schemeClr val="tx1"/>
              </a:solidFill>
              <a:latin typeface="+mn-lt"/>
              <a:ea typeface="+mn-ea"/>
              <a:cs typeface="+mn-cs"/>
            </a:endParaRPr>
          </a:p>
          <a:p>
            <a:pPr lvl="0"/>
            <a:endParaRPr lang="en-US" sz="1200" kern="1200" baseline="0" dirty="0" smtClean="0">
              <a:solidFill>
                <a:schemeClr val="tx1"/>
              </a:solidFill>
              <a:latin typeface="+mn-lt"/>
              <a:ea typeface="+mn-ea"/>
              <a:cs typeface="+mn-cs"/>
            </a:endParaRPr>
          </a:p>
          <a:p>
            <a:pPr lvl="0"/>
            <a:endParaRPr lang="en-US" sz="1200" kern="1200" baseline="0" dirty="0" smtClean="0">
              <a:solidFill>
                <a:schemeClr val="tx1"/>
              </a:solidFill>
              <a:latin typeface="+mn-lt"/>
              <a:ea typeface="+mn-ea"/>
              <a:cs typeface="+mn-cs"/>
            </a:endParaRPr>
          </a:p>
          <a:p>
            <a:pPr lvl="0"/>
            <a:endParaRPr lang="en-US" baseline="0" dirty="0" smtClean="0"/>
          </a:p>
        </p:txBody>
      </p:sp>
      <p:sp>
        <p:nvSpPr>
          <p:cNvPr id="4" name="Slide Number Placeholder 3"/>
          <p:cNvSpPr>
            <a:spLocks noGrp="1"/>
          </p:cNvSpPr>
          <p:nvPr>
            <p:ph type="sldNum" sz="quarter" idx="10"/>
          </p:nvPr>
        </p:nvSpPr>
        <p:spPr/>
        <p:txBody>
          <a:bodyPr/>
          <a:lstStyle/>
          <a:p>
            <a:fld id="{2468E330-6F11-4EB8-9125-0BEE82D16730}"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lvl="0"/>
            <a:r>
              <a:rPr lang="en-US" baseline="0" dirty="0" smtClean="0"/>
              <a:t>TCP/IP is the standard  protocol for delivering information over the internet.</a:t>
            </a:r>
          </a:p>
          <a:p>
            <a:pPr lvl="0"/>
            <a:endParaRPr lang="en-US" baseline="0" dirty="0" smtClean="0"/>
          </a:p>
          <a:p>
            <a:pPr lvl="0"/>
            <a:r>
              <a:rPr lang="en-US" baseline="0" dirty="0" smtClean="0"/>
              <a:t>IP is responsible for routing between systems and TCP is responsible for delivering data.</a:t>
            </a:r>
          </a:p>
          <a:p>
            <a:pPr lvl="0"/>
            <a:endParaRPr lang="en-US" baseline="0" dirty="0" smtClean="0"/>
          </a:p>
          <a:p>
            <a:pPr lvl="0"/>
            <a:r>
              <a:rPr lang="en-US" baseline="0" dirty="0" smtClean="0"/>
              <a:t>You can see from this diagram of a TCP/IP packet, the IP Header has the source and destination address</a:t>
            </a:r>
            <a:r>
              <a:rPr lang="en-US" baseline="0" dirty="0" smtClean="0"/>
              <a:t>.</a:t>
            </a:r>
          </a:p>
          <a:p>
            <a:pPr lvl="0"/>
            <a:endParaRPr lang="en-US" baseline="0" dirty="0" smtClean="0"/>
          </a:p>
          <a:p>
            <a:pPr lvl="0"/>
            <a:r>
              <a:rPr lang="en-US" baseline="0" dirty="0" smtClean="0"/>
              <a:t>The </a:t>
            </a:r>
            <a:r>
              <a:rPr lang="en-US" baseline="0" dirty="0" smtClean="0"/>
              <a:t>IP address </a:t>
            </a:r>
            <a:r>
              <a:rPr lang="en-US" baseline="0" dirty="0" smtClean="0"/>
              <a:t>is used to identify machines on a network and by routers </a:t>
            </a:r>
            <a:r>
              <a:rPr lang="en-US" baseline="0" dirty="0" smtClean="0"/>
              <a:t>to transport a packet between networks</a:t>
            </a:r>
            <a:r>
              <a:rPr lang="en-US" baseline="0" dirty="0" smtClean="0"/>
              <a:t>.</a:t>
            </a:r>
          </a:p>
          <a:p>
            <a:pPr lvl="0"/>
            <a:endParaRPr lang="en-US" baseline="0" dirty="0" smtClean="0"/>
          </a:p>
          <a:p>
            <a:pPr lvl="0"/>
            <a:r>
              <a:rPr lang="en-US" baseline="0" dirty="0" smtClean="0"/>
              <a:t>IP Header</a:t>
            </a:r>
          </a:p>
          <a:p>
            <a:pPr lvl="0"/>
            <a:endParaRPr lang="en-US" baseline="0" dirty="0" smtClean="0"/>
          </a:p>
          <a:p>
            <a:pPr lvl="0"/>
            <a:r>
              <a:rPr lang="en-US" baseline="0" dirty="0" smtClean="0"/>
              <a:t>Version: the version of IP (v4)</a:t>
            </a:r>
          </a:p>
          <a:p>
            <a:pPr lvl="0"/>
            <a:r>
              <a:rPr lang="en-US" baseline="0" dirty="0" smtClean="0"/>
              <a:t>Internet Header Length:  (number of 32 bit words, minimum of 5 .. 5*32 =160/8 = 20 bytes, max words (because it is 4 bytes (0-16) is 15  * 32 = 480/8 = 60 bytes).  Determines offset to the data.</a:t>
            </a:r>
          </a:p>
          <a:p>
            <a:pPr lvl="0"/>
            <a:r>
              <a:rPr lang="en-US" baseline="0" dirty="0" smtClean="0"/>
              <a:t>Type of Service: DSCP (Differentiated Services Code Point) For prioritizing. Real time data streaming e.g. Voice over IP.   ECN (Explicit Congestion Notification)   optional </a:t>
            </a:r>
          </a:p>
          <a:p>
            <a:pPr lvl="0"/>
            <a:r>
              <a:rPr lang="en-US" baseline="0" dirty="0" smtClean="0"/>
              <a:t>Total Length: header + data</a:t>
            </a:r>
          </a:p>
          <a:p>
            <a:pPr lvl="0"/>
            <a:r>
              <a:rPr lang="en-US" baseline="0" dirty="0" smtClean="0"/>
              <a:t>Identification: for tracing, but not used practically</a:t>
            </a:r>
          </a:p>
          <a:p>
            <a:pPr lvl="0"/>
            <a:r>
              <a:rPr lang="en-US" baseline="0" dirty="0" smtClean="0"/>
              <a:t>Flags: Don’t’ fragment, More fragments.  For fragmented packets all fragments except the last have More Fragments set</a:t>
            </a:r>
          </a:p>
          <a:p>
            <a:pPr lvl="0"/>
            <a:r>
              <a:rPr lang="en-US" baseline="0" dirty="0" smtClean="0"/>
              <a:t>Fragment Offset:</a:t>
            </a:r>
          </a:p>
          <a:p>
            <a:pPr lvl="0"/>
            <a:r>
              <a:rPr lang="en-US" baseline="0" dirty="0" smtClean="0"/>
              <a:t>Time To Live: prevents it from going in circles if bad routing.</a:t>
            </a:r>
          </a:p>
          <a:p>
            <a:pPr lvl="0"/>
            <a:r>
              <a:rPr lang="en-US" baseline="0" dirty="0" smtClean="0"/>
              <a:t>Protocol: 6 means TCP</a:t>
            </a:r>
          </a:p>
          <a:p>
            <a:pPr lvl="0"/>
            <a:r>
              <a:rPr lang="en-US" baseline="0" dirty="0" smtClean="0"/>
              <a:t>Header Checksum: Calculates a checksum of the header.  </a:t>
            </a:r>
            <a:r>
              <a:rPr lang="en-US" baseline="0" dirty="0" err="1" smtClean="0"/>
              <a:t>Iif</a:t>
            </a:r>
            <a:r>
              <a:rPr lang="en-US" baseline="0" dirty="0" smtClean="0"/>
              <a:t> it doesn’t match, the router discards it.</a:t>
            </a:r>
          </a:p>
          <a:p>
            <a:pPr lvl="0"/>
            <a:r>
              <a:rPr lang="en-US" baseline="0" dirty="0" smtClean="0"/>
              <a:t>Source Address, Destination Address.  IP Address of the hosts.  It may be changed by a router that does Network Address Translation </a:t>
            </a:r>
          </a:p>
          <a:p>
            <a:pPr lvl="0"/>
            <a:r>
              <a:rPr lang="en-US" baseline="0" dirty="0" smtClean="0"/>
              <a:t>Options: usually not used</a:t>
            </a:r>
          </a:p>
          <a:p>
            <a:pPr lvl="0"/>
            <a:r>
              <a:rPr lang="en-US" baseline="0" dirty="0" smtClean="0"/>
              <a:t>Padding: to fill to the expected word size</a:t>
            </a:r>
          </a:p>
          <a:p>
            <a:pPr lvl="0"/>
            <a:endParaRPr lang="en-US" baseline="0" dirty="0" smtClean="0"/>
          </a:p>
          <a:p>
            <a:pPr lvl="0"/>
            <a:r>
              <a:rPr lang="en-US" baseline="0" dirty="0" smtClean="0"/>
              <a:t>TCP</a:t>
            </a:r>
          </a:p>
          <a:p>
            <a:pPr lvl="0"/>
            <a:endParaRPr lang="en-US" baseline="0" dirty="0" smtClean="0"/>
          </a:p>
          <a:p>
            <a:pPr lvl="0"/>
            <a:r>
              <a:rPr lang="en-US" baseline="0" dirty="0" smtClean="0"/>
              <a:t>Source/Destination port</a:t>
            </a:r>
          </a:p>
          <a:p>
            <a:pPr lvl="0"/>
            <a:r>
              <a:rPr lang="en-US" baseline="0" dirty="0" smtClean="0"/>
              <a:t>Sequence Number: packet number in a stream or chunk</a:t>
            </a:r>
          </a:p>
          <a:p>
            <a:pPr lvl="0"/>
            <a:r>
              <a:rPr lang="en-US" baseline="0" dirty="0" err="1" smtClean="0"/>
              <a:t>Ack</a:t>
            </a:r>
            <a:r>
              <a:rPr lang="en-US" baseline="0" dirty="0" smtClean="0"/>
              <a:t> Number: received N packets in this sequence so far</a:t>
            </a:r>
          </a:p>
          <a:p>
            <a:pPr lvl="0"/>
            <a:r>
              <a:rPr lang="en-US" baseline="0" dirty="0" smtClean="0"/>
              <a:t>Data Offset: size in 32 bit words of the header.  Data starts after this byte number</a:t>
            </a:r>
          </a:p>
          <a:p>
            <a:pPr lvl="0"/>
            <a:r>
              <a:rPr lang="en-US" baseline="0" dirty="0" smtClean="0"/>
              <a:t>Reserved</a:t>
            </a:r>
          </a:p>
          <a:p>
            <a:pPr lvl="0"/>
            <a:r>
              <a:rPr lang="en-US" baseline="0" dirty="0" smtClean="0"/>
              <a:t>Flags (control bits) –  several low level decisions </a:t>
            </a:r>
            <a:r>
              <a:rPr lang="en-US" sz="1200" b="0" i="0" kern="1200" dirty="0" smtClean="0">
                <a:solidFill>
                  <a:schemeClr val="tx1"/>
                </a:solidFill>
                <a:effectLst/>
                <a:latin typeface="+mn-lt"/>
                <a:ea typeface="+mn-ea"/>
                <a:cs typeface="+mn-cs"/>
              </a:rPr>
              <a:t>Urgent , </a:t>
            </a:r>
            <a:r>
              <a:rPr lang="en-US" sz="1200" b="0" i="0" kern="1200" dirty="0" err="1" smtClean="0">
                <a:solidFill>
                  <a:schemeClr val="tx1"/>
                </a:solidFill>
                <a:effectLst/>
                <a:latin typeface="+mn-lt"/>
                <a:ea typeface="+mn-ea"/>
                <a:cs typeface="+mn-cs"/>
              </a:rPr>
              <a:t>Ack</a:t>
            </a:r>
            <a:r>
              <a:rPr lang="en-US" sz="1200" b="0" i="0" kern="1200" baseline="0" dirty="0" smtClean="0">
                <a:solidFill>
                  <a:schemeClr val="tx1"/>
                </a:solidFill>
                <a:effectLst/>
                <a:latin typeface="+mn-lt"/>
                <a:ea typeface="+mn-ea"/>
                <a:cs typeface="+mn-cs"/>
              </a:rPr>
              <a:t>, Push, Reset, Synchronize sequence, Finish </a:t>
            </a:r>
          </a:p>
          <a:p>
            <a:pPr lvl="0"/>
            <a:r>
              <a:rPr lang="en-US" sz="1200" b="0" i="0" kern="1200" baseline="0" dirty="0" smtClean="0">
                <a:solidFill>
                  <a:schemeClr val="tx1"/>
                </a:solidFill>
                <a:effectLst/>
                <a:latin typeface="+mn-lt"/>
                <a:ea typeface="+mn-ea"/>
                <a:cs typeface="+mn-cs"/>
              </a:rPr>
              <a:t>Window – number of bytes the sender is willing to receive</a:t>
            </a:r>
          </a:p>
          <a:p>
            <a:pPr lvl="0"/>
            <a:r>
              <a:rPr lang="en-US" sz="1200" b="0" i="0" kern="1200" baseline="0" dirty="0" smtClean="0">
                <a:solidFill>
                  <a:schemeClr val="tx1"/>
                </a:solidFill>
                <a:effectLst/>
                <a:latin typeface="+mn-lt"/>
                <a:ea typeface="+mn-ea"/>
                <a:cs typeface="+mn-cs"/>
              </a:rPr>
              <a:t>Checksum</a:t>
            </a:r>
          </a:p>
          <a:p>
            <a:pPr lvl="0"/>
            <a:r>
              <a:rPr lang="en-US" sz="1200" b="0" i="0" kern="1200" baseline="0" dirty="0" smtClean="0">
                <a:solidFill>
                  <a:schemeClr val="tx1"/>
                </a:solidFill>
                <a:effectLst/>
                <a:latin typeface="+mn-lt"/>
                <a:ea typeface="+mn-ea"/>
                <a:cs typeface="+mn-cs"/>
              </a:rPr>
              <a:t>Urgent Pointer – last urgent byte</a:t>
            </a:r>
          </a:p>
          <a:p>
            <a:pPr lvl="0"/>
            <a:r>
              <a:rPr lang="en-US" sz="1200" b="0" i="0" kern="1200" baseline="0" dirty="0" smtClean="0">
                <a:solidFill>
                  <a:schemeClr val="tx1"/>
                </a:solidFill>
                <a:effectLst/>
                <a:latin typeface="+mn-lt"/>
                <a:ea typeface="+mn-ea"/>
                <a:cs typeface="+mn-cs"/>
              </a:rPr>
              <a:t>Options</a:t>
            </a:r>
          </a:p>
          <a:p>
            <a:pPr lvl="0"/>
            <a:r>
              <a:rPr lang="en-US" sz="1200" b="0" i="0" kern="1200" baseline="0" dirty="0" smtClean="0">
                <a:solidFill>
                  <a:schemeClr val="tx1"/>
                </a:solidFill>
                <a:effectLst/>
                <a:latin typeface="+mn-lt"/>
                <a:ea typeface="+mn-ea"/>
                <a:cs typeface="+mn-cs"/>
              </a:rPr>
              <a:t>Padding</a:t>
            </a:r>
          </a:p>
          <a:p>
            <a:pPr lvl="0"/>
            <a:endParaRPr lang="en-US" sz="1200" b="0" i="0" kern="1200" baseline="0" dirty="0" smtClean="0">
              <a:solidFill>
                <a:schemeClr val="tx1"/>
              </a:solidFill>
              <a:effectLst/>
              <a:latin typeface="+mn-lt"/>
              <a:ea typeface="+mn-ea"/>
              <a:cs typeface="+mn-cs"/>
            </a:endParaRPr>
          </a:p>
          <a:p>
            <a:pPr lvl="0"/>
            <a:r>
              <a:rPr lang="en-US" sz="1200" b="0" i="0" kern="1200" baseline="0" dirty="0" smtClean="0">
                <a:solidFill>
                  <a:schemeClr val="tx1"/>
                </a:solidFill>
                <a:effectLst/>
                <a:latin typeface="+mn-lt"/>
                <a:ea typeface="+mn-ea"/>
                <a:cs typeface="+mn-cs"/>
              </a:rPr>
              <a:t>Data – the actual data sent in this packet</a:t>
            </a:r>
            <a:endParaRPr lang="en-US" baseline="0" dirty="0" smtClean="0"/>
          </a:p>
          <a:p>
            <a:pPr lvl="0"/>
            <a:endParaRPr lang="en-US" baseline="0" dirty="0" smtClean="0"/>
          </a:p>
          <a:p>
            <a:pPr lvl="0"/>
            <a:endParaRPr lang="en-US" baseline="0" dirty="0" smtClean="0"/>
          </a:p>
          <a:p>
            <a:pPr lvl="0"/>
            <a:endParaRPr lang="en-US" baseline="0" dirty="0" smtClean="0"/>
          </a:p>
          <a:p>
            <a:pPr lvl="0"/>
            <a:endParaRPr lang="en-US" baseline="0" dirty="0" smtClean="0"/>
          </a:p>
          <a:p>
            <a:pPr lvl="0"/>
            <a:endParaRPr lang="en-US" baseline="0" dirty="0" smtClean="0"/>
          </a:p>
          <a:p>
            <a:pPr lvl="0"/>
            <a:endParaRPr lang="en-US" baseline="0" dirty="0" smtClean="0"/>
          </a:p>
          <a:p>
            <a:pPr lvl="0"/>
            <a:endParaRPr lang="en-US" baseline="0" dirty="0" smtClean="0"/>
          </a:p>
        </p:txBody>
      </p:sp>
      <p:sp>
        <p:nvSpPr>
          <p:cNvPr id="4" name="Slide Number Placeholder 3"/>
          <p:cNvSpPr>
            <a:spLocks noGrp="1"/>
          </p:cNvSpPr>
          <p:nvPr>
            <p:ph type="sldNum" sz="quarter" idx="10"/>
          </p:nvPr>
        </p:nvSpPr>
        <p:spPr/>
        <p:txBody>
          <a:bodyPr/>
          <a:lstStyle/>
          <a:p>
            <a:fld id="{2468E330-6F11-4EB8-9125-0BEE82D16730}"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lvl="0"/>
            <a:r>
              <a:rPr lang="en-US" baseline="0" dirty="0" smtClean="0"/>
              <a:t>Routing determines how data gets from computer A to Computer B</a:t>
            </a:r>
          </a:p>
          <a:p>
            <a:pPr lvl="0"/>
            <a:r>
              <a:rPr lang="en-US" baseline="0" dirty="0" smtClean="0"/>
              <a:t>IP is the routing protocol of the internet.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Routers have a list of IP addresses and directions for how to get to them.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If they don’t know, they have directions to pass it to another router that may know. They have a range of IPs and the address of a router to pass the message along to that knows how to find it.  So one router doesn’t need to know how to communicate with all computers.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lvl="0"/>
            <a:r>
              <a:rPr lang="en-US" baseline="0" dirty="0" smtClean="0"/>
              <a:t>Every computer on the internet has an IP address.</a:t>
            </a:r>
          </a:p>
          <a:p>
            <a:pPr lvl="0"/>
            <a:r>
              <a:rPr lang="en-US" baseline="0" dirty="0" smtClean="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Many computers behind private networks also have an address, because we now use IP even for private networks, though this was not always the case.  Other protocols like IPX and NetBEUI were common</a:t>
            </a:r>
          </a:p>
          <a:p>
            <a:pPr lvl="0"/>
            <a:endParaRPr lang="en-US" baseline="0" dirty="0" smtClean="0"/>
          </a:p>
          <a:p>
            <a:pPr lvl="0"/>
            <a:r>
              <a:rPr lang="en-US" baseline="0" dirty="0" smtClean="0"/>
              <a:t>A router between a private network and the internet  may use Network Address Translation (NAT) to convert a private address to the public one.  There are reserved IP addresses used for this.  Such as the 10.x range, 172.16.x and 192.168..x ranges.  You could use any address but by keeping to the reserved (not routable) addresses, you prevent address pollution in case there are any mistakes in your router configuration – which is more common than you’d think.</a:t>
            </a:r>
          </a:p>
          <a:p>
            <a:pPr lvl="0"/>
            <a:endParaRPr lang="en-US" baseline="0" dirty="0" smtClean="0"/>
          </a:p>
          <a:p>
            <a:pPr lvl="0"/>
            <a:r>
              <a:rPr lang="en-US" baseline="0" dirty="0" smtClean="0"/>
              <a:t>The NAT router needs to keep track of packets from machine x with a reserved address of say 10.1.2.3 and indicate that packets returned to it are routed to the right machine on it’s sub-network.  But I won’t go into that because I don’t understand it very well.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Routing isn’t a new concept.  The phone network used circuit switching to accomplish routing.  If you watch old movies where people ask the operator to connect them and the operator says “one moment please” – that’s routing.  It started off with people (typically women, because they had more pleasant voices – and were found to make fewer mistakes) actually pulling one wire out of a socket and plugging it into another socket.  First to connect 2 phones physically with one wire circuit, then to connect different exchanges, </a:t>
            </a:r>
            <a:r>
              <a:rPr lang="en-US" baseline="0" dirty="0" err="1" smtClean="0"/>
              <a:t>i.e..different</a:t>
            </a:r>
            <a:r>
              <a:rPr lang="en-US" baseline="0" dirty="0" smtClean="0"/>
              <a:t> cities.  One operator would have to call another operator to make the connection.  This was called hopping, and we still count hops between routers today.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lvl="0"/>
            <a:endParaRPr lang="en-US" baseline="0" dirty="0" smtClean="0"/>
          </a:p>
          <a:p>
            <a:pPr lvl="0"/>
            <a:endParaRPr lang="en-US" baseline="0" dirty="0" smtClean="0"/>
          </a:p>
        </p:txBody>
      </p:sp>
      <p:sp>
        <p:nvSpPr>
          <p:cNvPr id="4" name="Slide Number Placeholder 3"/>
          <p:cNvSpPr>
            <a:spLocks noGrp="1"/>
          </p:cNvSpPr>
          <p:nvPr>
            <p:ph type="sldNum" sz="quarter" idx="10"/>
          </p:nvPr>
        </p:nvSpPr>
        <p:spPr/>
        <p:txBody>
          <a:bodyPr/>
          <a:lstStyle/>
          <a:p>
            <a:fld id="{2468E330-6F11-4EB8-9125-0BEE82D16730}"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lvl="0"/>
            <a:endParaRPr lang="en-US" baseline="0" dirty="0" smtClean="0"/>
          </a:p>
        </p:txBody>
      </p:sp>
      <p:sp>
        <p:nvSpPr>
          <p:cNvPr id="4" name="Slide Number Placeholder 3"/>
          <p:cNvSpPr>
            <a:spLocks noGrp="1"/>
          </p:cNvSpPr>
          <p:nvPr>
            <p:ph type="sldNum" sz="quarter" idx="10"/>
          </p:nvPr>
        </p:nvSpPr>
        <p:spPr/>
        <p:txBody>
          <a:bodyPr/>
          <a:lstStyle/>
          <a:p>
            <a:fld id="{2468E330-6F11-4EB8-9125-0BEE82D16730}"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lvl="0"/>
            <a:r>
              <a:rPr lang="en-US" baseline="0" dirty="0" smtClean="0"/>
              <a:t>.</a:t>
            </a:r>
            <a:endParaRPr lang="en-US" baseline="0" dirty="0" smtClean="0"/>
          </a:p>
        </p:txBody>
      </p:sp>
      <p:sp>
        <p:nvSpPr>
          <p:cNvPr id="4" name="Slide Number Placeholder 3"/>
          <p:cNvSpPr>
            <a:spLocks noGrp="1"/>
          </p:cNvSpPr>
          <p:nvPr>
            <p:ph type="sldNum" sz="quarter" idx="10"/>
          </p:nvPr>
        </p:nvSpPr>
        <p:spPr/>
        <p:txBody>
          <a:bodyPr/>
          <a:lstStyle/>
          <a:p>
            <a:fld id="{2468E330-6F11-4EB8-9125-0BEE82D16730}"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lvl="0"/>
            <a:r>
              <a:rPr lang="en-US" baseline="0" dirty="0" smtClean="0"/>
              <a:t>.</a:t>
            </a:r>
            <a:endParaRPr lang="en-US" baseline="0" dirty="0" smtClean="0"/>
          </a:p>
        </p:txBody>
      </p:sp>
      <p:sp>
        <p:nvSpPr>
          <p:cNvPr id="4" name="Slide Number Placeholder 3"/>
          <p:cNvSpPr>
            <a:spLocks noGrp="1"/>
          </p:cNvSpPr>
          <p:nvPr>
            <p:ph type="sldNum" sz="quarter" idx="10"/>
          </p:nvPr>
        </p:nvSpPr>
        <p:spPr/>
        <p:txBody>
          <a:bodyPr/>
          <a:lstStyle/>
          <a:p>
            <a:fld id="{2468E330-6F11-4EB8-9125-0BEE82D16730}"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lvl="0"/>
            <a:endParaRPr lang="en-US" baseline="0" dirty="0" smtClean="0"/>
          </a:p>
        </p:txBody>
      </p:sp>
      <p:sp>
        <p:nvSpPr>
          <p:cNvPr id="4" name="Slide Number Placeholder 3"/>
          <p:cNvSpPr>
            <a:spLocks noGrp="1"/>
          </p:cNvSpPr>
          <p:nvPr>
            <p:ph type="sldNum" sz="quarter" idx="10"/>
          </p:nvPr>
        </p:nvSpPr>
        <p:spPr/>
        <p:txBody>
          <a:bodyPr/>
          <a:lstStyle/>
          <a:p>
            <a:fld id="{2468E330-6F11-4EB8-9125-0BEE82D16730}"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6E9E5ED-425F-4E07-BCD6-7E079AD34B1B}" type="datetimeFigureOut">
              <a:rPr lang="en-US" smtClean="0"/>
              <a:pPr/>
              <a:t>3/7/2013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7B36F2-E79D-4E26-B0F9-EA18C3353FA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E9E5ED-425F-4E07-BCD6-7E079AD34B1B}" type="datetimeFigureOut">
              <a:rPr lang="en-US" smtClean="0"/>
              <a:pPr/>
              <a:t>3/7/2013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7B36F2-E79D-4E26-B0F9-EA18C3353FA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6E9E5ED-425F-4E07-BCD6-7E079AD34B1B}" type="datetimeFigureOut">
              <a:rPr lang="en-US" smtClean="0"/>
              <a:pPr/>
              <a:t>3/7/2013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7B36F2-E79D-4E26-B0F9-EA18C3353FA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6E9E5ED-425F-4E07-BCD6-7E079AD34B1B}" type="datetimeFigureOut">
              <a:rPr lang="en-US" smtClean="0"/>
              <a:pPr/>
              <a:t>3/7/2013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7B36F2-E79D-4E26-B0F9-EA18C3353FA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6E9E5ED-425F-4E07-BCD6-7E079AD34B1B}" type="datetimeFigureOut">
              <a:rPr lang="en-US" smtClean="0"/>
              <a:pPr/>
              <a:t>3/7/2013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7B36F2-E79D-4E26-B0F9-EA18C3353FA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6E9E5ED-425F-4E07-BCD6-7E079AD34B1B}" type="datetimeFigureOut">
              <a:rPr lang="en-US" smtClean="0"/>
              <a:pPr/>
              <a:t>3/7/2013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7B36F2-E79D-4E26-B0F9-EA18C3353FA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E9E5ED-425F-4E07-BCD6-7E079AD34B1B}" type="datetimeFigureOut">
              <a:rPr lang="en-US" smtClean="0"/>
              <a:pPr/>
              <a:t>3/7/2013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7B36F2-E79D-4E26-B0F9-EA18C3353FA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E9E5ED-425F-4E07-BCD6-7E079AD34B1B}" type="datetimeFigureOut">
              <a:rPr lang="en-US" smtClean="0"/>
              <a:pPr/>
              <a:t>3/7/2013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7B36F2-E79D-4E26-B0F9-EA18C3353FA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E9E5ED-425F-4E07-BCD6-7E079AD34B1B}" type="datetimeFigureOut">
              <a:rPr lang="en-US" smtClean="0"/>
              <a:pPr/>
              <a:t>3/7/2013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7B36F2-E79D-4E26-B0F9-EA18C3353FA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E9E5ED-425F-4E07-BCD6-7E079AD34B1B}" type="datetimeFigureOut">
              <a:rPr lang="en-US" smtClean="0"/>
              <a:pPr/>
              <a:t>3/7/2013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7B36F2-E79D-4E26-B0F9-EA18C3353FA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E9E5ED-425F-4E07-BCD6-7E079AD34B1B}" type="datetimeFigureOut">
              <a:rPr lang="en-US" smtClean="0"/>
              <a:pPr/>
              <a:t>3/7/2013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7B36F2-E79D-4E26-B0F9-EA18C3353FA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E9E5ED-425F-4E07-BCD6-7E079AD34B1B}" type="datetimeFigureOut">
              <a:rPr lang="en-US" smtClean="0"/>
              <a:pPr/>
              <a:t>3/7/2013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7B36F2-E79D-4E26-B0F9-EA18C3353FA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1905000" y="6324600"/>
            <a:ext cx="4648200" cy="369332"/>
          </a:xfrm>
          <a:prstGeom prst="rect">
            <a:avLst/>
          </a:prstGeom>
          <a:noFill/>
        </p:spPr>
        <p:txBody>
          <a:bodyPr wrap="square" rtlCol="0">
            <a:spAutoFit/>
          </a:bodyPr>
          <a:lstStyle/>
          <a:p>
            <a:pPr algn="ctr"/>
            <a:r>
              <a:rPr lang="en-US" dirty="0" smtClean="0">
                <a:solidFill>
                  <a:schemeClr val="bg1"/>
                </a:solidFill>
                <a:latin typeface="Verdana" pitchFamily="34" charset="0"/>
                <a:ea typeface="Verdana" pitchFamily="34" charset="0"/>
                <a:cs typeface="Verdana" pitchFamily="34" charset="0"/>
              </a:rPr>
              <a:t>A technical understanding of the web</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18" name="TextBox 17"/>
          <p:cNvSpPr txBox="1"/>
          <p:nvPr/>
        </p:nvSpPr>
        <p:spPr>
          <a:xfrm>
            <a:off x="0" y="2133600"/>
            <a:ext cx="9144000" cy="1569660"/>
          </a:xfrm>
          <a:prstGeom prst="rect">
            <a:avLst/>
          </a:prstGeom>
          <a:noFill/>
        </p:spPr>
        <p:txBody>
          <a:bodyPr wrap="square" rtlCol="0">
            <a:spAutoFit/>
          </a:bodyPr>
          <a:lstStyle/>
          <a:p>
            <a:pPr algn="ctr"/>
            <a:r>
              <a:rPr lang="en-US" sz="4800" dirty="0" smtClean="0"/>
              <a:t>A technical understanding </a:t>
            </a:r>
          </a:p>
          <a:p>
            <a:pPr algn="ctr"/>
            <a:r>
              <a:rPr lang="en-US" sz="4800" dirty="0" smtClean="0"/>
              <a:t>of the web</a:t>
            </a:r>
          </a:p>
        </p:txBody>
      </p:sp>
      <p:sp>
        <p:nvSpPr>
          <p:cNvPr id="7" name="TextBox 6"/>
          <p:cNvSpPr txBox="1"/>
          <p:nvPr/>
        </p:nvSpPr>
        <p:spPr>
          <a:xfrm>
            <a:off x="0" y="4648200"/>
            <a:ext cx="9144000" cy="369332"/>
          </a:xfrm>
          <a:prstGeom prst="rect">
            <a:avLst/>
          </a:prstGeom>
          <a:noFill/>
        </p:spPr>
        <p:txBody>
          <a:bodyPr wrap="square" rtlCol="0">
            <a:spAutoFit/>
          </a:bodyPr>
          <a:lstStyle/>
          <a:p>
            <a:pPr algn="ctr"/>
            <a:r>
              <a:rPr lang="en-US" dirty="0" smtClean="0"/>
              <a:t>Day 1 – Section 2</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pac-man.gif"/>
          <p:cNvPicPr>
            <a:picLocks noChangeAspect="1"/>
          </p:cNvPicPr>
          <p:nvPr/>
        </p:nvPicPr>
        <p:blipFill>
          <a:blip r:embed="rId3" cstate="print"/>
          <a:stretch>
            <a:fillRect/>
          </a:stretch>
        </p:blipFill>
        <p:spPr>
          <a:xfrm>
            <a:off x="1783724" y="0"/>
            <a:ext cx="5143500" cy="6858000"/>
          </a:xfrm>
          <a:prstGeom prst="rect">
            <a:avLst/>
          </a:prstGeom>
        </p:spPr>
      </p:pic>
    </p:spTree>
    <p:extLst>
      <p:ext uri="{BB962C8B-B14F-4D97-AF65-F5344CB8AC3E}">
        <p14:creationId xmlns:p14="http://schemas.microsoft.com/office/powerpoint/2010/main" val="773758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2057400" y="6324600"/>
            <a:ext cx="4419600" cy="369332"/>
          </a:xfrm>
          <a:prstGeom prst="rect">
            <a:avLst/>
          </a:prstGeom>
          <a:noFill/>
        </p:spPr>
        <p:txBody>
          <a:bodyPr wrap="square" rtlCol="0">
            <a:spAutoFit/>
          </a:bodyPr>
          <a:lstStyle/>
          <a:p>
            <a:r>
              <a:rPr lang="en-US" dirty="0" smtClean="0">
                <a:solidFill>
                  <a:schemeClr val="bg1"/>
                </a:solidFill>
                <a:latin typeface="Verdana" pitchFamily="34" charset="0"/>
                <a:ea typeface="Verdana" pitchFamily="34" charset="0"/>
                <a:cs typeface="Verdana" pitchFamily="34" charset="0"/>
              </a:rPr>
              <a:t>Testing web applications &amp; services</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16" name="TextBox 15"/>
          <p:cNvSpPr txBox="1"/>
          <p:nvPr/>
        </p:nvSpPr>
        <p:spPr>
          <a:xfrm>
            <a:off x="-35417" y="1676400"/>
            <a:ext cx="9144000" cy="830997"/>
          </a:xfrm>
          <a:prstGeom prst="rect">
            <a:avLst/>
          </a:prstGeom>
          <a:noFill/>
        </p:spPr>
        <p:txBody>
          <a:bodyPr wrap="square" rtlCol="0">
            <a:spAutoFit/>
          </a:bodyPr>
          <a:lstStyle/>
          <a:p>
            <a:pPr algn="ctr"/>
            <a:r>
              <a:rPr lang="en-US" sz="4800" dirty="0" smtClean="0"/>
              <a:t>A brief history of the internet</a:t>
            </a:r>
            <a:endParaRPr lang="en-US" sz="4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2057400" y="6324600"/>
            <a:ext cx="4419600" cy="369332"/>
          </a:xfrm>
          <a:prstGeom prst="rect">
            <a:avLst/>
          </a:prstGeom>
          <a:noFill/>
        </p:spPr>
        <p:txBody>
          <a:bodyPr wrap="square" rtlCol="0">
            <a:spAutoFit/>
          </a:bodyPr>
          <a:lstStyle/>
          <a:p>
            <a:r>
              <a:rPr lang="en-US" dirty="0" smtClean="0">
                <a:solidFill>
                  <a:schemeClr val="bg1"/>
                </a:solidFill>
                <a:latin typeface="Verdana" pitchFamily="34" charset="0"/>
                <a:ea typeface="Verdana" pitchFamily="34" charset="0"/>
                <a:cs typeface="Verdana" pitchFamily="34" charset="0"/>
              </a:rPr>
              <a:t>Testing web applications &amp; services</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13" name="TextBox 12"/>
          <p:cNvSpPr txBox="1"/>
          <p:nvPr/>
        </p:nvSpPr>
        <p:spPr>
          <a:xfrm>
            <a:off x="7467600" y="0"/>
            <a:ext cx="1676400" cy="584775"/>
          </a:xfrm>
          <a:prstGeom prst="rect">
            <a:avLst/>
          </a:prstGeom>
          <a:solidFill>
            <a:schemeClr val="bg2">
              <a:lumMod val="75000"/>
            </a:schemeClr>
          </a:solidFill>
        </p:spPr>
        <p:txBody>
          <a:bodyPr wrap="square" rtlCol="0">
            <a:spAutoFit/>
          </a:bodyPr>
          <a:lstStyle/>
          <a:p>
            <a:r>
              <a:rPr lang="en-US" sz="3200" dirty="0" smtClean="0"/>
              <a:t>Timeline</a:t>
            </a:r>
            <a:endParaRPr lang="en-US" sz="3200" dirty="0"/>
          </a:p>
        </p:txBody>
      </p:sp>
      <p:sp>
        <p:nvSpPr>
          <p:cNvPr id="9" name="TextBox 8"/>
          <p:cNvSpPr txBox="1"/>
          <p:nvPr/>
        </p:nvSpPr>
        <p:spPr>
          <a:xfrm>
            <a:off x="0" y="609601"/>
            <a:ext cx="9144000" cy="5632311"/>
          </a:xfrm>
          <a:prstGeom prst="rect">
            <a:avLst/>
          </a:prstGeom>
          <a:noFill/>
        </p:spPr>
        <p:txBody>
          <a:bodyPr wrap="square" rtlCol="0">
            <a:spAutoFit/>
          </a:bodyPr>
          <a:lstStyle/>
          <a:p>
            <a:r>
              <a:rPr lang="en-US" sz="3600" dirty="0" smtClean="0"/>
              <a:t>1846 – Telegraph</a:t>
            </a:r>
          </a:p>
          <a:p>
            <a:r>
              <a:rPr lang="en-US" sz="3600" dirty="0" smtClean="0"/>
              <a:t>1920s – Teletypes invented</a:t>
            </a:r>
          </a:p>
          <a:p>
            <a:r>
              <a:rPr lang="en-US" sz="3600" dirty="0" smtClean="0"/>
              <a:t>1957 – Timesharing systems</a:t>
            </a:r>
          </a:p>
          <a:p>
            <a:r>
              <a:rPr lang="en-US" sz="3600" dirty="0" smtClean="0"/>
              <a:t>1958 – DARPA founded in response to Sputnik</a:t>
            </a:r>
          </a:p>
          <a:p>
            <a:r>
              <a:rPr lang="en-US" sz="3600" dirty="0" smtClean="0"/>
              <a:t>1961 – Packet switching invented</a:t>
            </a:r>
          </a:p>
          <a:p>
            <a:r>
              <a:rPr lang="en-US" sz="3600" dirty="0" smtClean="0"/>
              <a:t>1962 – First network communication tested</a:t>
            </a:r>
          </a:p>
          <a:p>
            <a:r>
              <a:rPr lang="en-US" sz="3600" dirty="0" smtClean="0"/>
              <a:t>1969 – ARPANET created</a:t>
            </a:r>
          </a:p>
          <a:p>
            <a:r>
              <a:rPr lang="en-US" sz="3600" dirty="0" smtClean="0"/>
              <a:t>1969 – Unix operating system</a:t>
            </a:r>
          </a:p>
          <a:p>
            <a:r>
              <a:rPr lang="en-US" sz="3600" dirty="0" smtClean="0"/>
              <a:t>1971 – Email invented</a:t>
            </a:r>
          </a:p>
          <a:p>
            <a:r>
              <a:rPr lang="en-US" sz="3600" dirty="0" smtClean="0"/>
              <a:t>1982 – TCP/IP protocol </a:t>
            </a:r>
            <a:r>
              <a:rPr lang="en-US" sz="3600" dirty="0" smtClean="0"/>
              <a:t>implemented</a:t>
            </a:r>
            <a:endParaRPr lang="en-US" sz="36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2057400" y="6324600"/>
            <a:ext cx="4419600" cy="369332"/>
          </a:xfrm>
          <a:prstGeom prst="rect">
            <a:avLst/>
          </a:prstGeom>
          <a:noFill/>
        </p:spPr>
        <p:txBody>
          <a:bodyPr wrap="square" rtlCol="0">
            <a:spAutoFit/>
          </a:bodyPr>
          <a:lstStyle/>
          <a:p>
            <a:r>
              <a:rPr lang="en-US" dirty="0" smtClean="0">
                <a:solidFill>
                  <a:schemeClr val="bg1"/>
                </a:solidFill>
                <a:latin typeface="Verdana" pitchFamily="34" charset="0"/>
                <a:ea typeface="Verdana" pitchFamily="34" charset="0"/>
                <a:cs typeface="Verdana" pitchFamily="34" charset="0"/>
              </a:rPr>
              <a:t>Testing web applications &amp; services</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13" name="TextBox 12"/>
          <p:cNvSpPr txBox="1"/>
          <p:nvPr/>
        </p:nvSpPr>
        <p:spPr>
          <a:xfrm>
            <a:off x="7467600" y="0"/>
            <a:ext cx="1676400" cy="584775"/>
          </a:xfrm>
          <a:prstGeom prst="rect">
            <a:avLst/>
          </a:prstGeom>
          <a:solidFill>
            <a:schemeClr val="bg2">
              <a:lumMod val="75000"/>
            </a:schemeClr>
          </a:solidFill>
        </p:spPr>
        <p:txBody>
          <a:bodyPr wrap="square" rtlCol="0">
            <a:spAutoFit/>
          </a:bodyPr>
          <a:lstStyle/>
          <a:p>
            <a:r>
              <a:rPr lang="en-US" sz="3200" dirty="0" smtClean="0"/>
              <a:t>Timeline</a:t>
            </a:r>
            <a:endParaRPr lang="en-US" sz="3200" dirty="0"/>
          </a:p>
        </p:txBody>
      </p:sp>
      <p:sp>
        <p:nvSpPr>
          <p:cNvPr id="9" name="TextBox 8"/>
          <p:cNvSpPr txBox="1"/>
          <p:nvPr/>
        </p:nvSpPr>
        <p:spPr>
          <a:xfrm>
            <a:off x="0" y="609600"/>
            <a:ext cx="9144000" cy="6338709"/>
          </a:xfrm>
          <a:prstGeom prst="rect">
            <a:avLst/>
          </a:prstGeom>
          <a:noFill/>
        </p:spPr>
        <p:txBody>
          <a:bodyPr wrap="square" rtlCol="0">
            <a:spAutoFit/>
          </a:bodyPr>
          <a:lstStyle/>
          <a:p>
            <a:r>
              <a:rPr lang="en-US" sz="3600" dirty="0" smtClean="0"/>
              <a:t>1977 – The first modem for personal computers</a:t>
            </a:r>
          </a:p>
          <a:p>
            <a:r>
              <a:rPr lang="en-US" sz="3600" dirty="0" smtClean="0"/>
              <a:t>1984 – Domain Name System </a:t>
            </a:r>
          </a:p>
          <a:p>
            <a:r>
              <a:rPr lang="en-US" sz="3600" dirty="0" smtClean="0"/>
              <a:t>1980s – Bulletin Board Systems</a:t>
            </a:r>
          </a:p>
          <a:p>
            <a:r>
              <a:rPr lang="en-US" sz="3600" dirty="0" smtClean="0"/>
              <a:t>1990 – Dial up internet access</a:t>
            </a:r>
          </a:p>
          <a:p>
            <a:r>
              <a:rPr lang="en-US" sz="3600" dirty="0" smtClean="0"/>
              <a:t>1991 – America Online</a:t>
            </a:r>
          </a:p>
          <a:p>
            <a:r>
              <a:rPr lang="en-US" sz="3600" dirty="0" smtClean="0"/>
              <a:t>1991 – Tim Berners-Lee’s “World Wide Web”</a:t>
            </a:r>
          </a:p>
          <a:p>
            <a:r>
              <a:rPr lang="en-US" sz="3600" dirty="0" smtClean="0"/>
              <a:t>1993 – Mosaic browser</a:t>
            </a:r>
          </a:p>
          <a:p>
            <a:r>
              <a:rPr lang="en-US" sz="3600" dirty="0" smtClean="0"/>
              <a:t>1994 – Netscape founded</a:t>
            </a:r>
          </a:p>
          <a:p>
            <a:r>
              <a:rPr lang="en-US" sz="3600" dirty="0" smtClean="0"/>
              <a:t>1995 – JavaScript</a:t>
            </a:r>
          </a:p>
          <a:p>
            <a:r>
              <a:rPr lang="en-US" sz="3600" dirty="0" smtClean="0"/>
              <a:t>1995 – Commercialization of the internet</a:t>
            </a:r>
          </a:p>
          <a:p>
            <a:endParaRPr lang="en-US" sz="36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2057400" y="6324600"/>
            <a:ext cx="4419600" cy="369332"/>
          </a:xfrm>
          <a:prstGeom prst="rect">
            <a:avLst/>
          </a:prstGeom>
          <a:noFill/>
        </p:spPr>
        <p:txBody>
          <a:bodyPr wrap="square" rtlCol="0">
            <a:spAutoFit/>
          </a:bodyPr>
          <a:lstStyle/>
          <a:p>
            <a:r>
              <a:rPr lang="en-US" dirty="0" smtClean="0">
                <a:solidFill>
                  <a:schemeClr val="bg1"/>
                </a:solidFill>
                <a:latin typeface="Verdana" pitchFamily="34" charset="0"/>
                <a:ea typeface="Verdana" pitchFamily="34" charset="0"/>
                <a:cs typeface="Verdana" pitchFamily="34" charset="0"/>
              </a:rPr>
              <a:t>Testing web applications &amp; services</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8" name="TextBox 7"/>
          <p:cNvSpPr txBox="1"/>
          <p:nvPr/>
        </p:nvSpPr>
        <p:spPr>
          <a:xfrm>
            <a:off x="0" y="1752600"/>
            <a:ext cx="9144000" cy="830997"/>
          </a:xfrm>
          <a:prstGeom prst="rect">
            <a:avLst/>
          </a:prstGeom>
          <a:noFill/>
        </p:spPr>
        <p:txBody>
          <a:bodyPr wrap="square" rtlCol="0">
            <a:spAutoFit/>
          </a:bodyPr>
          <a:lstStyle/>
          <a:p>
            <a:pPr algn="ctr"/>
            <a:r>
              <a:rPr lang="en-US" sz="4800" dirty="0" smtClean="0"/>
              <a:t>Networks</a:t>
            </a:r>
            <a:endParaRPr lang="en-US" sz="4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2057400" y="6324600"/>
            <a:ext cx="4419600" cy="369332"/>
          </a:xfrm>
          <a:prstGeom prst="rect">
            <a:avLst/>
          </a:prstGeom>
          <a:noFill/>
        </p:spPr>
        <p:txBody>
          <a:bodyPr wrap="square" rtlCol="0">
            <a:spAutoFit/>
          </a:bodyPr>
          <a:lstStyle/>
          <a:p>
            <a:r>
              <a:rPr lang="en-US" dirty="0" smtClean="0">
                <a:solidFill>
                  <a:schemeClr val="bg1"/>
                </a:solidFill>
                <a:latin typeface="Verdana" pitchFamily="34" charset="0"/>
                <a:ea typeface="Verdana" pitchFamily="34" charset="0"/>
                <a:cs typeface="Verdana" pitchFamily="34" charset="0"/>
              </a:rPr>
              <a:t>Testing web applications &amp; services</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13" name="TextBox 12"/>
          <p:cNvSpPr txBox="1"/>
          <p:nvPr/>
        </p:nvSpPr>
        <p:spPr>
          <a:xfrm>
            <a:off x="7315200" y="0"/>
            <a:ext cx="1828800" cy="584775"/>
          </a:xfrm>
          <a:prstGeom prst="rect">
            <a:avLst/>
          </a:prstGeom>
          <a:solidFill>
            <a:schemeClr val="bg2">
              <a:lumMod val="75000"/>
            </a:schemeClr>
          </a:solidFill>
        </p:spPr>
        <p:txBody>
          <a:bodyPr wrap="square" rtlCol="0">
            <a:spAutoFit/>
          </a:bodyPr>
          <a:lstStyle/>
          <a:p>
            <a:r>
              <a:rPr lang="en-US" sz="3200" dirty="0" smtClean="0"/>
              <a:t>Networks</a:t>
            </a:r>
            <a:endParaRPr lang="en-US" sz="3200" dirty="0"/>
          </a:p>
        </p:txBody>
      </p:sp>
      <p:sp>
        <p:nvSpPr>
          <p:cNvPr id="8" name="TextBox 7"/>
          <p:cNvSpPr txBox="1"/>
          <p:nvPr/>
        </p:nvSpPr>
        <p:spPr>
          <a:xfrm>
            <a:off x="0" y="990600"/>
            <a:ext cx="9144000" cy="830997"/>
          </a:xfrm>
          <a:prstGeom prst="rect">
            <a:avLst/>
          </a:prstGeom>
          <a:noFill/>
        </p:spPr>
        <p:txBody>
          <a:bodyPr wrap="square" rtlCol="0">
            <a:spAutoFit/>
          </a:bodyPr>
          <a:lstStyle/>
          <a:p>
            <a:pPr algn="ctr"/>
            <a:r>
              <a:rPr lang="en-US" sz="4800" u="sng" dirty="0" smtClean="0"/>
              <a:t>The OSI Model</a:t>
            </a:r>
            <a:endParaRPr lang="en-US" sz="4800" u="sng" dirty="0"/>
          </a:p>
        </p:txBody>
      </p:sp>
      <p:sp>
        <p:nvSpPr>
          <p:cNvPr id="9" name="TextBox 8"/>
          <p:cNvSpPr txBox="1"/>
          <p:nvPr/>
        </p:nvSpPr>
        <p:spPr>
          <a:xfrm>
            <a:off x="2819400" y="1981200"/>
            <a:ext cx="3581400" cy="3970318"/>
          </a:xfrm>
          <a:prstGeom prst="rect">
            <a:avLst/>
          </a:prstGeom>
          <a:noFill/>
        </p:spPr>
        <p:txBody>
          <a:bodyPr wrap="square" rtlCol="0">
            <a:spAutoFit/>
          </a:bodyPr>
          <a:lstStyle/>
          <a:p>
            <a:pPr marL="742950" lvl="0" indent="-742950">
              <a:buFont typeface="+mj-lt"/>
              <a:buAutoNum type="arabicPeriod"/>
            </a:pPr>
            <a:r>
              <a:rPr lang="en-US" sz="3600" dirty="0" smtClean="0"/>
              <a:t>Physical </a:t>
            </a:r>
          </a:p>
          <a:p>
            <a:pPr marL="742950" lvl="0" indent="-742950">
              <a:buFont typeface="+mj-lt"/>
              <a:buAutoNum type="arabicPeriod"/>
            </a:pPr>
            <a:r>
              <a:rPr lang="en-US" sz="3600" dirty="0" smtClean="0"/>
              <a:t>Data Link</a:t>
            </a:r>
          </a:p>
          <a:p>
            <a:pPr marL="742950" lvl="0" indent="-742950">
              <a:buFont typeface="+mj-lt"/>
              <a:buAutoNum type="arabicPeriod"/>
            </a:pPr>
            <a:r>
              <a:rPr lang="en-US" sz="3600" dirty="0" smtClean="0"/>
              <a:t>Network</a:t>
            </a:r>
          </a:p>
          <a:p>
            <a:pPr marL="742950" lvl="0" indent="-742950">
              <a:buFont typeface="+mj-lt"/>
              <a:buAutoNum type="arabicPeriod"/>
            </a:pPr>
            <a:r>
              <a:rPr lang="en-US" sz="3600" dirty="0" smtClean="0"/>
              <a:t>Transport</a:t>
            </a:r>
          </a:p>
          <a:p>
            <a:pPr marL="742950" lvl="0" indent="-742950">
              <a:buFont typeface="+mj-lt"/>
              <a:buAutoNum type="arabicPeriod"/>
            </a:pPr>
            <a:r>
              <a:rPr lang="en-US" sz="3600" dirty="0" smtClean="0"/>
              <a:t>Session </a:t>
            </a:r>
          </a:p>
          <a:p>
            <a:pPr marL="742950" lvl="0" indent="-742950">
              <a:buFont typeface="+mj-lt"/>
              <a:buAutoNum type="arabicPeriod"/>
            </a:pPr>
            <a:r>
              <a:rPr lang="en-US" sz="3600" dirty="0" smtClean="0"/>
              <a:t>Presentation</a:t>
            </a:r>
          </a:p>
          <a:p>
            <a:pPr marL="742950" lvl="0" indent="-742950">
              <a:buFont typeface="+mj-lt"/>
              <a:buAutoNum type="arabicPeriod"/>
            </a:pPr>
            <a:r>
              <a:rPr lang="en-US" sz="3600" dirty="0" smtClean="0"/>
              <a:t>Application</a:t>
            </a:r>
            <a:endParaRPr lang="en-US" sz="36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2057400" y="6324600"/>
            <a:ext cx="4419600" cy="369332"/>
          </a:xfrm>
          <a:prstGeom prst="rect">
            <a:avLst/>
          </a:prstGeom>
          <a:noFill/>
        </p:spPr>
        <p:txBody>
          <a:bodyPr wrap="square" rtlCol="0">
            <a:spAutoFit/>
          </a:bodyPr>
          <a:lstStyle/>
          <a:p>
            <a:r>
              <a:rPr lang="en-US" dirty="0" smtClean="0">
                <a:solidFill>
                  <a:schemeClr val="bg1"/>
                </a:solidFill>
                <a:latin typeface="Verdana" pitchFamily="34" charset="0"/>
                <a:ea typeface="Verdana" pitchFamily="34" charset="0"/>
                <a:cs typeface="Verdana" pitchFamily="34" charset="0"/>
              </a:rPr>
              <a:t>Testing web applications &amp; services</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13" name="TextBox 12"/>
          <p:cNvSpPr txBox="1"/>
          <p:nvPr/>
        </p:nvSpPr>
        <p:spPr>
          <a:xfrm>
            <a:off x="7315200" y="0"/>
            <a:ext cx="1828800" cy="584775"/>
          </a:xfrm>
          <a:prstGeom prst="rect">
            <a:avLst/>
          </a:prstGeom>
          <a:solidFill>
            <a:schemeClr val="bg2">
              <a:lumMod val="75000"/>
            </a:schemeClr>
          </a:solidFill>
        </p:spPr>
        <p:txBody>
          <a:bodyPr wrap="square" rtlCol="0">
            <a:spAutoFit/>
          </a:bodyPr>
          <a:lstStyle/>
          <a:p>
            <a:r>
              <a:rPr lang="en-US" sz="3200" dirty="0" smtClean="0"/>
              <a:t>Networks</a:t>
            </a:r>
            <a:endParaRPr lang="en-US" sz="3200" dirty="0"/>
          </a:p>
        </p:txBody>
      </p:sp>
      <p:sp>
        <p:nvSpPr>
          <p:cNvPr id="8" name="TextBox 7"/>
          <p:cNvSpPr txBox="1"/>
          <p:nvPr/>
        </p:nvSpPr>
        <p:spPr>
          <a:xfrm>
            <a:off x="0" y="990600"/>
            <a:ext cx="9144000" cy="830997"/>
          </a:xfrm>
          <a:prstGeom prst="rect">
            <a:avLst/>
          </a:prstGeom>
          <a:noFill/>
        </p:spPr>
        <p:txBody>
          <a:bodyPr wrap="square" rtlCol="0">
            <a:spAutoFit/>
          </a:bodyPr>
          <a:lstStyle/>
          <a:p>
            <a:pPr algn="ctr"/>
            <a:r>
              <a:rPr lang="en-US" sz="4800" u="sng" dirty="0" smtClean="0"/>
              <a:t>The Internet Model</a:t>
            </a:r>
            <a:endParaRPr lang="en-US" sz="4800" u="sng" dirty="0"/>
          </a:p>
        </p:txBody>
      </p:sp>
      <p:sp>
        <p:nvSpPr>
          <p:cNvPr id="9" name="TextBox 8"/>
          <p:cNvSpPr txBox="1"/>
          <p:nvPr/>
        </p:nvSpPr>
        <p:spPr>
          <a:xfrm>
            <a:off x="2286000" y="1981200"/>
            <a:ext cx="4648200" cy="2862322"/>
          </a:xfrm>
          <a:prstGeom prst="rect">
            <a:avLst/>
          </a:prstGeom>
          <a:noFill/>
        </p:spPr>
        <p:txBody>
          <a:bodyPr wrap="square" rtlCol="0">
            <a:spAutoFit/>
          </a:bodyPr>
          <a:lstStyle/>
          <a:p>
            <a:pPr marL="742950" lvl="0" indent="-742950">
              <a:buFont typeface="+mj-lt"/>
              <a:buAutoNum type="arabicPeriod"/>
            </a:pPr>
            <a:r>
              <a:rPr lang="en-US" sz="3600" dirty="0" smtClean="0"/>
              <a:t>Link Layer</a:t>
            </a:r>
          </a:p>
          <a:p>
            <a:pPr marL="742950" lvl="0" indent="-742950">
              <a:buFont typeface="+mj-lt"/>
              <a:buAutoNum type="arabicPeriod"/>
            </a:pPr>
            <a:r>
              <a:rPr lang="en-US" sz="3600" dirty="0" smtClean="0"/>
              <a:t>Internet Layer</a:t>
            </a:r>
          </a:p>
          <a:p>
            <a:pPr marL="742950" lvl="0" indent="-742950">
              <a:buFont typeface="+mj-lt"/>
              <a:buAutoNum type="arabicPeriod"/>
            </a:pPr>
            <a:r>
              <a:rPr lang="en-US" sz="3600" dirty="0" smtClean="0"/>
              <a:t>Transport Layer</a:t>
            </a:r>
          </a:p>
          <a:p>
            <a:pPr marL="742950" lvl="0" indent="-742950">
              <a:buFont typeface="+mj-lt"/>
              <a:buAutoNum type="arabicPeriod"/>
            </a:pPr>
            <a:r>
              <a:rPr lang="en-US" sz="3600" dirty="0" smtClean="0"/>
              <a:t>Application Layer</a:t>
            </a:r>
          </a:p>
          <a:p>
            <a:pPr marL="742950" lvl="0" indent="-742950">
              <a:buFont typeface="+mj-lt"/>
              <a:buAutoNum type="arabicPeriod"/>
            </a:pPr>
            <a:endParaRPr lang="en-US" sz="36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2057400" y="6324600"/>
            <a:ext cx="4419600" cy="369332"/>
          </a:xfrm>
          <a:prstGeom prst="rect">
            <a:avLst/>
          </a:prstGeom>
          <a:noFill/>
        </p:spPr>
        <p:txBody>
          <a:bodyPr wrap="square" rtlCol="0">
            <a:spAutoFit/>
          </a:bodyPr>
          <a:lstStyle/>
          <a:p>
            <a:r>
              <a:rPr lang="en-US" dirty="0" smtClean="0">
                <a:solidFill>
                  <a:schemeClr val="bg1"/>
                </a:solidFill>
                <a:latin typeface="Verdana" pitchFamily="34" charset="0"/>
                <a:ea typeface="Verdana" pitchFamily="34" charset="0"/>
                <a:cs typeface="Verdana" pitchFamily="34" charset="0"/>
              </a:rPr>
              <a:t>Testing web applications &amp; services</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13" name="TextBox 12"/>
          <p:cNvSpPr txBox="1"/>
          <p:nvPr/>
        </p:nvSpPr>
        <p:spPr>
          <a:xfrm>
            <a:off x="7315200" y="0"/>
            <a:ext cx="1828800" cy="584775"/>
          </a:xfrm>
          <a:prstGeom prst="rect">
            <a:avLst/>
          </a:prstGeom>
          <a:solidFill>
            <a:schemeClr val="bg2">
              <a:lumMod val="75000"/>
            </a:schemeClr>
          </a:solidFill>
        </p:spPr>
        <p:txBody>
          <a:bodyPr wrap="square" rtlCol="0">
            <a:spAutoFit/>
          </a:bodyPr>
          <a:lstStyle/>
          <a:p>
            <a:r>
              <a:rPr lang="en-US" sz="3200" dirty="0" smtClean="0"/>
              <a:t>Networks</a:t>
            </a:r>
            <a:endParaRPr lang="en-US" sz="3200" dirty="0"/>
          </a:p>
        </p:txBody>
      </p:sp>
      <p:sp>
        <p:nvSpPr>
          <p:cNvPr id="8" name="TextBox 7"/>
          <p:cNvSpPr txBox="1"/>
          <p:nvPr/>
        </p:nvSpPr>
        <p:spPr>
          <a:xfrm>
            <a:off x="0" y="990600"/>
            <a:ext cx="9144000" cy="830997"/>
          </a:xfrm>
          <a:prstGeom prst="rect">
            <a:avLst/>
          </a:prstGeom>
          <a:noFill/>
        </p:spPr>
        <p:txBody>
          <a:bodyPr wrap="square" rtlCol="0">
            <a:spAutoFit/>
          </a:bodyPr>
          <a:lstStyle/>
          <a:p>
            <a:pPr algn="ctr"/>
            <a:r>
              <a:rPr lang="en-US" sz="4800" dirty="0" smtClean="0"/>
              <a:t>TCP/IP</a:t>
            </a:r>
            <a:endParaRPr lang="en-US" sz="4800" dirty="0"/>
          </a:p>
        </p:txBody>
      </p:sp>
      <p:pic>
        <p:nvPicPr>
          <p:cNvPr id="12" name="Picture 11" descr="tcpip-packet.jpg"/>
          <p:cNvPicPr>
            <a:picLocks noChangeAspect="1"/>
          </p:cNvPicPr>
          <p:nvPr/>
        </p:nvPicPr>
        <p:blipFill>
          <a:blip r:embed="rId5" cstate="print"/>
          <a:stretch>
            <a:fillRect/>
          </a:stretch>
        </p:blipFill>
        <p:spPr>
          <a:xfrm>
            <a:off x="1371600" y="1600200"/>
            <a:ext cx="6019799" cy="443900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2057400" y="6324600"/>
            <a:ext cx="4419600" cy="369332"/>
          </a:xfrm>
          <a:prstGeom prst="rect">
            <a:avLst/>
          </a:prstGeom>
          <a:noFill/>
        </p:spPr>
        <p:txBody>
          <a:bodyPr wrap="square" rtlCol="0">
            <a:spAutoFit/>
          </a:bodyPr>
          <a:lstStyle/>
          <a:p>
            <a:r>
              <a:rPr lang="en-US" dirty="0" smtClean="0">
                <a:solidFill>
                  <a:schemeClr val="bg1"/>
                </a:solidFill>
                <a:latin typeface="Verdana" pitchFamily="34" charset="0"/>
                <a:ea typeface="Verdana" pitchFamily="34" charset="0"/>
                <a:cs typeface="Verdana" pitchFamily="34" charset="0"/>
              </a:rPr>
              <a:t>Testing web applications &amp; services</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13" name="TextBox 12"/>
          <p:cNvSpPr txBox="1"/>
          <p:nvPr/>
        </p:nvSpPr>
        <p:spPr>
          <a:xfrm>
            <a:off x="7315200" y="0"/>
            <a:ext cx="1828800" cy="584775"/>
          </a:xfrm>
          <a:prstGeom prst="rect">
            <a:avLst/>
          </a:prstGeom>
          <a:solidFill>
            <a:schemeClr val="bg2">
              <a:lumMod val="75000"/>
            </a:schemeClr>
          </a:solidFill>
        </p:spPr>
        <p:txBody>
          <a:bodyPr wrap="square" rtlCol="0">
            <a:spAutoFit/>
          </a:bodyPr>
          <a:lstStyle/>
          <a:p>
            <a:r>
              <a:rPr lang="en-US" sz="3200" dirty="0" smtClean="0"/>
              <a:t>Networks</a:t>
            </a:r>
            <a:endParaRPr lang="en-US" sz="3200" dirty="0"/>
          </a:p>
        </p:txBody>
      </p:sp>
      <p:sp>
        <p:nvSpPr>
          <p:cNvPr id="8" name="TextBox 7"/>
          <p:cNvSpPr txBox="1"/>
          <p:nvPr/>
        </p:nvSpPr>
        <p:spPr>
          <a:xfrm>
            <a:off x="0" y="838200"/>
            <a:ext cx="9144000" cy="830997"/>
          </a:xfrm>
          <a:prstGeom prst="rect">
            <a:avLst/>
          </a:prstGeom>
          <a:noFill/>
        </p:spPr>
        <p:txBody>
          <a:bodyPr wrap="square" rtlCol="0">
            <a:spAutoFit/>
          </a:bodyPr>
          <a:lstStyle/>
          <a:p>
            <a:pPr algn="ctr"/>
            <a:r>
              <a:rPr lang="en-US" sz="4800" dirty="0" smtClean="0"/>
              <a:t>Routing</a:t>
            </a:r>
            <a:endParaRPr lang="en-US" sz="4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2057400" y="6324600"/>
            <a:ext cx="4419600" cy="369332"/>
          </a:xfrm>
          <a:prstGeom prst="rect">
            <a:avLst/>
          </a:prstGeom>
          <a:noFill/>
        </p:spPr>
        <p:txBody>
          <a:bodyPr wrap="square" rtlCol="0">
            <a:spAutoFit/>
          </a:bodyPr>
          <a:lstStyle/>
          <a:p>
            <a:r>
              <a:rPr lang="en-US" dirty="0" smtClean="0">
                <a:solidFill>
                  <a:schemeClr val="bg1"/>
                </a:solidFill>
                <a:latin typeface="Verdana" pitchFamily="34" charset="0"/>
                <a:ea typeface="Verdana" pitchFamily="34" charset="0"/>
                <a:cs typeface="Verdana" pitchFamily="34" charset="0"/>
              </a:rPr>
              <a:t>Testing web applications &amp; services</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13" name="TextBox 12"/>
          <p:cNvSpPr txBox="1"/>
          <p:nvPr/>
        </p:nvSpPr>
        <p:spPr>
          <a:xfrm>
            <a:off x="7315200" y="0"/>
            <a:ext cx="1828800" cy="584775"/>
          </a:xfrm>
          <a:prstGeom prst="rect">
            <a:avLst/>
          </a:prstGeom>
          <a:solidFill>
            <a:schemeClr val="bg2">
              <a:lumMod val="75000"/>
            </a:schemeClr>
          </a:solidFill>
        </p:spPr>
        <p:txBody>
          <a:bodyPr wrap="square" rtlCol="0">
            <a:spAutoFit/>
          </a:bodyPr>
          <a:lstStyle/>
          <a:p>
            <a:r>
              <a:rPr lang="en-US" sz="3200" dirty="0" smtClean="0"/>
              <a:t>Networks</a:t>
            </a:r>
            <a:endParaRPr lang="en-US" sz="3200" dirty="0"/>
          </a:p>
        </p:txBody>
      </p:sp>
      <p:sp>
        <p:nvSpPr>
          <p:cNvPr id="8" name="TextBox 7"/>
          <p:cNvSpPr txBox="1"/>
          <p:nvPr/>
        </p:nvSpPr>
        <p:spPr>
          <a:xfrm>
            <a:off x="0" y="990600"/>
            <a:ext cx="9144000" cy="830997"/>
          </a:xfrm>
          <a:prstGeom prst="rect">
            <a:avLst/>
          </a:prstGeom>
          <a:noFill/>
        </p:spPr>
        <p:txBody>
          <a:bodyPr wrap="square" rtlCol="0">
            <a:spAutoFit/>
          </a:bodyPr>
          <a:lstStyle/>
          <a:p>
            <a:pPr algn="ctr"/>
            <a:r>
              <a:rPr lang="en-US" sz="4800" dirty="0" smtClean="0"/>
              <a:t>DNS</a:t>
            </a:r>
            <a:endParaRPr lang="en-US" sz="4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2057400" y="6324600"/>
            <a:ext cx="4419600" cy="369332"/>
          </a:xfrm>
          <a:prstGeom prst="rect">
            <a:avLst/>
          </a:prstGeom>
          <a:noFill/>
        </p:spPr>
        <p:txBody>
          <a:bodyPr wrap="square" rtlCol="0">
            <a:spAutoFit/>
          </a:bodyPr>
          <a:lstStyle/>
          <a:p>
            <a:r>
              <a:rPr lang="en-US" dirty="0" smtClean="0">
                <a:solidFill>
                  <a:schemeClr val="bg1"/>
                </a:solidFill>
                <a:latin typeface="Verdana" pitchFamily="34" charset="0"/>
                <a:ea typeface="Verdana" pitchFamily="34" charset="0"/>
                <a:cs typeface="Verdana" pitchFamily="34" charset="0"/>
              </a:rPr>
              <a:t>Testing web applications &amp; services</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13" name="TextBox 12"/>
          <p:cNvSpPr txBox="1"/>
          <p:nvPr/>
        </p:nvSpPr>
        <p:spPr>
          <a:xfrm>
            <a:off x="7315200" y="0"/>
            <a:ext cx="1828800" cy="584775"/>
          </a:xfrm>
          <a:prstGeom prst="rect">
            <a:avLst/>
          </a:prstGeom>
          <a:solidFill>
            <a:schemeClr val="bg2">
              <a:lumMod val="75000"/>
            </a:schemeClr>
          </a:solidFill>
        </p:spPr>
        <p:txBody>
          <a:bodyPr wrap="square" rtlCol="0">
            <a:spAutoFit/>
          </a:bodyPr>
          <a:lstStyle/>
          <a:p>
            <a:r>
              <a:rPr lang="en-US" sz="3200" dirty="0" smtClean="0"/>
              <a:t>Networks</a:t>
            </a:r>
            <a:endParaRPr lang="en-US" sz="3200" dirty="0"/>
          </a:p>
        </p:txBody>
      </p:sp>
      <p:sp>
        <p:nvSpPr>
          <p:cNvPr id="8" name="TextBox 7"/>
          <p:cNvSpPr txBox="1"/>
          <p:nvPr/>
        </p:nvSpPr>
        <p:spPr>
          <a:xfrm>
            <a:off x="0" y="990600"/>
            <a:ext cx="9144000" cy="830997"/>
          </a:xfrm>
          <a:prstGeom prst="rect">
            <a:avLst/>
          </a:prstGeom>
          <a:noFill/>
        </p:spPr>
        <p:txBody>
          <a:bodyPr wrap="square" rtlCol="0">
            <a:spAutoFit/>
          </a:bodyPr>
          <a:lstStyle/>
          <a:p>
            <a:pPr algn="ctr"/>
            <a:r>
              <a:rPr lang="en-US" sz="4800" dirty="0" smtClean="0"/>
              <a:t>Exercise:</a:t>
            </a:r>
          </a:p>
        </p:txBody>
      </p:sp>
      <p:sp>
        <p:nvSpPr>
          <p:cNvPr id="9" name="TextBox 8"/>
          <p:cNvSpPr txBox="1"/>
          <p:nvPr/>
        </p:nvSpPr>
        <p:spPr>
          <a:xfrm>
            <a:off x="0" y="2209800"/>
            <a:ext cx="9144000" cy="830997"/>
          </a:xfrm>
          <a:prstGeom prst="rect">
            <a:avLst/>
          </a:prstGeom>
          <a:noFill/>
        </p:spPr>
        <p:txBody>
          <a:bodyPr wrap="square" rtlCol="0">
            <a:spAutoFit/>
          </a:bodyPr>
          <a:lstStyle/>
          <a:p>
            <a:pPr algn="ctr"/>
            <a:r>
              <a:rPr lang="en-US" sz="4800" dirty="0" smtClean="0"/>
              <a:t>Viewing packets with </a:t>
            </a:r>
            <a:r>
              <a:rPr lang="en-US" sz="4800" dirty="0" err="1" smtClean="0"/>
              <a:t>Wireshark</a:t>
            </a:r>
            <a:endParaRPr lang="en-US" sz="48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2057400" y="6324600"/>
            <a:ext cx="4419600" cy="369332"/>
          </a:xfrm>
          <a:prstGeom prst="rect">
            <a:avLst/>
          </a:prstGeom>
          <a:noFill/>
        </p:spPr>
        <p:txBody>
          <a:bodyPr wrap="square" rtlCol="0">
            <a:spAutoFit/>
          </a:bodyPr>
          <a:lstStyle/>
          <a:p>
            <a:r>
              <a:rPr lang="en-US" dirty="0" smtClean="0">
                <a:solidFill>
                  <a:schemeClr val="bg1"/>
                </a:solidFill>
                <a:latin typeface="Verdana" pitchFamily="34" charset="0"/>
                <a:ea typeface="Verdana" pitchFamily="34" charset="0"/>
                <a:cs typeface="Verdana" pitchFamily="34" charset="0"/>
              </a:rPr>
              <a:t>Testing web applications &amp; services</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13" name="TextBox 12"/>
          <p:cNvSpPr txBox="1"/>
          <p:nvPr/>
        </p:nvSpPr>
        <p:spPr>
          <a:xfrm>
            <a:off x="7315200" y="0"/>
            <a:ext cx="1828800" cy="584775"/>
          </a:xfrm>
          <a:prstGeom prst="rect">
            <a:avLst/>
          </a:prstGeom>
          <a:solidFill>
            <a:schemeClr val="bg2">
              <a:lumMod val="75000"/>
            </a:schemeClr>
          </a:solidFill>
        </p:spPr>
        <p:txBody>
          <a:bodyPr wrap="square" rtlCol="0">
            <a:spAutoFit/>
          </a:bodyPr>
          <a:lstStyle/>
          <a:p>
            <a:r>
              <a:rPr lang="en-US" sz="3200" dirty="0" smtClean="0"/>
              <a:t>Networks</a:t>
            </a:r>
            <a:endParaRPr lang="en-US" sz="3200" dirty="0"/>
          </a:p>
        </p:txBody>
      </p:sp>
      <p:sp>
        <p:nvSpPr>
          <p:cNvPr id="8" name="TextBox 7"/>
          <p:cNvSpPr txBox="1"/>
          <p:nvPr/>
        </p:nvSpPr>
        <p:spPr>
          <a:xfrm>
            <a:off x="0" y="990600"/>
            <a:ext cx="9144000" cy="830997"/>
          </a:xfrm>
          <a:prstGeom prst="rect">
            <a:avLst/>
          </a:prstGeom>
          <a:noFill/>
        </p:spPr>
        <p:txBody>
          <a:bodyPr wrap="square" rtlCol="0">
            <a:spAutoFit/>
          </a:bodyPr>
          <a:lstStyle/>
          <a:p>
            <a:pPr algn="ctr"/>
            <a:r>
              <a:rPr lang="en-US" sz="4800" dirty="0" smtClean="0"/>
              <a:t>Exercise:</a:t>
            </a:r>
          </a:p>
        </p:txBody>
      </p:sp>
    </p:spTree>
    <p:extLst>
      <p:ext uri="{BB962C8B-B14F-4D97-AF65-F5344CB8AC3E}">
        <p14:creationId xmlns:p14="http://schemas.microsoft.com/office/powerpoint/2010/main" val="7518455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096000"/>
            <a:ext cx="9144000" cy="7620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228600" y="6248400"/>
            <a:ext cx="1371600" cy="410346"/>
          </a:xfrm>
          <a:prstGeom prst="rect">
            <a:avLst/>
          </a:prstGeom>
          <a:noFill/>
          <a:ln w="9525">
            <a:noFill/>
            <a:miter lim="800000"/>
            <a:headEnd/>
            <a:tailEnd/>
          </a:ln>
          <a:effectLst/>
        </p:spPr>
      </p:pic>
      <p:sp>
        <p:nvSpPr>
          <p:cNvPr id="10" name="TextBox 9"/>
          <p:cNvSpPr txBox="1"/>
          <p:nvPr/>
        </p:nvSpPr>
        <p:spPr>
          <a:xfrm>
            <a:off x="2057400" y="6324600"/>
            <a:ext cx="4419600" cy="369332"/>
          </a:xfrm>
          <a:prstGeom prst="rect">
            <a:avLst/>
          </a:prstGeom>
          <a:noFill/>
        </p:spPr>
        <p:txBody>
          <a:bodyPr wrap="square" rtlCol="0">
            <a:spAutoFit/>
          </a:bodyPr>
          <a:lstStyle/>
          <a:p>
            <a:r>
              <a:rPr lang="en-US" dirty="0" smtClean="0">
                <a:solidFill>
                  <a:schemeClr val="bg1"/>
                </a:solidFill>
                <a:latin typeface="Verdana" pitchFamily="34" charset="0"/>
                <a:ea typeface="Verdana" pitchFamily="34" charset="0"/>
                <a:cs typeface="Verdana" pitchFamily="34" charset="0"/>
              </a:rPr>
              <a:t>Testing web applications &amp; services</a:t>
            </a:r>
            <a:endParaRPr lang="en-US" dirty="0">
              <a:solidFill>
                <a:schemeClr val="bg1"/>
              </a:solidFill>
              <a:latin typeface="Verdana" pitchFamily="34" charset="0"/>
              <a:ea typeface="Verdana" pitchFamily="34" charset="0"/>
              <a:cs typeface="Verdana" pitchFamily="34" charset="0"/>
            </a:endParaRPr>
          </a:p>
        </p:txBody>
      </p:sp>
      <p:pic>
        <p:nvPicPr>
          <p:cNvPr id="1033" name="Picture 9"/>
          <p:cNvPicPr>
            <a:picLocks noChangeAspect="1" noChangeArrowheads="1"/>
          </p:cNvPicPr>
          <p:nvPr/>
        </p:nvPicPr>
        <p:blipFill>
          <a:blip r:embed="rId4" cstate="print"/>
          <a:srcRect/>
          <a:stretch>
            <a:fillRect/>
          </a:stretch>
        </p:blipFill>
        <p:spPr bwMode="auto">
          <a:xfrm>
            <a:off x="6934202" y="6248400"/>
            <a:ext cx="1981195" cy="431239"/>
          </a:xfrm>
          <a:prstGeom prst="rect">
            <a:avLst/>
          </a:prstGeom>
          <a:noFill/>
          <a:ln w="9525">
            <a:noFill/>
            <a:miter lim="800000"/>
            <a:headEnd/>
            <a:tailEnd/>
          </a:ln>
          <a:effectLst/>
        </p:spPr>
      </p:pic>
      <p:sp>
        <p:nvSpPr>
          <p:cNvPr id="13" name="TextBox 12"/>
          <p:cNvSpPr txBox="1"/>
          <p:nvPr/>
        </p:nvSpPr>
        <p:spPr>
          <a:xfrm>
            <a:off x="7315200" y="0"/>
            <a:ext cx="1828800" cy="584775"/>
          </a:xfrm>
          <a:prstGeom prst="rect">
            <a:avLst/>
          </a:prstGeom>
          <a:solidFill>
            <a:schemeClr val="bg2">
              <a:lumMod val="75000"/>
            </a:schemeClr>
          </a:solidFill>
        </p:spPr>
        <p:txBody>
          <a:bodyPr wrap="square" rtlCol="0">
            <a:spAutoFit/>
          </a:bodyPr>
          <a:lstStyle/>
          <a:p>
            <a:r>
              <a:rPr lang="en-US" sz="3200" dirty="0" smtClean="0"/>
              <a:t>Networks</a:t>
            </a:r>
            <a:endParaRPr lang="en-US" sz="3200" dirty="0"/>
          </a:p>
        </p:txBody>
      </p:sp>
      <p:sp>
        <p:nvSpPr>
          <p:cNvPr id="8" name="TextBox 7"/>
          <p:cNvSpPr txBox="1"/>
          <p:nvPr/>
        </p:nvSpPr>
        <p:spPr>
          <a:xfrm>
            <a:off x="0" y="990600"/>
            <a:ext cx="9144000" cy="830997"/>
          </a:xfrm>
          <a:prstGeom prst="rect">
            <a:avLst/>
          </a:prstGeom>
          <a:noFill/>
        </p:spPr>
        <p:txBody>
          <a:bodyPr wrap="square" rtlCol="0">
            <a:spAutoFit/>
          </a:bodyPr>
          <a:lstStyle/>
          <a:p>
            <a:pPr algn="ctr"/>
            <a:r>
              <a:rPr lang="en-US" sz="4800" dirty="0" smtClean="0"/>
              <a:t>Exercise:</a:t>
            </a:r>
          </a:p>
        </p:txBody>
      </p:sp>
      <p:sp>
        <p:nvSpPr>
          <p:cNvPr id="9" name="TextBox 8"/>
          <p:cNvSpPr txBox="1"/>
          <p:nvPr/>
        </p:nvSpPr>
        <p:spPr>
          <a:xfrm>
            <a:off x="0" y="2209800"/>
            <a:ext cx="9144000" cy="1569660"/>
          </a:xfrm>
          <a:prstGeom prst="rect">
            <a:avLst/>
          </a:prstGeom>
          <a:noFill/>
        </p:spPr>
        <p:txBody>
          <a:bodyPr wrap="square" rtlCol="0">
            <a:spAutoFit/>
          </a:bodyPr>
          <a:lstStyle/>
          <a:p>
            <a:pPr algn="ctr"/>
            <a:r>
              <a:rPr lang="en-US" sz="4800" dirty="0" smtClean="0"/>
              <a:t>Using ping, traceroute, and </a:t>
            </a:r>
            <a:r>
              <a:rPr lang="en-US" sz="4800" dirty="0" err="1" smtClean="0"/>
              <a:t>nslookup</a:t>
            </a:r>
            <a:endParaRPr lang="en-US" sz="48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5107</TotalTime>
  <Words>3259</Words>
  <Application>Microsoft Office PowerPoint</Application>
  <PresentationFormat>On-screen Show (4:3)</PresentationFormat>
  <Paragraphs>282</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Aaron Evans</dc:creator>
  <cp:lastModifiedBy>Aaron Evans</cp:lastModifiedBy>
  <cp:revision>117</cp:revision>
  <dcterms:created xsi:type="dcterms:W3CDTF">2013-02-19T03:44:03Z</dcterms:created>
  <dcterms:modified xsi:type="dcterms:W3CDTF">2013-03-07T19:02:11Z</dcterms:modified>
</cp:coreProperties>
</file>
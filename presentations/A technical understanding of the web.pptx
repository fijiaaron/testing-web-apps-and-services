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9" r:id="rId3"/>
    <p:sldId id="260" r:id="rId4"/>
    <p:sldId id="261" r:id="rId5"/>
    <p:sldId id="263" r:id="rId6"/>
    <p:sldId id="262" r:id="rId7"/>
    <p:sldId id="264" r:id="rId8"/>
    <p:sldId id="265" r:id="rId9"/>
    <p:sldId id="266" r:id="rId10"/>
    <p:sldId id="267" r:id="rId11"/>
    <p:sldId id="268" r:id="rId12"/>
    <p:sldId id="270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45951" autoAdjust="0"/>
  </p:normalViewPr>
  <p:slideViewPr>
    <p:cSldViewPr>
      <p:cViewPr varScale="1">
        <p:scale>
          <a:sx n="52" d="100"/>
          <a:sy n="52" d="100"/>
        </p:scale>
        <p:origin x="-2688" y="-90"/>
      </p:cViewPr>
      <p:guideLst>
        <p:guide orient="horz" pos="2160"/>
        <p:guide pos="2880"/>
      </p:guideLst>
    </p:cSldViewPr>
  </p:slideViewPr>
  <p:notesTextViewPr>
    <p:cViewPr>
      <p:scale>
        <a:sx n="66" d="100"/>
        <a:sy n="66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516BE-303C-4073-A4FC-07E358FC6551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8E330-6F11-4EB8-9125-0BEE82D1673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sz="1400" baseline="0" dirty="0" smtClean="0">
                <a:solidFill>
                  <a:srgbClr val="FF0000"/>
                </a:solidFill>
              </a:rPr>
              <a:t>This is a note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baseline="0" dirty="0" smtClean="0"/>
              <a:t>1846 – Samuel B. Morse invented the telegraph</a:t>
            </a:r>
          </a:p>
          <a:p>
            <a:endParaRPr lang="en-US" baseline="0" dirty="0" smtClean="0"/>
          </a:p>
          <a:p>
            <a:r>
              <a:rPr lang="en-US" baseline="0" dirty="0" smtClean="0"/>
              <a:t>1920s – In the first part of the last century the teletype was invented.  Teletypes were different than </a:t>
            </a:r>
          </a:p>
          <a:p>
            <a:endParaRPr lang="en-US" baseline="0" dirty="0" smtClean="0"/>
          </a:p>
          <a:p>
            <a:r>
              <a:rPr lang="en-US" baseline="0" dirty="0" smtClean="0"/>
              <a:t>1957 – Timesharing computers</a:t>
            </a:r>
          </a:p>
          <a:p>
            <a:endParaRPr lang="en-US" baseline="0" dirty="0" smtClean="0"/>
          </a:p>
          <a:p>
            <a:endParaRPr lang="en-US" baseline="0" dirty="0" smtClean="0"/>
          </a:p>
          <a:p>
            <a:endParaRPr lang="en-US" baseline="0" dirty="0" smtClean="0"/>
          </a:p>
          <a:p>
            <a:r>
              <a:rPr lang="en-US" baseline="0" dirty="0" smtClean="0"/>
              <a:t>1971 – Ray Tomlinson invented emails </a:t>
            </a:r>
          </a:p>
          <a:p>
            <a:endParaRPr lang="en-US" baseline="0" dirty="0" smtClean="0"/>
          </a:p>
          <a:p>
            <a:r>
              <a:rPr lang="en-US" baseline="0" dirty="0" smtClean="0"/>
              <a:t>1978 – Spam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OSI model is a standard that was developed by a committee called 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 describes 7 layers of communication over a network, from the hardware to the application.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physical layer is at the bottom.  It describes the electrical and physical specifications for devices.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 establishes and terminates a connection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 handles things like modulation (like AM/FM radios) and conversion from analog to digital (via modem.)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Morse code this would be the tapping switch and the receiving buzzer.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data link layer describes how the process for transferring data between systems on the network.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practice, this is usually just used for error correction.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PPP (Point to Point protocol) is at this layer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 Address broadcast is also at this layer.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 it were Morse code, this would mean the electrical signals that sends the beeps over the wire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network layer describes how messages are sent.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Routers operate at this level.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our Morse code example this doesn’t have a direct correlation because Norse code is sent over a single wire (or frequency)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transport layer describes how packets are sent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 Morse code this would describe the short and long signals.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TCP/IP lives at this level.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endParaRPr lang="en-US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baseline="0" dirty="0" smtClean="0"/>
              <a:t>The session layer controls the connections between </a:t>
            </a:r>
            <a:r>
              <a:rPr lang="en-US" baseline="0" dirty="0" err="1" smtClean="0"/>
              <a:t>comptuers</a:t>
            </a:r>
            <a:r>
              <a:rPr lang="en-US" baseline="0" dirty="0" smtClean="0"/>
              <a:t>.  It establishes, maintains, and terminates the connection.  </a:t>
            </a:r>
          </a:p>
          <a:p>
            <a:r>
              <a:rPr lang="en-US" baseline="0" dirty="0" smtClean="0"/>
              <a:t>The carrier signal and </a:t>
            </a:r>
            <a:r>
              <a:rPr lang="en-US" baseline="0" dirty="0" err="1" smtClean="0"/>
              <a:t>hangup</a:t>
            </a:r>
            <a:r>
              <a:rPr lang="en-US" baseline="0" dirty="0" smtClean="0"/>
              <a:t> for a phone are roughly at this layer.</a:t>
            </a:r>
            <a:br>
              <a:rPr lang="en-US" baseline="0" dirty="0" smtClean="0"/>
            </a:br>
            <a:r>
              <a:rPr lang="en-US" baseline="0" dirty="0" smtClean="0"/>
              <a:t>When you get “the remote connection has terminated” that’s a closed session.</a:t>
            </a:r>
          </a:p>
          <a:p>
            <a:endParaRPr lang="en-US" baseline="0" dirty="0" smtClean="0"/>
          </a:p>
          <a:p>
            <a:r>
              <a:rPr lang="en-US" baseline="0" dirty="0" smtClean="0"/>
              <a:t>The application layer is closest to the user, but it’s not really that close.</a:t>
            </a:r>
          </a:p>
          <a:p>
            <a:r>
              <a:rPr lang="en-US" baseline="0" dirty="0" smtClean="0"/>
              <a:t>This is things like HTTP, FTP, TELNET SMTP protocols.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baseline="0" dirty="0" smtClean="0"/>
              <a:t>But the OSI layer isn’t really practical.  The internet, in practice, uses a much simpler model.</a:t>
            </a:r>
          </a:p>
          <a:p>
            <a:endParaRPr lang="en-US" baseline="0" dirty="0" smtClean="0"/>
          </a:p>
          <a:p>
            <a:pPr lvl="0"/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TCP/IP describes</a:t>
            </a: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 simpler model the </a:t>
            </a:r>
            <a:r>
              <a:rPr lang="en-US" sz="1200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OSI, which was, after all designed by a committee.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link layer is for communication on a local network.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Ethernet lives at this layer .  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internet layer connects networks creating an internetwork.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internet protocol (IP of TCP/IP) lives at this layer.  It handles routing.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transport layer handles communication between hosts.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There is no session maintenance.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TCP (or UDP) packets are formed and received.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 correction is build into the protocol (or left out, as in UDP which is less concerned if some packets are lost , for example, when streaming)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err="1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Transmision</a:t>
            </a: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Control Protocol</a:t>
            </a: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Datagram Protocol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physical layer is not described, since TCP/IP  is designed to be  hardware independent.</a:t>
            </a: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endParaRPr lang="en-US" sz="1200" kern="1200" baseline="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lvl="0"/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baseline="0" dirty="0" smtClean="0"/>
              <a:t>TCP/IP is the standard  protocol for delivering information over the internet.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IP is responsible for routing between systems and TCP is responsible for delivering data.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You can see from this diagram of a TCP/IP packet, the IP Header has the source and destination address.</a:t>
            </a:r>
          </a:p>
          <a:p>
            <a:pPr lvl="0"/>
            <a:r>
              <a:rPr lang="en-US" baseline="0" dirty="0" smtClean="0"/>
              <a:t>The IP address that routers use to transport a packet between networks.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baseline="0" dirty="0" smtClean="0"/>
              <a:t>TCP/IP is the standard  protocol for delivering information over the internet.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IP is responsible for routing between systems and TCP is responsible for delivering data.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You can see from this diagram of a TCP/IP packet, the IP Header has the source and destination address.</a:t>
            </a:r>
          </a:p>
          <a:p>
            <a:pPr lvl="0"/>
            <a:r>
              <a:rPr lang="en-US" baseline="0" dirty="0" smtClean="0"/>
              <a:t>The IP address that routers use to transport a packet </a:t>
            </a:r>
            <a:r>
              <a:rPr lang="en-US" baseline="0" smtClean="0"/>
              <a:t>between networks.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baseline="0" dirty="0" smtClean="0"/>
              <a:t>TCP/IP is the standard  protocol for delivering information over the internet.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IP is responsible for routing between systems and TCP is responsible for delivering data.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You can see from this diagram of a TCP/IP packet, the IP Header has the source and destination address.</a:t>
            </a:r>
          </a:p>
          <a:p>
            <a:pPr lvl="0"/>
            <a:r>
              <a:rPr lang="en-US" baseline="0" dirty="0" smtClean="0"/>
              <a:t>The IP address that routers use to transport a packet </a:t>
            </a:r>
            <a:r>
              <a:rPr lang="en-US" baseline="0" smtClean="0"/>
              <a:t>between networks.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baseline="0" dirty="0" smtClean="0"/>
              <a:t>TCP/IP is the standard  protocol for delivering information over the internet.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IP is responsible for routing between systems and TCP is responsible for delivering data.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You can see from this diagram of a TCP/IP packet, the IP Header has the source and destination address.</a:t>
            </a:r>
          </a:p>
          <a:p>
            <a:pPr lvl="0"/>
            <a:r>
              <a:rPr lang="en-US" baseline="0" dirty="0" smtClean="0"/>
              <a:t>The IP address that routers use to transport a packet </a:t>
            </a:r>
            <a:r>
              <a:rPr lang="en-US" baseline="0" smtClean="0"/>
              <a:t>between networks.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baseline="0" dirty="0" smtClean="0"/>
              <a:t>TCP/IP is the standard  protocol for delivering information over the internet.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IP is responsible for routing between systems and TCP is responsible for delivering data.</a:t>
            </a:r>
          </a:p>
          <a:p>
            <a:pPr lvl="0"/>
            <a:endParaRPr lang="en-US" baseline="0" dirty="0" smtClean="0"/>
          </a:p>
          <a:p>
            <a:pPr lvl="0"/>
            <a:r>
              <a:rPr lang="en-US" baseline="0" dirty="0" smtClean="0"/>
              <a:t>You can see from this diagram of a TCP/IP packet, the IP Header has the source and destination address.</a:t>
            </a:r>
          </a:p>
          <a:p>
            <a:pPr lvl="0"/>
            <a:r>
              <a:rPr lang="en-US" baseline="0" dirty="0" smtClean="0"/>
              <a:t>The IP address that routers use to transport a packet </a:t>
            </a:r>
            <a:r>
              <a:rPr lang="en-US" baseline="0" smtClean="0"/>
              <a:t>between networks.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9E5ED-425F-4E07-BCD6-7E079AD34B1B}" type="datetimeFigureOut">
              <a:rPr lang="en-US" smtClean="0"/>
              <a:pPr/>
              <a:t>3/7/2013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A technical understanding of the web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A technical understanding </a:t>
            </a:r>
          </a:p>
          <a:p>
            <a:pPr algn="ctr"/>
            <a:r>
              <a:rPr lang="en-US" sz="4800" dirty="0" smtClean="0"/>
              <a:t>of the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48200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Day 1 – Section 2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A brief history of the internet</a:t>
            </a:r>
            <a:endParaRPr lang="en-US" sz="4800" dirty="0"/>
          </a:p>
        </p:txBody>
      </p:sp>
      <p:pic>
        <p:nvPicPr>
          <p:cNvPr id="8" name="Picture 7" descr="pac-man.gif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3276600" y="2133600"/>
            <a:ext cx="2819400" cy="375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467600" y="0"/>
            <a:ext cx="1676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Timeline</a:t>
            </a:r>
            <a:endParaRPr lang="en-US" sz="3200" dirty="0"/>
          </a:p>
        </p:txBody>
      </p:sp>
      <p:sp>
        <p:nvSpPr>
          <p:cNvPr id="9" name="TextBox 8"/>
          <p:cNvSpPr txBox="1"/>
          <p:nvPr/>
        </p:nvSpPr>
        <p:spPr>
          <a:xfrm>
            <a:off x="0" y="609601"/>
            <a:ext cx="9144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1846 – Telegraph</a:t>
            </a:r>
          </a:p>
          <a:p>
            <a:r>
              <a:rPr lang="en-US" sz="3600" dirty="0" smtClean="0"/>
              <a:t>1920s – Teletypes invented</a:t>
            </a:r>
          </a:p>
          <a:p>
            <a:r>
              <a:rPr lang="en-US" sz="3600" dirty="0" smtClean="0"/>
              <a:t>1957 – Timesharing systems</a:t>
            </a:r>
          </a:p>
          <a:p>
            <a:r>
              <a:rPr lang="en-US" sz="3600" dirty="0" smtClean="0"/>
              <a:t>1958 – DARPA founded in response to Sputnik</a:t>
            </a:r>
          </a:p>
          <a:p>
            <a:r>
              <a:rPr lang="en-US" sz="3600" dirty="0" smtClean="0"/>
              <a:t>1961 – Packet switching invented</a:t>
            </a:r>
          </a:p>
          <a:p>
            <a:r>
              <a:rPr lang="en-US" sz="3600" dirty="0" smtClean="0"/>
              <a:t>1962 – First network communication tested</a:t>
            </a:r>
          </a:p>
          <a:p>
            <a:r>
              <a:rPr lang="en-US" sz="3600" dirty="0" smtClean="0"/>
              <a:t>1969 – ARPANET created</a:t>
            </a:r>
          </a:p>
          <a:p>
            <a:r>
              <a:rPr lang="en-US" sz="3600" dirty="0" smtClean="0"/>
              <a:t>1969 – Unix operating system</a:t>
            </a:r>
          </a:p>
          <a:p>
            <a:r>
              <a:rPr lang="en-US" sz="3600" dirty="0" smtClean="0"/>
              <a:t>1971 – Email invented</a:t>
            </a:r>
          </a:p>
          <a:p>
            <a:r>
              <a:rPr lang="en-US" sz="3600" dirty="0" smtClean="0"/>
              <a:t>1982 – TCP/IP protocol developed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467600" y="0"/>
            <a:ext cx="1676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Timeline</a:t>
            </a:r>
            <a:endParaRPr lang="en-US" sz="3200" dirty="0"/>
          </a:p>
        </p:txBody>
      </p:sp>
      <p:sp>
        <p:nvSpPr>
          <p:cNvPr id="9" name="TextBox 8"/>
          <p:cNvSpPr txBox="1"/>
          <p:nvPr/>
        </p:nvSpPr>
        <p:spPr>
          <a:xfrm>
            <a:off x="0" y="609600"/>
            <a:ext cx="9144000" cy="6338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1977 – The first modem for personal computers</a:t>
            </a:r>
          </a:p>
          <a:p>
            <a:r>
              <a:rPr lang="en-US" sz="3600" dirty="0" smtClean="0"/>
              <a:t>1984 – Domain Name System </a:t>
            </a:r>
          </a:p>
          <a:p>
            <a:r>
              <a:rPr lang="en-US" sz="3600" dirty="0" smtClean="0"/>
              <a:t>1980s – Bulletin Board Systems</a:t>
            </a:r>
          </a:p>
          <a:p>
            <a:r>
              <a:rPr lang="en-US" sz="3600" dirty="0" smtClean="0"/>
              <a:t>1990 – Dial up internet access</a:t>
            </a:r>
          </a:p>
          <a:p>
            <a:r>
              <a:rPr lang="en-US" sz="3600" dirty="0" smtClean="0"/>
              <a:t>1991 – America Online</a:t>
            </a:r>
          </a:p>
          <a:p>
            <a:r>
              <a:rPr lang="en-US" sz="3600" dirty="0" smtClean="0"/>
              <a:t>1991 – Tim Berners-Lee’s “World Wide Web”</a:t>
            </a:r>
          </a:p>
          <a:p>
            <a:r>
              <a:rPr lang="en-US" sz="3600" dirty="0" smtClean="0"/>
              <a:t>1993 – Mosaic browser</a:t>
            </a:r>
          </a:p>
          <a:p>
            <a:r>
              <a:rPr lang="en-US" sz="3600" dirty="0" smtClean="0"/>
              <a:t>1994 – Netscape founded</a:t>
            </a:r>
          </a:p>
          <a:p>
            <a:r>
              <a:rPr lang="en-US" sz="3600" dirty="0" smtClean="0"/>
              <a:t>1995 – JavaScript</a:t>
            </a:r>
          </a:p>
          <a:p>
            <a:r>
              <a:rPr lang="en-US" sz="3600" dirty="0" smtClean="0"/>
              <a:t>1995 – Commercialization of the internet</a:t>
            </a:r>
          </a:p>
          <a:p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0" y="1752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Networks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u="sng" dirty="0" smtClean="0"/>
              <a:t>The OSI Model</a:t>
            </a:r>
            <a:endParaRPr lang="en-US" sz="4800" u="sng" dirty="0"/>
          </a:p>
        </p:txBody>
      </p:sp>
      <p:sp>
        <p:nvSpPr>
          <p:cNvPr id="9" name="TextBox 8"/>
          <p:cNvSpPr txBox="1"/>
          <p:nvPr/>
        </p:nvSpPr>
        <p:spPr>
          <a:xfrm>
            <a:off x="2819400" y="1981200"/>
            <a:ext cx="3581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Physical 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Data Link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Network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Transport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Session 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Presentation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Application</a:t>
            </a:r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u="sng" dirty="0" smtClean="0"/>
              <a:t>The </a:t>
            </a:r>
            <a:r>
              <a:rPr lang="en-US" sz="4800" u="sng" dirty="0" smtClean="0"/>
              <a:t>Internet </a:t>
            </a:r>
            <a:r>
              <a:rPr lang="en-US" sz="4800" u="sng" dirty="0" smtClean="0"/>
              <a:t>Model</a:t>
            </a:r>
            <a:endParaRPr lang="en-US" sz="4800" u="sng" dirty="0"/>
          </a:p>
        </p:txBody>
      </p:sp>
      <p:sp>
        <p:nvSpPr>
          <p:cNvPr id="9" name="TextBox 8"/>
          <p:cNvSpPr txBox="1"/>
          <p:nvPr/>
        </p:nvSpPr>
        <p:spPr>
          <a:xfrm>
            <a:off x="2286000" y="1981200"/>
            <a:ext cx="4648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Link Layer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Internet Layer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Transport Layer</a:t>
            </a: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smtClean="0"/>
              <a:t>Application Layer</a:t>
            </a:r>
          </a:p>
          <a:p>
            <a:pPr marL="742950" lvl="0" indent="-742950">
              <a:buFont typeface="+mj-lt"/>
              <a:buAutoNum type="arabicPeriod"/>
            </a:pPr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TCP/IP</a:t>
            </a:r>
            <a:endParaRPr lang="en-US" sz="4800" dirty="0"/>
          </a:p>
        </p:txBody>
      </p:sp>
      <p:pic>
        <p:nvPicPr>
          <p:cNvPr id="12" name="Picture 11" descr="tcpip-packet.jp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371600" y="1600200"/>
            <a:ext cx="6019799" cy="44390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Routing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DNS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2098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Using </a:t>
            </a:r>
            <a:r>
              <a:rPr lang="en-US" sz="4800" dirty="0" err="1" smtClean="0"/>
              <a:t>Wireshark</a:t>
            </a:r>
            <a:r>
              <a:rPr lang="en-US" sz="4800" dirty="0" smtClean="0"/>
              <a:t> to view packets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Networks</a:t>
            </a:r>
            <a:endParaRPr lang="en-US" sz="3200" dirty="0"/>
          </a:p>
        </p:txBody>
      </p:sp>
      <p:sp>
        <p:nvSpPr>
          <p:cNvPr id="8" name="TextBox 7"/>
          <p:cNvSpPr txBox="1"/>
          <p:nvPr/>
        </p:nvSpPr>
        <p:spPr>
          <a:xfrm>
            <a:off x="0" y="990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22098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Using ping, traceroute, and </a:t>
            </a:r>
            <a:r>
              <a:rPr lang="en-US" sz="4800" dirty="0" err="1" smtClean="0"/>
              <a:t>nslookup</a:t>
            </a:r>
            <a:endParaRPr lang="en-US" sz="4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5030</TotalTime>
  <Words>1008</Words>
  <Application>Microsoft Office PowerPoint</Application>
  <PresentationFormat>On-screen Show (4:3)</PresentationFormat>
  <Paragraphs>171</Paragraphs>
  <Slides>12</Slides>
  <Notes>12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103</cp:revision>
  <dcterms:created xsi:type="dcterms:W3CDTF">2013-02-19T03:44:03Z</dcterms:created>
  <dcterms:modified xsi:type="dcterms:W3CDTF">2013-03-07T16:10:15Z</dcterms:modified>
</cp:coreProperties>
</file>
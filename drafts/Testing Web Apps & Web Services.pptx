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3" r:id="rId7"/>
    <p:sldId id="265" r:id="rId8"/>
    <p:sldId id="261" r:id="rId9"/>
    <p:sldId id="262" r:id="rId10"/>
    <p:sldId id="264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150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2EAB8-5633-4760-8B2C-1E9ECC43EF50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C895E-9485-4EBE-9B0B-D0D9486D6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6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http://www.codeproject.com/Articles/148762/NET-4-0-RESTful-Web-Service-Introduction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C895E-9485-4EBE-9B0B-D0D9486D64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52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0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0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5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0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5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7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22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9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1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4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61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2B7D0-BD5D-4EA8-9FED-4D3325F87177}" type="datetimeFigureOut">
              <a:rPr lang="en-US" smtClean="0"/>
              <a:t>12/26/2012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F39AF-1888-4FC5-9203-9E36EAB056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3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12729/api/products?category=toy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jsonviewer.stack.hu/" TargetMode="External"/><Relationship Id="rId2" Type="http://schemas.openxmlformats.org/officeDocument/2006/relationships/hyperlink" Target="http://jsonlin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json.org/java/" TargetMode="External"/><Relationship Id="rId5" Type="http://schemas.openxmlformats.org/officeDocument/2006/relationships/hyperlink" Target="https://chrome.google.com/webstore/detail/jsonview/chklaanhfefbnpoihckbnefhakgolnmc?hl=en" TargetMode="External"/><Relationship Id="rId4" Type="http://schemas.openxmlformats.org/officeDocument/2006/relationships/hyperlink" Target="https://addons.mozilla.org/en-us/firefox/addon/jsonview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12729/api/products?category=toy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iddlertool.com/fiddler/help/hookup.a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Testing Web Apps &amp; Web Services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511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web testing is different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1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RESTful</a:t>
            </a:r>
            <a:r>
              <a:rPr lang="en-US" dirty="0" smtClean="0"/>
              <a:t>?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Separation of Concerns</a:t>
            </a:r>
          </a:p>
          <a:p>
            <a:pPr marL="400050" lvl="1" indent="0">
              <a:buNone/>
            </a:pPr>
            <a:r>
              <a:rPr lang="en-US" sz="2400" dirty="0" smtClean="0"/>
              <a:t>Separate user interface from data storage.  Portable &amp; interchangeable UI.  Improves scalability.</a:t>
            </a:r>
          </a:p>
          <a:p>
            <a:pPr marL="0" indent="0">
              <a:buNone/>
            </a:pPr>
            <a:r>
              <a:rPr lang="en-US" dirty="0" smtClean="0"/>
              <a:t>Stateless</a:t>
            </a:r>
          </a:p>
          <a:p>
            <a:pPr marL="400050" lvl="1" indent="0">
              <a:buNone/>
            </a:pPr>
            <a:r>
              <a:rPr lang="en-US" sz="2400" dirty="0" smtClean="0"/>
              <a:t>Each request should contain all the information required to understand and complete.</a:t>
            </a:r>
          </a:p>
          <a:p>
            <a:pPr marL="0" indent="0">
              <a:buNone/>
            </a:pPr>
            <a:r>
              <a:rPr lang="en-US" dirty="0" smtClean="0"/>
              <a:t>Cacheable</a:t>
            </a:r>
          </a:p>
          <a:p>
            <a:pPr marL="400050" lvl="1" indent="0">
              <a:buNone/>
            </a:pPr>
            <a:r>
              <a:rPr lang="en-US" sz="2400" dirty="0" smtClean="0"/>
              <a:t>Response should be able to be reused by the client at future time.  </a:t>
            </a:r>
          </a:p>
          <a:p>
            <a:pPr marL="0" indent="0">
              <a:buNone/>
            </a:pPr>
            <a:r>
              <a:rPr lang="en-US" dirty="0" smtClean="0"/>
              <a:t>Layered System</a:t>
            </a:r>
          </a:p>
          <a:p>
            <a:pPr marL="400050" lvl="1" indent="0">
              <a:buNone/>
            </a:pPr>
            <a:r>
              <a:rPr lang="en-US" sz="2400" dirty="0" smtClean="0"/>
              <a:t>Intermediate servers can be used to improve performance and security (Proxy, Caching)</a:t>
            </a:r>
          </a:p>
          <a:p>
            <a:pPr marL="0" indent="0">
              <a:buNone/>
            </a:pPr>
            <a:r>
              <a:rPr lang="en-US" dirty="0" smtClean="0"/>
              <a:t>Uniform Interface</a:t>
            </a:r>
          </a:p>
          <a:p>
            <a:pPr marL="400050" lvl="1" indent="0">
              <a:buNone/>
            </a:pPr>
            <a:r>
              <a:rPr lang="en-US" sz="2400" dirty="0" smtClean="0"/>
              <a:t>HTTP methods (GET, POST, DELETE, PUT)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043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in a REST request?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700" dirty="0" smtClean="0"/>
              <a:t>URI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protocol://host.domain.tld/resource</a:t>
            </a:r>
          </a:p>
          <a:p>
            <a:pPr marL="0" indent="0">
              <a:buNone/>
            </a:pPr>
            <a:r>
              <a:rPr lang="en-US" sz="2700" dirty="0" smtClean="0"/>
              <a:t>MIME Types</a:t>
            </a:r>
          </a:p>
          <a:p>
            <a:pPr marL="857250" lvl="1" indent="-457200"/>
            <a:r>
              <a:rPr lang="en-US" sz="2000" dirty="0"/>
              <a:t>	</a:t>
            </a:r>
            <a:r>
              <a:rPr lang="en-US" sz="2000" dirty="0" smtClean="0"/>
              <a:t>text/plain</a:t>
            </a:r>
          </a:p>
          <a:p>
            <a:pPr marL="857250" lvl="1" indent="-457200"/>
            <a:r>
              <a:rPr lang="en-US" sz="2000" dirty="0"/>
              <a:t>	</a:t>
            </a:r>
            <a:r>
              <a:rPr lang="en-US" sz="2000" dirty="0" smtClean="0"/>
              <a:t>text/html</a:t>
            </a:r>
          </a:p>
          <a:p>
            <a:pPr marL="857250" lvl="1" indent="-457200"/>
            <a:r>
              <a:rPr lang="en-US" sz="2000" dirty="0"/>
              <a:t>	</a:t>
            </a:r>
            <a:r>
              <a:rPr lang="en-US" sz="2000" dirty="0" smtClean="0"/>
              <a:t>application/xml</a:t>
            </a:r>
          </a:p>
          <a:p>
            <a:pPr marL="857250" lvl="1" indent="-457200"/>
            <a:r>
              <a:rPr lang="en-US" sz="2000" dirty="0"/>
              <a:t>	</a:t>
            </a:r>
            <a:r>
              <a:rPr lang="en-US" sz="2000" dirty="0" smtClean="0"/>
              <a:t>application/</a:t>
            </a:r>
            <a:r>
              <a:rPr lang="en-US" sz="2000" dirty="0" err="1" smtClean="0"/>
              <a:t>javascript</a:t>
            </a:r>
            <a:endParaRPr lang="en-US" sz="2000" dirty="0" smtClean="0"/>
          </a:p>
          <a:p>
            <a:pPr marL="0" indent="0">
              <a:buNone/>
            </a:pPr>
            <a:r>
              <a:rPr lang="en-US" sz="2700" dirty="0" smtClean="0"/>
              <a:t>HTTP Methods</a:t>
            </a:r>
          </a:p>
          <a:p>
            <a:pPr lvl="1"/>
            <a:r>
              <a:rPr lang="en-US" sz="2000" dirty="0"/>
              <a:t>	</a:t>
            </a:r>
            <a:r>
              <a:rPr lang="en-US" sz="2000" dirty="0" smtClean="0"/>
              <a:t>GET</a:t>
            </a:r>
          </a:p>
          <a:p>
            <a:pPr lvl="1"/>
            <a:r>
              <a:rPr lang="en-US" sz="2000" dirty="0"/>
              <a:t>	</a:t>
            </a:r>
            <a:r>
              <a:rPr lang="en-US" sz="2000" dirty="0" smtClean="0"/>
              <a:t>POST</a:t>
            </a:r>
          </a:p>
          <a:p>
            <a:pPr lvl="1"/>
            <a:r>
              <a:rPr lang="en-US" sz="2000" dirty="0"/>
              <a:t>	</a:t>
            </a:r>
            <a:r>
              <a:rPr lang="en-US" sz="2000" dirty="0" smtClean="0"/>
              <a:t>DELETE</a:t>
            </a:r>
          </a:p>
          <a:p>
            <a:pPr lvl="1"/>
            <a:r>
              <a:rPr lang="en-US" sz="2000" dirty="0"/>
              <a:t>	</a:t>
            </a:r>
            <a:r>
              <a:rPr lang="en-US" sz="2000" dirty="0" smtClean="0"/>
              <a:t>PUT</a:t>
            </a:r>
          </a:p>
        </p:txBody>
      </p:sp>
    </p:spTree>
    <p:extLst>
      <p:ext uri="{BB962C8B-B14F-4D97-AF65-F5344CB8AC3E}">
        <p14:creationId xmlns:p14="http://schemas.microsoft.com/office/powerpoint/2010/main" val="111025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in a REST request?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Headers</a:t>
            </a:r>
          </a:p>
          <a:p>
            <a:pPr lvl="1"/>
            <a:r>
              <a:rPr lang="en-US" sz="1600" dirty="0" smtClean="0"/>
              <a:t>Content-type</a:t>
            </a:r>
          </a:p>
          <a:p>
            <a:pPr lvl="1"/>
            <a:r>
              <a:rPr lang="en-US" sz="1600" dirty="0" smtClean="0"/>
              <a:t>User-agent</a:t>
            </a:r>
          </a:p>
          <a:p>
            <a:pPr lvl="1"/>
            <a:r>
              <a:rPr lang="en-US" sz="1600" dirty="0" smtClean="0"/>
              <a:t>Authorization</a:t>
            </a:r>
          </a:p>
          <a:p>
            <a:pPr lvl="1"/>
            <a:r>
              <a:rPr lang="en-US" sz="1600" dirty="0" smtClean="0"/>
              <a:t>Accept</a:t>
            </a:r>
            <a:endParaRPr lang="en-US" sz="1600" dirty="0"/>
          </a:p>
          <a:p>
            <a:pPr marL="0" indent="0">
              <a:buNone/>
            </a:pPr>
            <a:r>
              <a:rPr lang="en-US" dirty="0" smtClean="0"/>
              <a:t>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860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 the browser to test web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hlinkClick r:id="rId2"/>
              </a:rPr>
              <a:t>http://</a:t>
            </a:r>
            <a:r>
              <a:rPr lang="en-US" sz="2400" dirty="0" smtClean="0">
                <a:hlinkClick r:id="rId2"/>
              </a:rPr>
              <a:t>localhost:12729/api/products?category=toys</a:t>
            </a: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Protocol</a:t>
            </a:r>
          </a:p>
          <a:p>
            <a:pPr marL="0" indent="0">
              <a:buNone/>
            </a:pPr>
            <a:r>
              <a:rPr lang="en-US" sz="2400" dirty="0" smtClean="0"/>
              <a:t>Host</a:t>
            </a:r>
          </a:p>
          <a:p>
            <a:pPr marL="0" indent="0">
              <a:buNone/>
            </a:pPr>
            <a:r>
              <a:rPr lang="en-US" sz="2400" dirty="0" smtClean="0"/>
              <a:t>Port</a:t>
            </a:r>
          </a:p>
          <a:p>
            <a:pPr marL="0" indent="0">
              <a:buNone/>
            </a:pPr>
            <a:r>
              <a:rPr lang="en-US" sz="2400" dirty="0" smtClean="0"/>
              <a:t>Resource Path</a:t>
            </a:r>
          </a:p>
          <a:p>
            <a:pPr marL="0" indent="0">
              <a:buNone/>
            </a:pPr>
            <a:r>
              <a:rPr lang="en-US" sz="2400" dirty="0" smtClean="0"/>
              <a:t>Query String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8813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Parsing JSON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Online</a:t>
            </a:r>
          </a:p>
          <a:p>
            <a:pPr marL="0" indent="0">
              <a:buNone/>
            </a:pPr>
            <a:r>
              <a:rPr lang="en-US" sz="2100" dirty="0">
                <a:hlinkClick r:id="rId2"/>
              </a:rPr>
              <a:t>http://jsonlint.com/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hlinkClick r:id="rId3"/>
              </a:rPr>
              <a:t>http://jsonviewer.stack.hu</a:t>
            </a:r>
            <a:r>
              <a:rPr lang="en-US" sz="2100" dirty="0" smtClean="0">
                <a:hlinkClick r:id="rId3"/>
              </a:rPr>
              <a:t>/</a:t>
            </a:r>
            <a:endParaRPr lang="en-US" sz="21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dirty="0" smtClean="0"/>
              <a:t>Browser Plugin (</a:t>
            </a:r>
            <a:r>
              <a:rPr lang="en-US" dirty="0" err="1" smtClean="0"/>
              <a:t>JSONView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sz="1900" dirty="0">
                <a:hlinkClick r:id="rId4"/>
              </a:rPr>
              <a:t>https://addons.mozilla.org/en-us/firefox/addon/jsonview</a:t>
            </a:r>
            <a:r>
              <a:rPr lang="en-US" sz="1900" dirty="0" smtClean="0">
                <a:hlinkClick r:id="rId4"/>
              </a:rPr>
              <a:t>/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>
                <a:hlinkClick r:id="rId5"/>
              </a:rPr>
              <a:t>https://</a:t>
            </a:r>
            <a:r>
              <a:rPr lang="en-US" sz="1900" dirty="0" smtClean="0">
                <a:hlinkClick r:id="rId5"/>
              </a:rPr>
              <a:t>chrome.google.com/webstore/detail/jsonview/chklaanhfefbnpoihckbnefhakgolnmc?hl=en</a:t>
            </a:r>
            <a:endParaRPr lang="en-US" sz="19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dirty="0" smtClean="0"/>
              <a:t>Libraries</a:t>
            </a:r>
          </a:p>
          <a:p>
            <a:pPr marL="0" indent="0">
              <a:buNone/>
            </a:pPr>
            <a:r>
              <a:rPr lang="en-US" sz="1900" dirty="0">
                <a:hlinkClick r:id="rId6"/>
              </a:rPr>
              <a:t>http://www.json.org/java</a:t>
            </a:r>
            <a:r>
              <a:rPr lang="en-US" sz="1900" dirty="0" smtClean="0">
                <a:hlinkClick r:id="rId6"/>
              </a:rPr>
              <a:t>/</a:t>
            </a:r>
            <a:endParaRPr lang="en-US" sz="19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Web Service?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891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Using telnet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/>
              <a:t>telnet </a:t>
            </a:r>
            <a:r>
              <a:rPr lang="en-US" sz="1800" dirty="0" err="1" smtClean="0"/>
              <a:t>localhost</a:t>
            </a:r>
            <a:r>
              <a:rPr lang="en-US" sz="1800" dirty="0" smtClean="0"/>
              <a:t> 80</a:t>
            </a:r>
          </a:p>
          <a:p>
            <a:pPr marL="0" indent="0">
              <a:buNone/>
            </a:pPr>
            <a:r>
              <a:rPr lang="en-US" sz="1800" dirty="0" smtClean="0"/>
              <a:t>telnet&gt; open HOST  PORT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GET / HTTP/1.0</a:t>
            </a:r>
          </a:p>
          <a:p>
            <a:pPr marL="0" indent="0">
              <a:buNone/>
            </a:pPr>
            <a:r>
              <a:rPr lang="en-US" sz="1400" dirty="0"/>
              <a:t>[newline]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GET /</a:t>
            </a:r>
            <a:r>
              <a:rPr lang="en-US" sz="1800" dirty="0" err="1" smtClean="0"/>
              <a:t>api</a:t>
            </a:r>
            <a:r>
              <a:rPr lang="en-US" sz="1800" dirty="0" smtClean="0"/>
              <a:t>/</a:t>
            </a:r>
            <a:r>
              <a:rPr lang="en-US" sz="1800" dirty="0" err="1" smtClean="0"/>
              <a:t>products?category</a:t>
            </a:r>
            <a:r>
              <a:rPr lang="en-US" sz="1800" dirty="0" smtClean="0"/>
              <a:t>=toys HTTP/1.1</a:t>
            </a:r>
          </a:p>
          <a:p>
            <a:pPr marL="0" indent="0">
              <a:buNone/>
            </a:pPr>
            <a:r>
              <a:rPr lang="en-US" sz="1800" dirty="0" smtClean="0"/>
              <a:t>Host</a:t>
            </a:r>
            <a:r>
              <a:rPr lang="en-US" sz="1800" dirty="0"/>
              <a:t>: </a:t>
            </a:r>
            <a:r>
              <a:rPr lang="en-US" sz="1800" dirty="0" err="1"/>
              <a:t>localhost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Connection: </a:t>
            </a:r>
            <a:r>
              <a:rPr lang="en-US" sz="1800" dirty="0" smtClean="0"/>
              <a:t>Close</a:t>
            </a:r>
          </a:p>
          <a:p>
            <a:pPr marL="0" indent="0">
              <a:buNone/>
            </a:pPr>
            <a:r>
              <a:rPr lang="en-US" sz="1400" dirty="0"/>
              <a:t>[newline]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HTTP_METHOD, URL, HTTP_VERSION</a:t>
            </a:r>
          </a:p>
          <a:p>
            <a:pPr marL="0" indent="0">
              <a:buNone/>
            </a:pPr>
            <a:r>
              <a:rPr lang="en-US" sz="1800" dirty="0" smtClean="0"/>
              <a:t>HEADERS, BODY</a:t>
            </a:r>
          </a:p>
          <a:p>
            <a:pPr marL="0" indent="0">
              <a:buNone/>
            </a:pPr>
            <a:r>
              <a:rPr lang="en-US" sz="1800" dirty="0" smtClean="0"/>
              <a:t>Accept: application/</a:t>
            </a:r>
            <a:r>
              <a:rPr lang="en-US" sz="1800" dirty="0" err="1" smtClean="0"/>
              <a:t>json</a:t>
            </a:r>
            <a:r>
              <a:rPr lang="en-US" sz="1800" dirty="0" smtClean="0"/>
              <a:t>  (or application/xml, text/plain, text/html, image/jpeg, etc.)</a:t>
            </a:r>
          </a:p>
          <a:p>
            <a:pPr marL="0" indent="0">
              <a:buNone/>
            </a:pPr>
            <a:r>
              <a:rPr lang="en-US" sz="1800" dirty="0" smtClean="0"/>
              <a:t>POST </a:t>
            </a:r>
          </a:p>
          <a:p>
            <a:pPr marL="0" indent="0">
              <a:buNone/>
            </a:pPr>
            <a:r>
              <a:rPr lang="en-US" sz="1800" dirty="0" smtClean="0"/>
              <a:t>Content-length: 123</a:t>
            </a:r>
          </a:p>
          <a:p>
            <a:pPr marL="0" indent="0">
              <a:buNone/>
            </a:pPr>
            <a:r>
              <a:rPr lang="en-US" sz="1800" dirty="0" err="1"/>
              <a:t>Content-type:application</a:t>
            </a:r>
            <a:r>
              <a:rPr lang="en-US" sz="1800" dirty="0"/>
              <a:t>/x-http-form-</a:t>
            </a:r>
            <a:r>
              <a:rPr lang="en-US" sz="1800" dirty="0" err="1"/>
              <a:t>urlencoded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38175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wget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 smtClean="0"/>
              <a:t>wget</a:t>
            </a:r>
            <a:r>
              <a:rPr lang="en-US" sz="1800" dirty="0" smtClean="0"/>
              <a:t> </a:t>
            </a:r>
            <a:r>
              <a:rPr lang="en-US" sz="1800" dirty="0" smtClean="0">
                <a:hlinkClick r:id="rId2"/>
              </a:rPr>
              <a:t>http</a:t>
            </a:r>
            <a:r>
              <a:rPr lang="en-US" sz="1800" dirty="0">
                <a:hlinkClick r:id="rId2"/>
              </a:rPr>
              <a:t>://</a:t>
            </a:r>
            <a:r>
              <a:rPr lang="en-US" sz="1800" dirty="0" smtClean="0">
                <a:hlinkClick r:id="rId2"/>
              </a:rPr>
              <a:t>localhost:12729/api/products?category=toys</a:t>
            </a:r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err="1" smtClean="0"/>
              <a:t>wget</a:t>
            </a:r>
            <a:r>
              <a:rPr lang="en-US" sz="1800" dirty="0" smtClean="0"/>
              <a:t> –h (--help)</a:t>
            </a:r>
          </a:p>
          <a:p>
            <a:pPr marL="400050" lvl="1" indent="0">
              <a:buNone/>
            </a:pPr>
            <a:r>
              <a:rPr lang="en-US" sz="1400" dirty="0"/>
              <a:t>--input-file=FILE		download URLs found in local or external FILE.</a:t>
            </a:r>
          </a:p>
          <a:p>
            <a:pPr marL="400050" lvl="1" indent="0">
              <a:buNone/>
            </a:pPr>
            <a:r>
              <a:rPr lang="en-US" sz="1400" dirty="0" smtClean="0"/>
              <a:t>--</a:t>
            </a:r>
            <a:r>
              <a:rPr lang="en-US" sz="1400" dirty="0"/>
              <a:t>output-file-FILE		log messages to FILE.</a:t>
            </a:r>
            <a:endParaRPr lang="en-US" sz="1400" dirty="0" smtClean="0"/>
          </a:p>
          <a:p>
            <a:pPr marL="400050" lvl="1" indent="0">
              <a:buNone/>
            </a:pPr>
            <a:r>
              <a:rPr lang="en-US" sz="1400" dirty="0"/>
              <a:t>--output-document		write documents to FILE.</a:t>
            </a:r>
            <a:endParaRPr lang="en-US" sz="1400" dirty="0" smtClean="0"/>
          </a:p>
          <a:p>
            <a:pPr marL="400050" lvl="1" indent="0">
              <a:buNone/>
            </a:pPr>
            <a:r>
              <a:rPr lang="en-US" sz="1400" dirty="0"/>
              <a:t>--user-agent=AGENT	identify as AGENT instead of </a:t>
            </a:r>
            <a:r>
              <a:rPr lang="en-US" sz="1400" dirty="0" err="1"/>
              <a:t>Wget</a:t>
            </a:r>
            <a:r>
              <a:rPr lang="en-US" sz="1400" dirty="0"/>
              <a:t>/VERSION.</a:t>
            </a:r>
            <a:endParaRPr lang="en-US" sz="1400" dirty="0" smtClean="0"/>
          </a:p>
          <a:p>
            <a:pPr marL="400050" lvl="1" indent="0">
              <a:buNone/>
            </a:pPr>
            <a:r>
              <a:rPr lang="en-US" sz="1400" dirty="0"/>
              <a:t>--header=STRING		insert STRING among the headers.</a:t>
            </a:r>
            <a:endParaRPr lang="en-US" sz="1400" dirty="0" smtClean="0"/>
          </a:p>
          <a:p>
            <a:pPr marL="400050" lvl="1" indent="0">
              <a:buNone/>
            </a:pPr>
            <a:r>
              <a:rPr lang="en-US" sz="1400" dirty="0"/>
              <a:t>--accept=LIST		comma-separated list of accepted extensions.</a:t>
            </a:r>
            <a:endParaRPr lang="en-US" sz="1400" dirty="0" smtClean="0"/>
          </a:p>
          <a:p>
            <a:pPr marL="400050" lvl="1" indent="0">
              <a:buNone/>
            </a:pPr>
            <a:r>
              <a:rPr lang="en-US" sz="1400" dirty="0"/>
              <a:t>--http-user=USER		set http user to USER.</a:t>
            </a:r>
          </a:p>
          <a:p>
            <a:pPr marL="400050" lvl="1" indent="0">
              <a:buNone/>
            </a:pPr>
            <a:r>
              <a:rPr lang="en-US" sz="1400" dirty="0"/>
              <a:t>--http-password=PASS	set http password to PASS.</a:t>
            </a:r>
            <a:endParaRPr lang="en-US" sz="1400" dirty="0" smtClean="0"/>
          </a:p>
          <a:p>
            <a:pPr marL="400050" lvl="1" indent="0">
              <a:buNone/>
            </a:pPr>
            <a:r>
              <a:rPr lang="en-US" sz="1400" dirty="0"/>
              <a:t>--load-cookies=FILE		load cookies from FILE before session.</a:t>
            </a:r>
            <a:endParaRPr lang="en-US" sz="1400" dirty="0" smtClean="0"/>
          </a:p>
          <a:p>
            <a:pPr marL="400050" lvl="1" indent="0">
              <a:buNone/>
            </a:pPr>
            <a:r>
              <a:rPr lang="en-US" sz="1400" dirty="0"/>
              <a:t>--certificate=FILE		client certificate file</a:t>
            </a:r>
            <a:r>
              <a:rPr lang="en-US" sz="1400" dirty="0" smtClean="0"/>
              <a:t>.</a:t>
            </a:r>
          </a:p>
          <a:p>
            <a:pPr marL="400050" lvl="1" indent="0">
              <a:buNone/>
            </a:pPr>
            <a:r>
              <a:rPr lang="en-US" sz="1400" dirty="0"/>
              <a:t>--</a:t>
            </a:r>
            <a:r>
              <a:rPr lang="en-US" sz="1400" dirty="0" smtClean="0"/>
              <a:t>no-cache		disallow </a:t>
            </a:r>
            <a:r>
              <a:rPr lang="en-US" sz="1400" dirty="0"/>
              <a:t>server-cached data.</a:t>
            </a:r>
            <a:endParaRPr lang="en-US" sz="1400" dirty="0" smtClean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err="1" smtClean="0"/>
              <a:t>wget</a:t>
            </a:r>
            <a:r>
              <a:rPr lang="en-US" sz="1800" dirty="0" smtClean="0"/>
              <a:t> –</a:t>
            </a:r>
            <a:r>
              <a:rPr lang="en-US" sz="1800" dirty="0" err="1" smtClean="0"/>
              <a:t>i</a:t>
            </a:r>
            <a:r>
              <a:rPr lang="en-US" sz="1800" dirty="0" smtClean="0"/>
              <a:t> urls.txt  -O </a:t>
            </a:r>
            <a:r>
              <a:rPr lang="en-US" sz="1800" dirty="0" err="1" smtClean="0"/>
              <a:t>results.json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47298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curl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93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Fiddler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Capture browser / non browser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Firefox doesn’t use the System proxy configuration</a:t>
            </a:r>
          </a:p>
          <a:p>
            <a:pPr marL="0" indent="0">
              <a:buNone/>
            </a:pPr>
            <a:r>
              <a:rPr lang="en-US" sz="1800" dirty="0" smtClean="0"/>
              <a:t>but it can use the </a:t>
            </a:r>
            <a:r>
              <a:rPr lang="en-US" sz="1800" dirty="0" err="1" smtClean="0"/>
              <a:t>FiddlerHook</a:t>
            </a:r>
            <a:r>
              <a:rPr lang="en-US" sz="1800" dirty="0" smtClean="0"/>
              <a:t> Firefox plugin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Capture </a:t>
            </a:r>
            <a:r>
              <a:rPr lang="en-US" sz="1800" dirty="0" err="1"/>
              <a:t>localhost</a:t>
            </a:r>
            <a:r>
              <a:rPr lang="en-US" sz="1800" dirty="0"/>
              <a:t> in IE</a:t>
            </a:r>
          </a:p>
          <a:p>
            <a:pPr marL="0" indent="0">
              <a:buNone/>
            </a:pPr>
            <a:r>
              <a:rPr lang="en-US" sz="1800" dirty="0"/>
              <a:t>Tools-&gt; Fiddler Options -&gt; Connections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http://</a:t>
            </a:r>
            <a:r>
              <a:rPr lang="en-US" sz="1800" dirty="0" smtClean="0">
                <a:hlinkClick r:id="rId2"/>
              </a:rPr>
              <a:t>www.fiddlertool.com/fiddler/help/hookup.asp</a:t>
            </a: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8254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Browser Plugins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Google </a:t>
            </a:r>
          </a:p>
          <a:p>
            <a:pPr lvl="1"/>
            <a:r>
              <a:rPr lang="en-US" dirty="0" smtClean="0"/>
              <a:t>Advanced REST client</a:t>
            </a:r>
          </a:p>
          <a:p>
            <a:pPr lvl="1"/>
            <a:r>
              <a:rPr lang="en-US" dirty="0" smtClean="0"/>
              <a:t>Postman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Firefox </a:t>
            </a:r>
          </a:p>
          <a:p>
            <a:pPr lvl="1"/>
            <a:r>
              <a:rPr lang="en-US" dirty="0" smtClean="0"/>
              <a:t>Poster</a:t>
            </a:r>
          </a:p>
          <a:p>
            <a:pPr lvl="1"/>
            <a:r>
              <a:rPr lang="en-US" dirty="0" err="1" smtClean="0"/>
              <a:t>RestClient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216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Browser Debugging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Firefox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Firebug</a:t>
            </a:r>
          </a:p>
          <a:p>
            <a:pPr marL="0" indent="0">
              <a:buNone/>
            </a:pPr>
            <a:r>
              <a:rPr lang="en-US" dirty="0" smtClean="0"/>
              <a:t>Chrome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Developer Tools</a:t>
            </a:r>
          </a:p>
          <a:p>
            <a:pPr marL="0" indent="0">
              <a:buNone/>
            </a:pPr>
            <a:r>
              <a:rPr lang="en-US" dirty="0" smtClean="0"/>
              <a:t>IE</a:t>
            </a:r>
          </a:p>
          <a:p>
            <a:pPr marL="0" indent="0">
              <a:buNone/>
            </a:pPr>
            <a:r>
              <a:rPr lang="en-US" dirty="0" smtClean="0"/>
              <a:t>	F12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Developer Toolbar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1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Mocking web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</a:t>
            </a:r>
            <a:r>
              <a:rPr lang="en-US" dirty="0" err="1" smtClean="0"/>
              <a:t>SoapUI</a:t>
            </a:r>
            <a:endParaRPr lang="en-US" dirty="0" smtClean="0"/>
          </a:p>
          <a:p>
            <a:r>
              <a:rPr lang="en-US" dirty="0" smtClean="0"/>
              <a:t>With Static content</a:t>
            </a:r>
          </a:p>
          <a:p>
            <a:r>
              <a:rPr lang="en-US" dirty="0" smtClean="0"/>
              <a:t>With scripts</a:t>
            </a:r>
          </a:p>
          <a:p>
            <a:r>
              <a:rPr lang="en-US" dirty="0" smtClean="0"/>
              <a:t>With </a:t>
            </a:r>
            <a:r>
              <a:rPr lang="en-US" dirty="0" err="1" smtClean="0"/>
              <a:t>passthrough</a:t>
            </a:r>
            <a:r>
              <a:rPr lang="en-US" smtClean="0"/>
              <a:t> proxy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35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297</Words>
  <Application>Microsoft Office PowerPoint</Application>
  <PresentationFormat>On-screen Show (4:3)</PresentationFormat>
  <Paragraphs>123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Testing Web Apps &amp; Web Services</vt:lpstr>
      <vt:lpstr>How web testing is different</vt:lpstr>
      <vt:lpstr>What is RESTful? </vt:lpstr>
      <vt:lpstr>What’s in a REST request?</vt:lpstr>
      <vt:lpstr>What’s in a REST request?</vt:lpstr>
      <vt:lpstr>Using the browser to test web services</vt:lpstr>
      <vt:lpstr>Parsing JSON</vt:lpstr>
      <vt:lpstr>Using telnet</vt:lpstr>
      <vt:lpstr>Using wget</vt:lpstr>
      <vt:lpstr>Using curl</vt:lpstr>
      <vt:lpstr>Fiddler options</vt:lpstr>
      <vt:lpstr>Browser Plugins</vt:lpstr>
      <vt:lpstr>Browser Debugging</vt:lpstr>
      <vt:lpstr>Mocking web services</vt:lpstr>
    </vt:vector>
  </TitlesOfParts>
  <Company>Ancestry.com Operations,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Web Apps &amp; Web Services</dc:title>
  <dc:creator>Aaron Evans</dc:creator>
  <cp:lastModifiedBy>Aaron Evans</cp:lastModifiedBy>
  <cp:revision>35</cp:revision>
  <dcterms:created xsi:type="dcterms:W3CDTF">2012-12-20T18:09:25Z</dcterms:created>
  <dcterms:modified xsi:type="dcterms:W3CDTF">2012-12-26T21:42:10Z</dcterms:modified>
</cp:coreProperties>
</file>